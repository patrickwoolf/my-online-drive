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Oi"/>
      <p:regular r:id="rId51"/>
    </p:embeddedFont>
    <p:embeddedFont>
      <p:font typeface="Helvetica Neue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97271B-BCA3-47A4-BDCD-96D909F32AE4}">
  <a:tblStyle styleId="{9397271B-BCA3-47A4-BDCD-96D909F32A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i-regular.fntdata"/><Relationship Id="rId50" Type="http://schemas.openxmlformats.org/officeDocument/2006/relationships/slide" Target="slides/slide44.xml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8a88295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a18a8829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564cb0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5564cb0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564cb03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5564cb03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564cb030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5564cb03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564cb03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564cb03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5564cb03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5564cb03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564cb03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5564cb03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5564cb03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5564cb03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564cb03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5564cb03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564cb03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5564cb03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564cb03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5564cb03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5564cb03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5564cb03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5564cb030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5564cb03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5564cb030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5564cb030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564cb030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5564cb030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564cb030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5564cb030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5564cb030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5564cb030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564cb030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5564cb030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5564cb030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5564cb030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5564cb030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5564cb03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5564cb03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5564cb03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5564cb0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5564cb0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5564cb03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5564cb03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04b22e1bf535ddf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04b22e1bf535ddf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04b22e1bf535dd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04b22e1bf535dd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04b22e1bf535ddf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04b22e1bf535ddf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5564cb03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5564cb03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564cb030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5564cb030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5564cb030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5564cb030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5564cb030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5564cb030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5564cb030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5564cb030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5564cb03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5564cb03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5564cb030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5564cb030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5564cb030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5564cb030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5564cb03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5564cb03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5564cb030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5564cb030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5564cb030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5564cb030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5564cb030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5564cb030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5564cb030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5564cb030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5564cb030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5564cb030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5564cb030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f5564cb030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5564cb030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f5564cb030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5564cb030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5564cb030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5564cb030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f5564cb030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i="1" sz="800"/>
            </a:lvl1pPr>
            <a:lvl2pPr indent="-279400" lvl="1" marL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○"/>
              <a:defRPr i="1" sz="800"/>
            </a:lvl2pPr>
            <a:lvl3pPr indent="-279400" lvl="2" marL="13716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■"/>
              <a:defRPr i="1" sz="800"/>
            </a:lvl3pPr>
            <a:lvl4pPr indent="-279400" lvl="3" marL="18288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●"/>
              <a:defRPr i="1" sz="800"/>
            </a:lvl4pPr>
            <a:lvl5pPr indent="-279400" lvl="4" marL="22860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○"/>
              <a:defRPr i="1" sz="800"/>
            </a:lvl5pPr>
            <a:lvl6pPr indent="-279400" lvl="5" marL="27432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■"/>
              <a:defRPr i="1" sz="800"/>
            </a:lvl6pPr>
            <a:lvl7pPr indent="-279400" lvl="6" marL="3200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●"/>
              <a:defRPr i="1" sz="800"/>
            </a:lvl7pPr>
            <a:lvl8pPr indent="-279400" lvl="7" marL="36576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○"/>
              <a:defRPr i="1" sz="800"/>
            </a:lvl8pPr>
            <a:lvl9pPr indent="-279400" lvl="8" marL="41148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800"/>
              <a:buChar char="■"/>
              <a:defRPr i="1"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  <a:defRPr b="1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11700" y="34067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i"/>
              <a:buNone/>
              <a:defRPr sz="2400">
                <a:latin typeface="Oi"/>
                <a:ea typeface="Oi"/>
                <a:cs typeface="Oi"/>
                <a:sym typeface="O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2" type="subTitle"/>
          </p:nvPr>
        </p:nvSpPr>
        <p:spPr>
          <a:xfrm>
            <a:off x="2251650" y="960575"/>
            <a:ext cx="464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i"/>
              <a:buNone/>
              <a:defRPr b="1" sz="1800">
                <a:solidFill>
                  <a:schemeClr val="accent2"/>
                </a:solidFill>
                <a:latin typeface="Oi"/>
                <a:ea typeface="Oi"/>
                <a:cs typeface="Oi"/>
                <a:sym typeface="Oi"/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311700" y="4471325"/>
            <a:ext cx="3429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i"/>
              <a:buChar char="●"/>
              <a:defRPr sz="1400">
                <a:latin typeface="Oi"/>
                <a:ea typeface="Oi"/>
                <a:cs typeface="Oi"/>
                <a:sym typeface="Oi"/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自訂版面配置">
  <p:cSld name="1_自訂版面配置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Helvetica Neue"/>
              <a:buNone/>
              <a:defRPr b="1" sz="30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訂版面配置">
  <p:cSld name="自訂版面配置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628650" y="325560"/>
            <a:ext cx="7886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7" name="Google Shape;67;p15"/>
          <p:cNvCxnSpPr/>
          <p:nvPr/>
        </p:nvCxnSpPr>
        <p:spPr>
          <a:xfrm>
            <a:off x="628650" y="1092085"/>
            <a:ext cx="7886700" cy="0"/>
          </a:xfrm>
          <a:prstGeom prst="straightConnector1">
            <a:avLst/>
          </a:prstGeom>
          <a:noFill/>
          <a:ln cap="flat" cmpd="sng" w="143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628650" y="4651641"/>
            <a:ext cx="7886700" cy="0"/>
          </a:xfrm>
          <a:prstGeom prst="straightConnector1">
            <a:avLst/>
          </a:prstGeom>
          <a:noFill/>
          <a:ln cap="flat" cmpd="sng" w="143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15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700"/>
              <a:buFont typeface="Arial"/>
              <a:buNone/>
              <a:defRPr sz="700">
                <a:solidFill>
                  <a:srgbClr val="757070"/>
                </a:solidFill>
              </a:defRPr>
            </a:lvl1pPr>
            <a:lvl2pPr indent="-2730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 sz="700"/>
            </a:lvl2pPr>
            <a:lvl3pPr indent="-2730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■"/>
              <a:defRPr sz="700"/>
            </a:lvl3pPr>
            <a:lvl4pPr indent="-27305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 sz="700"/>
            </a:lvl4pPr>
            <a:lvl5pPr indent="-27305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 sz="700"/>
            </a:lvl5pPr>
            <a:lvl6pPr indent="-27305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■"/>
              <a:defRPr sz="700"/>
            </a:lvl6pPr>
            <a:lvl7pPr indent="-27305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 sz="700"/>
            </a:lvl7pPr>
            <a:lvl8pPr indent="-27305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 sz="700"/>
            </a:lvl8pPr>
            <a:lvl9pPr indent="-273050" lvl="8" marL="411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700"/>
              <a:buChar char="■"/>
              <a:defRPr sz="700"/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628650" y="0"/>
            <a:ext cx="7886700" cy="1083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 b="1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385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691825" y="1761600"/>
            <a:ext cx="7653300" cy="11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00"/>
              <a:buFont typeface="Helvetica Neue"/>
              <a:buNone/>
            </a:pPr>
            <a:r>
              <a:rPr lang="zh-TW" sz="2800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Nutrition &amp; Medical Managements in Metastatic Spinal Cord Compression </a:t>
            </a:r>
            <a:endParaRPr i="1" sz="1300">
              <a:solidFill>
                <a:srgbClr val="2626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691832" y="2845676"/>
            <a:ext cx="44106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b="1" lang="zh-TW" sz="27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R2吳一宏, Yi-Hong Wu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b="1" lang="zh-TW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Moderator</a:t>
            </a:r>
            <a:r>
              <a:rPr b="1" lang="zh-TW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b="1"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b="1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Date: July 21</a:t>
            </a:r>
            <a:r>
              <a:rPr b="1" baseline="30000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</a:t>
            </a:r>
            <a:r>
              <a:rPr b="1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2026</a:t>
            </a:r>
            <a:endParaRPr b="1" sz="1800">
              <a:solidFill>
                <a:srgbClr val="245E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24200" y="861300"/>
            <a:ext cx="3592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國泰醫院復健科</a:t>
            </a:r>
            <a:endParaRPr b="1" sz="2700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 Discussion</a:t>
            </a:r>
            <a:endParaRPr sz="1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813748" y="3500651"/>
            <a:ext cx="3592800" cy="0"/>
          </a:xfrm>
          <a:prstGeom prst="straightConnector1">
            <a:avLst/>
          </a:prstGeom>
          <a:noFill/>
          <a:ln cap="flat" cmpd="sng" w="1430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16"/>
          <p:cNvSpPr txBox="1"/>
          <p:nvPr/>
        </p:nvSpPr>
        <p:spPr>
          <a:xfrm>
            <a:off x="7831000" y="1100850"/>
            <a:ext cx="1312800" cy="48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Cancer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Course</a:t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Timeline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p18"/>
          <p:cNvGraphicFramePr/>
          <p:nvPr/>
        </p:nvGraphicFramePr>
        <p:xfrm>
          <a:off x="190500" y="113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{9397271B-BCA3-47A4-BDCD-96D909F32AE4}</a:tableStyleId>
              </a:tblPr>
              <a:tblGrid>
                <a:gridCol w="638175"/>
                <a:gridCol w="8124825"/>
              </a:tblGrid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Clinical Course &amp; Interventions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06/12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Sent to ED due to progressive right upper back pain, bilateral lower limb weakness and numbness for 2 weeks, rendering her unable to stand or walk.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06/13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TL-spine X-ray: T9 compression fracture.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Admitted for further evaluation and management.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06/15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NCV/F-wave: compatible with sensorimotor polyneuropathy.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06/17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Surgery performed: T7-11 laminectomy, T9 tumor excision, T7-8 and T10-11 posterior fusion with postero-lateral bone fusion, and L2 kyphoplasty.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Transferred to SICU post-operatively.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06/18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Transferred to ordinary ward.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8" name="Google Shape;98;p18"/>
          <p:cNvCxnSpPr/>
          <p:nvPr/>
        </p:nvCxnSpPr>
        <p:spPr>
          <a:xfrm>
            <a:off x="829875" y="1143550"/>
            <a:ext cx="0" cy="354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9975" y="3176500"/>
            <a:ext cx="281175" cy="2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06/12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7" name="Google Shape;107;p19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816" y="0"/>
            <a:ext cx="516236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7975" y="0"/>
            <a:ext cx="486025" cy="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06/13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525" y="28000"/>
            <a:ext cx="2520715" cy="508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3606" y="28000"/>
            <a:ext cx="2769861" cy="50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Timeline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8" name="Google Shape;128;p21"/>
          <p:cNvGraphicFramePr/>
          <p:nvPr/>
        </p:nvGraphicFramePr>
        <p:xfrm>
          <a:off x="190500" y="113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{9397271B-BCA3-47A4-BDCD-96D909F32AE4}</a:tableStyleId>
              </a:tblPr>
              <a:tblGrid>
                <a:gridCol w="638175"/>
                <a:gridCol w="8124825"/>
              </a:tblGrid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Clinical Course &amp; Interventions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06/23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Hemovac removed.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Initial PM&amp;R consultation: confirmed incomplete spinal cord injury (NLI: T8, AIS D) with neurogenic paraparesis and sensory deficits. Bedside rehab initiated.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06/24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Foley catheter successfully removed.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06/26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Transferred to PM&amp;R ward for prehabilitation.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06/29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Surgical wound healed and all staples removed.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Central venous catheter removed following completion of Cerebrolysin course.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9" name="Google Shape;129;p21"/>
          <p:cNvCxnSpPr/>
          <p:nvPr/>
        </p:nvCxnSpPr>
        <p:spPr>
          <a:xfrm>
            <a:off x="829875" y="1143550"/>
            <a:ext cx="0" cy="354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Timeline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8" name="Google Shape;138;p22"/>
          <p:cNvGraphicFramePr/>
          <p:nvPr/>
        </p:nvGraphicFramePr>
        <p:xfrm>
          <a:off x="190500" y="113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{9397271B-BCA3-47A4-BDCD-96D909F32AE4}</a:tableStyleId>
              </a:tblPr>
              <a:tblGrid>
                <a:gridCol w="638175"/>
                <a:gridCol w="8124825"/>
              </a:tblGrid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Clinical Course &amp; Interventions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06/29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Left neck and headache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=&gt; Clonazepam given for myofascial pain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=&gt; C-spine X-ray spurs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07/08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New-onset left peripheral facial palsy, tongue deviation to the left, drowsiness, and poor mental status.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Brain CT: multiple metastatic skull lesions, left cerebellar lesion with associated vasogenic edema.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Transferred back to GYN ward for further oncological management.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7C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9" name="Google Shape;139;p22"/>
          <p:cNvCxnSpPr/>
          <p:nvPr/>
        </p:nvCxnSpPr>
        <p:spPr>
          <a:xfrm>
            <a:off x="829875" y="1143550"/>
            <a:ext cx="0" cy="354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625" y="1896350"/>
            <a:ext cx="241625" cy="2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07/07 Brain CT</a:t>
            </a:r>
            <a:endParaRPr/>
          </a:p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25" y="1455900"/>
            <a:ext cx="2259826" cy="261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6130" y="1455900"/>
            <a:ext cx="2580311" cy="26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 rotWithShape="1">
          <a:blip r:embed="rId5">
            <a:alphaModFix/>
          </a:blip>
          <a:srcRect b="0" l="0" r="4562" t="0"/>
          <a:stretch/>
        </p:blipFill>
        <p:spPr>
          <a:xfrm>
            <a:off x="5155663" y="1455900"/>
            <a:ext cx="1715100" cy="26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9975" y="1455900"/>
            <a:ext cx="2017400" cy="261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07/09 Brain MRI 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075" y="1132275"/>
            <a:ext cx="3144647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828" y="1132275"/>
            <a:ext cx="2742668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359" y="1132275"/>
            <a:ext cx="286088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77" y="0"/>
            <a:ext cx="79490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9" name="Google Shape;179;p26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 rotWithShape="1">
          <a:blip r:embed="rId3">
            <a:alphaModFix/>
          </a:blip>
          <a:srcRect b="37594" l="0" r="0" t="0"/>
          <a:stretch/>
        </p:blipFill>
        <p:spPr>
          <a:xfrm>
            <a:off x="597475" y="818846"/>
            <a:ext cx="7949052" cy="358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 rotWithShape="1">
          <a:blip r:embed="rId4">
            <a:alphaModFix/>
          </a:blip>
          <a:srcRect b="84080" l="0" r="0" t="0"/>
          <a:stretch/>
        </p:blipFill>
        <p:spPr>
          <a:xfrm>
            <a:off x="597475" y="0"/>
            <a:ext cx="7949051" cy="81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9" name="Google Shape;189;p27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7"/>
          <p:cNvPicPr preferRelativeResize="0"/>
          <p:nvPr/>
        </p:nvPicPr>
        <p:blipFill rotWithShape="1">
          <a:blip r:embed="rId3">
            <a:alphaModFix/>
          </a:blip>
          <a:srcRect b="0" l="0" r="0" t="62447"/>
          <a:stretch/>
        </p:blipFill>
        <p:spPr>
          <a:xfrm>
            <a:off x="597475" y="818848"/>
            <a:ext cx="7949052" cy="215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 rotWithShape="1">
          <a:blip r:embed="rId4">
            <a:alphaModFix/>
          </a:blip>
          <a:srcRect b="84080" l="0" r="0" t="0"/>
          <a:stretch/>
        </p:blipFill>
        <p:spPr>
          <a:xfrm>
            <a:off x="597475" y="0"/>
            <a:ext cx="7949051" cy="81884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7"/>
          <p:cNvSpPr txBox="1"/>
          <p:nvPr/>
        </p:nvSpPr>
        <p:spPr>
          <a:xfrm>
            <a:off x="1323000" y="922650"/>
            <a:ext cx="284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2"/>
                </a:solidFill>
              </a:rPr>
              <a:t>cerebrolysin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Diagnosis</a:t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 Ovarian cancer, endometrioid carcinoma, stage IVB, originated from endometriosis in retroperitoneum with iliac lymph node, pelvic adhesion, thoracic/lumbar spine, lung, brain metastasis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status post retroperitoneal tumor biopsy (by general surgeon), right pelvic lymph node dissection and pelvic adhesiolysis on 2023/10/19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status post chemotherapy with Paclitaxel ＋ Carboplatin ＋ Avastin (Q3W) 2023/10/25-2024/04/17, 9 cycles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status post target therapy with Avastin 2024/05/11~2025/04/01, 15 cycles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status post radiation therapy, 2025/04/15~2025/05/27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status post immunotherapy of pembrolizumab, 2025/04/02~2025/07/19, 6 cycles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status post chemotherapy with weekly Paclitaxel + Carboplatin + Bevacizumab since 2025/08/09, last cycle 6-3(Paclitaxel + Carboplatin ) on 2026/02/09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with local recurrence and distant metastasis (liver, lung, bone)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- status post port-A indwelling on 2026/05/14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  - status post chemotherapy with lipodox ＋ carboplatin ＋ Avastin since 2026/05/14, last cycle 2－0 on 2026/05/30</a:t>
            </a:r>
            <a:endParaRPr/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0" name="Google Shape;200;p28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Diagnosis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#. T9, L2 pathological fracture, suspected ovarian cancer metastasis, s/p T9 tumor excision, T7-11 laminectomy, T7-8, T10-11 posterior fusion with Postero-lateral bone fusion, and L2 kyphoplasty (2026/06/17), with neurological deficits of bilateral lower limb weakness and numbness, NLI = T8, AIS D </a:t>
            </a:r>
            <a:endParaRPr/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Metastatic Spinal Cord Compression (MSCC)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約 60% 的次發性腫瘤轉移（Secondary體系）會侵犯脊椎骨骼。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主因：</a:t>
            </a:r>
            <a:r>
              <a:rPr lang="zh-TW"/>
              <a:t>脊椎具有極豐富的血管供應 (Large Vascular Supply) 與淋巴引流 (Lymphatic Drainage)。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最常見癌別：</a:t>
            </a:r>
            <a:r>
              <a:rPr lang="zh-TW"/>
              <a:t>肺癌、乳癌、攝護腺癌，三者合占脊椎轉移病例的 60% 以上；約 7% 的病例原發灶未知 (Unknown Primary)。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初次表現：</a:t>
            </a:r>
            <a:r>
              <a:rPr lang="zh-TW"/>
              <a:t>約 20% 的患者首發症狀即為 MSCC（常見於肺癌、多發性骨髓瘤及非霍奇金氏淋巴瘤），此類患者高度需要組織病理確診以規劃全身性治療。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解剖分布：</a:t>
            </a:r>
            <a:r>
              <a:rPr lang="zh-TW"/>
              <a:t>最具臨床神經壓迫的病變最常發生於胸椎 (Thoracic Tract)。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/>
              <a:t>病理併發症：</a:t>
            </a:r>
            <a:r>
              <a:rPr lang="zh-TW"/>
              <a:t>椎體破壞導致機械性不穩定，或腫瘤直接壓迫脊髓/神經根，引發癱瘓 (Paralysis)、感覺缺失及大小便功能障礙。隨著癌症患者生存期延長，MSCC 的發生率逐年上升。</a:t>
            </a:r>
            <a:endParaRPr/>
          </a:p>
        </p:txBody>
      </p: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Multidisciplinary Approach to Patients With Metastatic Spinal Cord Compression: A Diagnostic Therapeutic Algorithm to Improve the Neurological Outcome. Frontiers in Oncology. 2022. Rispoli R, Reverberi C, Targato G, et al.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Prognosis</a:t>
            </a:r>
            <a:endParaRPr/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Improvements to the FIGO staging for ovarian cancer: reconsideration of lymphatic spread and intraoperative tumor rupture. Journal of Gynecologic Oncology 24(4):352. 2013.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TW"/>
              <a:t>Stage IVB endometrial cancer: clinical course and survival of patients with single and multiple metastases. European Journal of Gynaecological Oncology 36(5):529-532. 2015.</a:t>
            </a:r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3425"/>
            <a:ext cx="4742300" cy="308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6058" y="1116012"/>
            <a:ext cx="3599808" cy="3196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/>
          <p:nvPr/>
        </p:nvSpPr>
        <p:spPr>
          <a:xfrm>
            <a:off x="7716075" y="1666375"/>
            <a:ext cx="846600" cy="1794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1"/>
          <p:cNvSpPr/>
          <p:nvPr/>
        </p:nvSpPr>
        <p:spPr>
          <a:xfrm>
            <a:off x="5413750" y="2697053"/>
            <a:ext cx="591000" cy="288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/>
          <p:nvPr/>
        </p:nvSpPr>
        <p:spPr>
          <a:xfrm rot="5400000">
            <a:off x="4936375" y="3344633"/>
            <a:ext cx="1251000" cy="13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1"/>
          <p:cNvSpPr/>
          <p:nvPr/>
        </p:nvSpPr>
        <p:spPr>
          <a:xfrm rot="5400000">
            <a:off x="5372575" y="3344633"/>
            <a:ext cx="1251000" cy="13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General Care</a:t>
            </a:r>
            <a:endParaRPr/>
          </a:p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8" name="Google Shape;238;p32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53800"/>
            <a:ext cx="3426016" cy="302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/>
          <p:nvPr/>
        </p:nvSpPr>
        <p:spPr>
          <a:xfrm>
            <a:off x="1972925" y="3408878"/>
            <a:ext cx="1784400" cy="415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650" lIns="77650" spcFirstLastPara="1" rIns="77650" wrap="square" tIns="7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9"/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3500" y="1131275"/>
            <a:ext cx="5117650" cy="33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/>
          <p:nvPr/>
        </p:nvSpPr>
        <p:spPr>
          <a:xfrm>
            <a:off x="4609900" y="4081025"/>
            <a:ext cx="1023000" cy="2853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General Care</a:t>
            </a:r>
            <a:endParaRPr/>
          </a:p>
        </p:txBody>
      </p: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An Integrated Multidisciplinary Algorithm for the Management of Spinal Metastases: An International Spine Oncology Consortium Report. The Lancet. Oncology. 2017. Spratt DE, Beeler WH, de Moraes FY, et al.</a:t>
            </a:r>
            <a:endParaRPr/>
          </a:p>
        </p:txBody>
      </p:sp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50" y="967475"/>
            <a:ext cx="6828597" cy="334070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3"/>
          <p:cNvSpPr/>
          <p:nvPr/>
        </p:nvSpPr>
        <p:spPr>
          <a:xfrm>
            <a:off x="5316100" y="1701225"/>
            <a:ext cx="796800" cy="184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3028675" y="1953225"/>
            <a:ext cx="1172100" cy="184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1592725" y="2240075"/>
            <a:ext cx="880200" cy="184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2417300" y="2479650"/>
            <a:ext cx="1385100" cy="184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/>
          <p:nvPr/>
        </p:nvSpPr>
        <p:spPr>
          <a:xfrm>
            <a:off x="1553950" y="2748375"/>
            <a:ext cx="863400" cy="184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/>
          <p:nvPr/>
        </p:nvSpPr>
        <p:spPr>
          <a:xfrm>
            <a:off x="1601125" y="3017100"/>
            <a:ext cx="488400" cy="184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51" y="4308187"/>
            <a:ext cx="6828599" cy="4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1850" y="967475"/>
            <a:ext cx="1739300" cy="284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Surgical Options</a:t>
            </a:r>
            <a:endParaRPr/>
          </a:p>
        </p:txBody>
      </p:sp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5" name="Google Shape;265;p34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An Integrated Multidisciplinary Algorithm for the Management of Spinal Metastases: An International Spine Oncology Consortium Report. The Lancet. Oncology. 2017. Spratt DE, Beeler WH, de Moraes FY, et al.</a:t>
            </a:r>
            <a:endParaRPr/>
          </a:p>
        </p:txBody>
      </p:sp>
      <p:pic>
        <p:nvPicPr>
          <p:cNvPr id="266" name="Google Shape;2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25" y="1221586"/>
            <a:ext cx="8349162" cy="1312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</a:t>
            </a:r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已知癌症病史者</a:t>
            </a:r>
            <a:r>
              <a:rPr lang="zh-TW">
                <a:solidFill>
                  <a:schemeClr val="dk1"/>
                </a:solidFill>
              </a:rPr>
              <a:t>：不需等待新的病理報告，應直接根據影像與臨床表現啟動放療。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初次表現即為 MSCC 且預後極危急者</a:t>
            </a:r>
            <a:r>
              <a:rPr lang="zh-TW">
                <a:solidFill>
                  <a:schemeClr val="dk1"/>
                </a:solidFill>
              </a:rPr>
              <a:t>：為挽救神經功能，可採取「先放療、同步或隨後尋找原發灶/切片」的策略。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既有手術患者，放射治療的啟動不可過早，必須等待手術傷口達到初步的癒合；但亦不可過遲，以免殘存的硬膜外腫瘤組織快速復發，再次壓迫脊髓。臨床實務上，若傷口無特殊併發症，多於術後 14 至 21 天內開始放療。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Assessment and Management of Patients With Metastatic Spinal Cord Compression: A Multidisciplinary Review. Journal of Clinical Oncology : Official Journal of the American Society of Clinical Oncology. 2019. Lawton AJ, Lee KA, Cheville AL, et al.Review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Steroid therapy</a:t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過去曾有研究支持超高劑量類固醇（96 mg IV），但 2015 年 Cochrane 回顧指出其伴隨極高的嚴重副作用風險（如胃穿孔、精神病、感染致死）。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目前臨床專家多建議初次靜脈給予 Dexamethasone 10 mg，隨後每 6 小時給予 4–6 mg（靜脈或口服），並於放射治療結束後在 2 週內逐漸減量。</a:t>
            </a:r>
            <a:endParaRPr/>
          </a:p>
        </p:txBody>
      </p:sp>
      <p:sp>
        <p:nvSpPr>
          <p:cNvPr id="281" name="Google Shape;28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33600" y="4520350"/>
            <a:ext cx="8679900" cy="60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zh-TW" sz="828"/>
              <a:t>Assessment and Management of Patients With Metastatic Spinal Cord Compression: A Multidisciplinary Review.Journal of Clinical Oncology : Official Journal of the American Society of Clinical Oncology. 2019. Lawton AJ, Lee KA, Cheville AL, et al.</a:t>
            </a:r>
            <a:endParaRPr sz="828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523"/>
              <a:buNone/>
            </a:pPr>
            <a:r>
              <a:rPr lang="zh-TW" sz="828"/>
              <a:t>Metastatic Spinal Cord Compression: Unraveling the Diagnostic and Therapeutic Challenges.Anticancer Research. 2018. Boussios S, Cooke D, Hayward C, et al.</a:t>
            </a:r>
            <a:endParaRPr sz="828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Pain Control</a:t>
            </a:r>
            <a:endParaRPr/>
          </a:p>
        </p:txBody>
      </p:sp>
      <p:sp>
        <p:nvSpPr>
          <p:cNvPr id="288" name="Google Shape;28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Dexamethasone </a:t>
            </a:r>
            <a:r>
              <a:rPr lang="zh-TW"/>
              <a:t>可兼治神經痛與骨轉移發炎痛。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抗癲癇藥</a:t>
            </a:r>
            <a:r>
              <a:rPr lang="zh-TW"/>
              <a:t>（Gabapentin, Pregabalin）或</a:t>
            </a:r>
            <a:r>
              <a:rPr b="1" lang="zh-TW"/>
              <a:t>三環抗憂鬱劑</a:t>
            </a:r>
            <a:r>
              <a:rPr lang="zh-TW"/>
              <a:t>（Amitriptyline, Nortriptyline）可用於神經路徑受損引起的燒灼痛。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/>
              <a:t>雙磷酸鹽</a:t>
            </a:r>
            <a:r>
              <a:rPr lang="zh-TW"/>
              <a:t>（如 Zoledronic acid）對骨轉移疼痛有顯著幫忙，通常在 </a:t>
            </a:r>
            <a:r>
              <a:rPr b="1" lang="zh-TW"/>
              <a:t>4 週內達到最大效果</a:t>
            </a:r>
            <a:r>
              <a:rPr lang="zh-TW"/>
              <a:t>。</a:t>
            </a:r>
            <a:endParaRPr/>
          </a:p>
        </p:txBody>
      </p:sp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0" name="Google Shape;290;p37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An Integrated Multidisciplinary Algorithm for the Management of Spinal Metastases: An International Spine Oncology Consortium Report. The Lancet. Oncology. 2017. Spratt DE, Beeler WH, de Moraes FY, et al.</a:t>
            </a:r>
            <a:endParaRPr/>
          </a:p>
        </p:txBody>
      </p:sp>
      <p:pic>
        <p:nvPicPr>
          <p:cNvPr id="291" name="Google Shape;291;p37"/>
          <p:cNvPicPr preferRelativeResize="0"/>
          <p:nvPr/>
        </p:nvPicPr>
        <p:blipFill rotWithShape="1">
          <a:blip r:embed="rId3">
            <a:alphaModFix/>
          </a:blip>
          <a:srcRect b="31699" l="0" r="0" t="0"/>
          <a:stretch/>
        </p:blipFill>
        <p:spPr>
          <a:xfrm>
            <a:off x="145849" y="1555800"/>
            <a:ext cx="8852276" cy="11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Antiresorptive</a:t>
            </a:r>
            <a:r>
              <a:rPr lang="zh-TW"/>
              <a:t> therapy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Bone-modifying agents are generally recommended for patients with expected survival ≥3 months.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Patients with symptomatic bone metastases or recent SREs may still benefit from ongoing bone protection even with poor performance status.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If bone-modifying agent not yet started: likely defer initiation unless specific indication (e.g., hypercalcemia)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If already on denosumab: do not abruptly stop—either continue or implement bisphosphonate transition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If already on bisphosphonate: may discontinue if transitioning to comfort-focused care.</a:t>
            </a:r>
            <a:endParaRPr/>
          </a:p>
        </p:txBody>
      </p:sp>
      <p:sp>
        <p:nvSpPr>
          <p:cNvPr id="298" name="Google Shape;29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 Integrated Multidisciplinary Algorithm for the Management of Spinal Metastases: An International Spine Oncology Consortium Report. The Lancet. Oncology. 2017. Spratt DE, Beeler WH, de Moraes FY, et al.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TW"/>
              <a:t>Management of Bone Health in Solid Tumours: From Bisphosphonates to a Monoclonal Antibody. Cancer Treatment Reviews. 2019. von Moos R, Costa L, Gonzalez-Suarez E, et al.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Antiresorptive therapy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First-line options (both are acceptable):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Denosumab 120 mg subcutaneously every 4 weeks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Zoledronic acid 4 mg intravenously every 3-4 weeks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 Integrated Multidisciplinary Algorithm for the Management of Spinal Metastases: An International Spine Oncology Consortium Report. The Lancet. Oncology. 2017. Spratt DE, Beeler WH, de Moraes FY, et al.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TW"/>
              <a:t>Management of Bone Health in Solid Tumours: From Bisphosphonates to a Monoclonal Antibody. Cancer Treatment Reviews. 2019. von Moos R, Costa L, Gonzalez-Suarez E, et al.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Antiresorptive therapy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4" name="Google Shape;314;p40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 Integrated Multidisciplinary Algorithm for the Management of Spinal Metastases: An International Spine Oncology Consortium Report. The Lancet. Oncology. 2017. Spratt DE, Beeler WH, de Moraes FY, et al.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TW"/>
              <a:t>Management of Bone Health in Solid Tumours: From Bisphosphonates to a Monoclonal Antibody. Cancer Treatment Reviews. 2019. von Moos R, Costa L, Gonzalez-Suarez E, et al.</a:t>
            </a:r>
            <a:endParaRPr/>
          </a:p>
        </p:txBody>
      </p:sp>
      <p:pic>
        <p:nvPicPr>
          <p:cNvPr id="315" name="Google Shape;3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413" y="1093925"/>
            <a:ext cx="6905163" cy="34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Antiresorptive therapy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Duration of Therapy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For bone metastases: Continue indefinitely as long as patient has bone metastases and is receiving active cancer treatment. </a:t>
            </a:r>
            <a:endParaRPr/>
          </a:p>
        </p:txBody>
      </p:sp>
      <p:sp>
        <p:nvSpPr>
          <p:cNvPr id="322" name="Google Shape;32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3" name="Google Shape;323;p41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 Integrated Multidisciplinary Algorithm for the Management of Spinal Metastases: An International Spine Oncology Consortium Report. The Lancet. Oncology. 2017. Spratt DE, Beeler WH, de Moraes FY, et al.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TW"/>
              <a:t>Management of Bone Health in Solid Tumours: From Bisphosphonates to a Monoclonal Antibody. Cancer Treatment Reviews. 2019. von Moos R, Costa L, Gonzalez-Suarez E, et al.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Baseline Imaging</a:t>
            </a:r>
            <a:endParaRPr/>
          </a:p>
        </p:txBody>
      </p:sp>
      <p:sp>
        <p:nvSpPr>
          <p:cNvPr id="329" name="Google Shape;32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0" name="Google Shape;330;p42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Multidisciplinary Approach to Patients With Metastatic Spinal Cord Compression: A Diagnostic Therapeutic Algorithm to Improve the Neurological Outcome. Frontiers in Oncology. 2022. Rispoli R, Reverberi C, Targato G, et al.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TW"/>
              <a:t>NCCN Guideline, SPINE-1</a:t>
            </a:r>
            <a:endParaRPr/>
          </a:p>
        </p:txBody>
      </p:sp>
      <p:pic>
        <p:nvPicPr>
          <p:cNvPr id="331" name="Google Shape;3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950" y="120325"/>
            <a:ext cx="5915000" cy="454290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2"/>
          <p:cNvSpPr/>
          <p:nvPr/>
        </p:nvSpPr>
        <p:spPr>
          <a:xfrm>
            <a:off x="5355950" y="904550"/>
            <a:ext cx="1424100" cy="5079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Nutrition</a:t>
            </a:r>
            <a:endParaRPr/>
          </a:p>
        </p:txBody>
      </p:sp>
      <p:sp>
        <p:nvSpPr>
          <p:cNvPr id="338" name="Google Shape;33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115/06/26　體重：49.70 kg　(-4.1)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追蹤內容說明：訂院伙特A餐，前幾天使用藥物後嘔吐，近2-3天因擔心嘔吐，盤餐僅吃1-2口，表示少量進食無不適，但食慾差。(Bfluid 6/25 已暫停)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進食量達需求量：&lt;25% 曲線圖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具體改善建議、方法與目標：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其他：1.鼓勵少量多餐，給予餐間點心建議。 2.給予濃縮營養品(倍速益.補體素康健1.5)，指導補充方式。 3.續追蹤。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營養監測項目執行狀況：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1. 熱量攝取量：&gt;1125大卡，仍需加強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營養問題改善狀況：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1. 熱量攝取不足，仍需加強</a:t>
            </a:r>
            <a:endParaRPr/>
          </a:p>
        </p:txBody>
      </p:sp>
      <p:sp>
        <p:nvSpPr>
          <p:cNvPr id="339" name="Google Shape;33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0" name="Google Shape;340;p43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3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Nutrition</a:t>
            </a:r>
            <a:endParaRPr/>
          </a:p>
        </p:txBody>
      </p:sp>
      <p:sp>
        <p:nvSpPr>
          <p:cNvPr id="347" name="Google Shape;34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115/06/29　體重：53.80 kg　(+0.0)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追蹤內容說明：食慾進步許多 院伙一半+自備食物蛋糕麵食等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進食量達需求量：75－100% 曲線圖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具體改善建議、方法與目標：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其他：均衡份量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營養監測項目執行狀況：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1. 熱量攝取量：&gt;1125大卡，大部分已達成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營養問題改善狀況：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1. 熱量攝取不足，大部分已改善</a:t>
            </a:r>
            <a:endParaRPr/>
          </a:p>
        </p:txBody>
      </p:sp>
      <p:sp>
        <p:nvSpPr>
          <p:cNvPr id="348" name="Google Shape;34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9" name="Google Shape;349;p44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4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Nutrition</a:t>
            </a:r>
            <a:endParaRPr/>
          </a:p>
        </p:txBody>
      </p:sp>
      <p:sp>
        <p:nvSpPr>
          <p:cNvPr id="356" name="Google Shape;35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115/07/03　體重：53.80 kg　(+0.0)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追蹤內容說明：食量較不穩定 但都可外買 沒有喝營養品(覺得食物還吃不完先吃食物不要浪費) 詢問若喝牛奶或奶粉 是否要買去乳糖或銀髮奶粉或全脂低脂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進食量達需求量：75－100% 曲線圖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具體改善建議、方法與目標：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其他：提醒吃少時要喝營養品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營養監測項目執行狀況：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1. 熱量攝取量：&gt;1125大卡，大部分已達成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營養問題改善狀況：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1. 熱量攝取不足，大部分已改善</a:t>
            </a:r>
            <a:endParaRPr/>
          </a:p>
        </p:txBody>
      </p:sp>
      <p:sp>
        <p:nvSpPr>
          <p:cNvPr id="357" name="Google Shape;3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58" name="Google Shape;358;p45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5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Nutrition Suggestions</a:t>
            </a:r>
            <a:endParaRPr/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bedridden cancer patients undergoing chemotherapy, recommended energy intake is 20-25 kcal/kg/day with protein intake of 1.5-2.0 g/kg/day.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Nutritional therapy should be initiated when daily intake falls below 60% of estimated energy expenditure for &gt;10 days or with &gt;5% recent weight loss.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若 3–5 天內口服無法滿足 60% 的需求，應果斷升級介入。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短期斷食 (STF)：化療前 48–140 小時及化療後 5–56 小時進行短期斷食，患者耐受性佳且安全，可能具備減輕治療副作用並改善生活品質 (QoL) 的潛力。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6"/>
          <p:cNvSpPr txBox="1"/>
          <p:nvPr/>
        </p:nvSpPr>
        <p:spPr>
          <a:xfrm>
            <a:off x="2511725" y="43167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/>
          </a:p>
        </p:txBody>
      </p:sp>
      <p:sp>
        <p:nvSpPr>
          <p:cNvPr id="367" name="Google Shape;367;p46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Summary of Evidence on Nutritional Management for Patients Undergoing Chemotherapy. Cancer Medicine. 2024. Dan X, He YL, Tian YL, Chen TL, Yu JY</a:t>
            </a:r>
            <a:endParaRPr/>
          </a:p>
        </p:txBody>
      </p:sp>
      <p:sp>
        <p:nvSpPr>
          <p:cNvPr id="368" name="Google Shape;36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 vs. PN</a:t>
            </a:r>
            <a:endParaRPr/>
          </a:p>
        </p:txBody>
      </p:sp>
      <p:sp>
        <p:nvSpPr>
          <p:cNvPr id="374" name="Google Shape;37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管餵腸道營養 (EN)：</a:t>
            </a:r>
            <a:r>
              <a:rPr lang="zh-TW"/>
              <a:t>優於腸外營養，能保護腸道屏障、支持免疫並利於血糖控制。適應症包括：高營養風險、無法口服進食、口服/ONS 無法滿足需求的患者（如口服攝入小於所需量的三分之二，或化療後持續腸炎 &gt;7 天）。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EN 餵食管路與技術選擇：</a:t>
            </a:r>
            <a:r>
              <a:rPr lang="zh-TW"/>
              <a:t>優先推薦</a:t>
            </a:r>
            <a:r>
              <a:rPr b="1" lang="zh-TW"/>
              <a:t>鼻胃管 (Nasogastric tube)</a:t>
            </a:r>
            <a:r>
              <a:rPr lang="zh-TW"/>
              <a:t>，並建議使用小管徑餵食管。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/>
              <a:t>PN 絕對適應症：</a:t>
            </a:r>
            <a:r>
              <a:rPr lang="zh-TW"/>
              <a:t>嚴重黏膜炎 (Severe mucositis)、無法控制的嘔吐、機械性腸阻塞、嚴重吸收不良、持續性腹瀉或症狀性腸移植排斥反應。</a:t>
            </a:r>
            <a:endParaRPr/>
          </a:p>
        </p:txBody>
      </p:sp>
      <p:sp>
        <p:nvSpPr>
          <p:cNvPr id="375" name="Google Shape;37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6" name="Google Shape;376;p47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Oral Nutritional Supplements (ONS) - High Priority</a:t>
            </a:r>
            <a:endParaRPr/>
          </a:p>
        </p:txBody>
      </p:sp>
      <p:sp>
        <p:nvSpPr>
          <p:cNvPr id="382" name="Google Shape;38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High-protein, omega-3 PUFA-enriched ONS should be prioritized over standard formulations: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Specific product recommendations: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TW"/>
              <a:t>亞培安素Plus Advance - 1.5 kcal/mL, high protein (18g/237mL), enriched with omega-3 fatty acids and HMB (β-hydroxy-β-methylbutyrate) for muscle preservation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/>
              <a:t>Supportan（倍速/加力康）- specifically designed for cancer patients, contains omega-3 fatty acids (EPA/DHA), high protein, and immune-modulating nutrients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/>
              <a:t>亞培倍力素（ProSure） - enriched with EPA (omega-3), high protein, designed for cancer cachexia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/>
              <a:t>倍速益 (Boost) 1.5 or 補體素康健 1.5 - acceptable alternatives if omega-3 enriched versions unavailable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Dosing protocol: 200-400 mL between meals, 3 times daily (the "3+3 model": 3 main meals + 3 ONS servings) </a:t>
            </a:r>
            <a:endParaRPr/>
          </a:p>
        </p:txBody>
      </p:sp>
      <p:sp>
        <p:nvSpPr>
          <p:cNvPr id="383" name="Google Shape;38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4" name="Google Shape;384;p48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Adjunct</a:t>
            </a:r>
            <a:endParaRPr/>
          </a:p>
        </p:txBody>
      </p:sp>
      <p:sp>
        <p:nvSpPr>
          <p:cNvPr id="390" name="Google Shape;39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皮質類固醇 (Corticosteroids)：</a:t>
            </a:r>
            <a:r>
              <a:rPr lang="zh-TW"/>
              <a:t>晚期癌症患者出現食慾不振時，可考慮短期使用 (1–3 週) 以刺激食慾（推薦強度 I/B），但必須嚴密監測肌肉萎縮、胰島素抗性及感染等副作用。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孕激素 (Progestogens)：</a:t>
            </a:r>
            <a:r>
              <a:rPr lang="zh-TW"/>
              <a:t>可用於增加晚期厭食症患者的食慾（I/B），但須注意血栓栓塞 (Thromboembolism) 的嚴重副作用。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/>
              <a:t>胃腸動力藥 (Prokinetic drugs)：</a:t>
            </a:r>
            <a:r>
              <a:rPr lang="zh-TW"/>
              <a:t>針對早飽 (Early satiety) 患者，在排除便秘後可考慮使用。但需警惕 Metoclopramide 引起的中樞神經系統副作用（如不可逆的遲發性運動障礙），以及 Domperidone（特別是靜脈注射）引發的心律中斷（Q-T 間期延長、心室頻脈）。</a:t>
            </a:r>
            <a:endParaRPr/>
          </a:p>
        </p:txBody>
      </p:sp>
      <p:sp>
        <p:nvSpPr>
          <p:cNvPr id="391" name="Google Shape;39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2" name="Google Shape;392;p49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Vitamins</a:t>
            </a:r>
            <a:endParaRPr/>
          </a:p>
        </p:txBody>
      </p:sp>
      <p:sp>
        <p:nvSpPr>
          <p:cNvPr id="398" name="Google Shape;398;p50"/>
          <p:cNvSpPr txBox="1"/>
          <p:nvPr>
            <p:ph idx="1" type="body"/>
          </p:nvPr>
        </p:nvSpPr>
        <p:spPr>
          <a:xfrm>
            <a:off x="2480009" y="-1849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chemeClr val="dk1"/>
                </a:solidFill>
              </a:rPr>
              <a:t>Vitamin D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Dose:</a:t>
            </a:r>
            <a:r>
              <a:rPr lang="zh-TW" sz="1200">
                <a:solidFill>
                  <a:schemeClr val="dk1"/>
                </a:solidFill>
              </a:rPr>
              <a:t> 2000-4000 IU daily (or 50,000 IU weekly if severely deficient)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Rationale:</a:t>
            </a:r>
            <a:r>
              <a:rPr lang="zh-TW" sz="1200">
                <a:solidFill>
                  <a:schemeClr val="dk1"/>
                </a:solidFill>
              </a:rPr>
              <a:t> Prevents osteoporosis in setting of bone metastases, improves physical performance in SCI patients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Product:</a:t>
            </a:r>
            <a:r>
              <a:rPr lang="zh-TW" sz="1200">
                <a:solidFill>
                  <a:schemeClr val="dk1"/>
                </a:solidFill>
              </a:rPr>
              <a:t> Cholecalciferol 1000 IU capsules, 2-4 caps daily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chemeClr val="dk1"/>
                </a:solidFill>
              </a:rPr>
              <a:t>Vitamin B Complex (especially B12)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Dose:</a:t>
            </a:r>
            <a:r>
              <a:rPr lang="zh-TW" sz="1200">
                <a:solidFill>
                  <a:schemeClr val="dk1"/>
                </a:solidFill>
              </a:rPr>
              <a:t> B12 1000 mcg daily (oral or IM weekly if absorption impaired)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Rationale:</a:t>
            </a:r>
            <a:r>
              <a:rPr lang="zh-TW" sz="1200">
                <a:solidFill>
                  <a:schemeClr val="dk1"/>
                </a:solidFill>
              </a:rPr>
              <a:t> Neurological prophylaxis in chronic SCI, supports nerve regeneration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Product:</a:t>
            </a:r>
            <a:r>
              <a:rPr lang="zh-TW" sz="1200">
                <a:solidFill>
                  <a:schemeClr val="dk1"/>
                </a:solidFill>
              </a:rPr>
              <a:t> Methylcobalamin 1000 mcg sublingual or IM injection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Note: Patient already receiving Mecobalamin 500 mcg TID - </a:t>
            </a:r>
            <a:r>
              <a:rPr b="1" lang="zh-TW" sz="1200">
                <a:solidFill>
                  <a:schemeClr val="dk1"/>
                </a:solidFill>
              </a:rPr>
              <a:t>increase to 1000 mcg TID</a:t>
            </a:r>
            <a:r>
              <a:rPr lang="zh-TW" sz="1200">
                <a:solidFill>
                  <a:schemeClr val="dk1"/>
                </a:solidFill>
              </a:rPr>
              <a:t> or add B-complex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9" name="Google Shape;39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0" name="Google Shape;400;p50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Bioactive Role of Vitamins as a Key Modulator of Oxidative Stress, Cellular Damage and Comorbidities Associated With Spinal Cord Injury (SCI). Nutritional Neuroscience. 2023. Pedroza-García KA, Careaga-Cárdenas G, Díaz-Galindo C, et al.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Vitamin D</a:t>
            </a:r>
            <a:endParaRPr/>
          </a:p>
        </p:txBody>
      </p:sp>
      <p:sp>
        <p:nvSpPr>
          <p:cNvPr id="406" name="Google Shape;40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7" name="Google Shape;407;p51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台北榮總復健醫學部李思慧醫師門診衛教單張</a:t>
            </a:r>
            <a:endParaRPr/>
          </a:p>
        </p:txBody>
      </p:sp>
      <p:pic>
        <p:nvPicPr>
          <p:cNvPr id="408" name="Google Shape;40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900" y="127962"/>
            <a:ext cx="5292550" cy="332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900" y="3396892"/>
            <a:ext cx="5292549" cy="1428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929" y="1152475"/>
            <a:ext cx="2415492" cy="341640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1"/>
          <p:cNvSpPr txBox="1"/>
          <p:nvPr/>
        </p:nvSpPr>
        <p:spPr>
          <a:xfrm>
            <a:off x="675500" y="3072725"/>
            <a:ext cx="102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Calcidiol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12" name="Google Shape;412;p51"/>
          <p:cNvSpPr txBox="1"/>
          <p:nvPr/>
        </p:nvSpPr>
        <p:spPr>
          <a:xfrm>
            <a:off x="2063575" y="3022575"/>
            <a:ext cx="102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Calcitriol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Vitamin D</a:t>
            </a:r>
            <a:endParaRPr/>
          </a:p>
        </p:txBody>
      </p:sp>
      <p:sp>
        <p:nvSpPr>
          <p:cNvPr id="418" name="Google Shape;418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0" name="Google Shape;420;p52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台北榮總復健醫學部李思慧醫師門診衛教單張</a:t>
            </a:r>
            <a:endParaRPr/>
          </a:p>
        </p:txBody>
      </p:sp>
      <p:pic>
        <p:nvPicPr>
          <p:cNvPr id="421" name="Google Shape;42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212" y="1017725"/>
            <a:ext cx="7165575" cy="3685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52"/>
          <p:cNvCxnSpPr/>
          <p:nvPr/>
        </p:nvCxnSpPr>
        <p:spPr>
          <a:xfrm>
            <a:off x="1520700" y="3314900"/>
            <a:ext cx="944100" cy="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52"/>
          <p:cNvCxnSpPr/>
          <p:nvPr/>
        </p:nvCxnSpPr>
        <p:spPr>
          <a:xfrm>
            <a:off x="1425975" y="3931925"/>
            <a:ext cx="1157400" cy="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52"/>
          <p:cNvCxnSpPr/>
          <p:nvPr/>
        </p:nvCxnSpPr>
        <p:spPr>
          <a:xfrm>
            <a:off x="6451875" y="3723500"/>
            <a:ext cx="1430100" cy="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Vitamin D</a:t>
            </a:r>
            <a:endParaRPr/>
          </a:p>
        </p:txBody>
      </p:sp>
      <p:sp>
        <p:nvSpPr>
          <p:cNvPr id="430" name="Google Shape;43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2" name="Google Shape;432;p53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台北榮總復健醫學部李思慧醫師門診衛教單張</a:t>
            </a:r>
            <a:endParaRPr/>
          </a:p>
        </p:txBody>
      </p:sp>
      <p:pic>
        <p:nvPicPr>
          <p:cNvPr id="433" name="Google Shape;43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3383"/>
            <a:ext cx="9143998" cy="22567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" name="Google Shape;434;p53"/>
          <p:cNvCxnSpPr/>
          <p:nvPr/>
        </p:nvCxnSpPr>
        <p:spPr>
          <a:xfrm>
            <a:off x="6581225" y="2399700"/>
            <a:ext cx="1587300" cy="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Vitamin D</a:t>
            </a:r>
            <a:endParaRPr/>
          </a:p>
        </p:txBody>
      </p:sp>
      <p:sp>
        <p:nvSpPr>
          <p:cNvPr id="440" name="Google Shape;440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2" name="Google Shape;442;p54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台北榮總復健醫學部李思慧醫師門診衛教單張</a:t>
            </a:r>
            <a:endParaRPr/>
          </a:p>
        </p:txBody>
      </p:sp>
      <p:pic>
        <p:nvPicPr>
          <p:cNvPr id="443" name="Google Shape;44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9844"/>
            <a:ext cx="9143999" cy="2863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Vitamin D</a:t>
            </a:r>
            <a:endParaRPr/>
          </a:p>
        </p:txBody>
      </p:sp>
      <p:sp>
        <p:nvSpPr>
          <p:cNvPr id="449" name="Google Shape;44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1" name="Google Shape;451;p55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zh-TW"/>
              <a:t>台北榮總復健醫學部李思慧醫師門診衛教單張</a:t>
            </a:r>
            <a:endParaRPr/>
          </a:p>
        </p:txBody>
      </p:sp>
      <p:pic>
        <p:nvPicPr>
          <p:cNvPr id="452" name="Google Shape;45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0235"/>
            <a:ext cx="9143999" cy="2403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Bfluid</a:t>
            </a:r>
            <a:endParaRPr/>
          </a:p>
        </p:txBody>
      </p:sp>
      <p:sp>
        <p:nvSpPr>
          <p:cNvPr id="458" name="Google Shape;45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適應症: </a:t>
            </a:r>
            <a:r>
              <a:rPr lang="zh-TW"/>
              <a:t>經口攝取不足、輕度的低蛋白血症、輕度的營養障礙、手術前後等狀態時的氨基酸、電解質、維生素B1及水分之營養補給。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主要包含四大成分：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zh-TW"/>
              <a:t>氨基酸（Amino Acids）：</a:t>
            </a:r>
            <a:r>
              <a:rPr lang="zh-TW"/>
              <a:t>15公克</a:t>
            </a:r>
            <a:r>
              <a:rPr lang="zh-TW"/>
              <a:t>（不足每日需求）</a:t>
            </a:r>
            <a:r>
              <a:rPr lang="zh-TW"/>
              <a:t>。提供蛋白質來源，修復組織、維持肌肉量，並改善輕度低蛋白血症。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zh-TW"/>
              <a:t>葡萄糖（Glucose）：</a:t>
            </a:r>
            <a:r>
              <a:rPr lang="zh-TW"/>
              <a:t>提供身體所需的基礎非蛋白質熱量。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zh-TW"/>
              <a:t>電解質（Electrolytes）：</a:t>
            </a:r>
            <a:r>
              <a:rPr lang="zh-TW"/>
              <a:t>包含鈉、鉀、鈣、鎂、鋅等離子，維持體內水分與電解質平衡。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zh-TW"/>
              <a:t>維生素 B1（Thiamine）：</a:t>
            </a:r>
            <a:r>
              <a:rPr lang="zh-TW"/>
              <a:t>特別添加維生素 B1，能預防在補充葡萄糖時引發嚴重的維尼克腦病變（Wernicke's Encephalopathy）。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禁忌症：</a:t>
            </a:r>
            <a:r>
              <a:rPr lang="zh-TW"/>
              <a:t>肝性昏迷、重度腎臟病、充血性心衰竭及嚴重酸中毒患者禁用。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/>
              <a:t>輸注速度：</a:t>
            </a:r>
            <a:r>
              <a:rPr lang="zh-TW"/>
              <a:t>通常由周邊靜脈持續輸注，每 500 mL 的標準輸注時間至少需要 120 分鐘以上，過快可能引發心悸、血管痛或代謝負擔。</a:t>
            </a:r>
            <a:endParaRPr/>
          </a:p>
        </p:txBody>
      </p:sp>
      <p:sp>
        <p:nvSpPr>
          <p:cNvPr id="459" name="Google Shape;45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0" name="Google Shape;460;p56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TPN</a:t>
            </a:r>
            <a:endParaRPr/>
          </a:p>
        </p:txBody>
      </p:sp>
      <p:sp>
        <p:nvSpPr>
          <p:cNvPr id="466" name="Google Shape;46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900">
                <a:solidFill>
                  <a:schemeClr val="dk1"/>
                </a:solidFill>
              </a:rPr>
              <a:t>全靜脈營養 (若經口進食量持續 &lt;60% 超過 3-5 天)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zh-TW" sz="1900">
                <a:solidFill>
                  <a:schemeClr val="dk1"/>
                </a:solidFill>
              </a:rPr>
              <a:t>三合一 TPN 營養袋 (例如：Kabiven、Olimel、Nutriflex)</a:t>
            </a:r>
            <a:r>
              <a:rPr lang="zh-TW" sz="1900">
                <a:solidFill>
                  <a:schemeClr val="dk1"/>
                </a:solidFill>
              </a:rPr>
              <a:t>，提供：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zh-TW" sz="1900">
                <a:solidFill>
                  <a:schemeClr val="dk1"/>
                </a:solidFill>
              </a:rPr>
              <a:t>熱量</a:t>
            </a:r>
            <a:r>
              <a:rPr lang="zh-TW" sz="1900">
                <a:solidFill>
                  <a:schemeClr val="dk1"/>
                </a:solidFill>
              </a:rPr>
              <a:t>：25-30 kcal/kg/day = 1250-1500 kcal/day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zh-TW" sz="1900">
                <a:solidFill>
                  <a:schemeClr val="dk1"/>
                </a:solidFill>
              </a:rPr>
              <a:t>蛋白質</a:t>
            </a:r>
            <a:r>
              <a:rPr lang="zh-TW" sz="1900">
                <a:solidFill>
                  <a:schemeClr val="dk1"/>
                </a:solidFill>
              </a:rPr>
              <a:t>：1.5-2.0 g/kg/day = 75-100 g/day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zh-TW" sz="1900">
                <a:solidFill>
                  <a:schemeClr val="dk1"/>
                </a:solidFill>
              </a:rPr>
              <a:t>脂質</a:t>
            </a:r>
            <a:r>
              <a:rPr lang="zh-TW" sz="1900">
                <a:solidFill>
                  <a:schemeClr val="dk1"/>
                </a:solidFill>
              </a:rPr>
              <a:t>：優先選用 SMOF-based 劑型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zh-TW" sz="1900">
                <a:solidFill>
                  <a:schemeClr val="dk1"/>
                </a:solidFill>
              </a:rPr>
              <a:t>電解質、維生素、微量元素</a:t>
            </a:r>
            <a:endParaRPr sz="2600"/>
          </a:p>
        </p:txBody>
      </p:sp>
      <p:sp>
        <p:nvSpPr>
          <p:cNvPr id="467" name="Google Shape;46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8" name="Google Shape;468;p57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SMOF-Lipid</a:t>
            </a:r>
            <a:endParaRPr/>
          </a:p>
        </p:txBody>
      </p:sp>
      <p:sp>
        <p:nvSpPr>
          <p:cNvPr id="474" name="Google Shape;474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SMOF Lipid (大豆油、中鏈三酸甘油酯、橄欖油、魚油乳劑)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適應症</a:t>
            </a:r>
            <a:r>
              <a:rPr lang="zh-TW">
                <a:solidFill>
                  <a:schemeClr val="dk1"/>
                </a:solidFill>
              </a:rPr>
              <a:t>：當經口攝取或腸道營養不足，且患者需要補充熱量時使用。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劑量</a:t>
            </a:r>
            <a:r>
              <a:rPr lang="zh-TW">
                <a:solidFill>
                  <a:schemeClr val="dk1"/>
                </a:solidFill>
              </a:rPr>
              <a:t>：0.7-1.5 g/kg/day（以此 50 kg 患者而言，約為每天 50-75 g）= 20% SMOF lipid 250-375 mL。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臨床效益</a:t>
            </a:r>
            <a:r>
              <a:rPr lang="zh-TW">
                <a:solidFill>
                  <a:schemeClr val="dk1"/>
                </a:solidFill>
              </a:rPr>
              <a:t>：提供 omega-3 脂肪酸（具抗發炎作用），與純大豆油脂肪乳劑相比，能降低感染風險。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特別益處</a:t>
            </a:r>
            <a:r>
              <a:rPr lang="zh-TW">
                <a:solidFill>
                  <a:schemeClr val="dk1"/>
                </a:solidFill>
              </a:rPr>
              <a:t>：考量到患者有惡病質（cancer cachexia）及發炎狀態，此劑型特別有益。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475" name="Google Shape;47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6" name="Google Shape;476;p58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Summary</a:t>
            </a:r>
            <a:endParaRPr/>
          </a:p>
        </p:txBody>
      </p:sp>
      <p:sp>
        <p:nvSpPr>
          <p:cNvPr id="482" name="Google Shape;48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分期</a:t>
            </a:r>
            <a:r>
              <a:rPr lang="zh-TW"/>
              <a:t>: 手術前後考慮 pathological fracture，考慮 Brain + C+A+P CT。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病情告知: 明確告知轉移 = 末期，IVB存活率約不到 2 個月。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手術如可選擇 MIS，術後 1-2 周內啟動放射治療。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疼痛</a:t>
            </a:r>
            <a:r>
              <a:rPr lang="zh-TW"/>
              <a:t>: </a:t>
            </a:r>
            <a:r>
              <a:rPr lang="zh-TW"/>
              <a:t>精神若在 opiod 類藥物使用之下如果沒有很差，可使用。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營養: opioid 類藥物可配合 PN 與 Prokinetics 處理消化與營養問題。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類固醇使用: 繼續使用直到 RT 結束後於兩周內減量。</a:t>
            </a:r>
            <a:endParaRPr/>
          </a:p>
        </p:txBody>
      </p:sp>
      <p:sp>
        <p:nvSpPr>
          <p:cNvPr id="483" name="Google Shape;48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4" name="Google Shape;484;p59"/>
          <p:cNvSpPr txBox="1"/>
          <p:nvPr>
            <p:ph idx="2" type="body"/>
          </p:nvPr>
        </p:nvSpPr>
        <p:spPr>
          <a:xfrm>
            <a:off x="33600" y="4663225"/>
            <a:ext cx="8746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