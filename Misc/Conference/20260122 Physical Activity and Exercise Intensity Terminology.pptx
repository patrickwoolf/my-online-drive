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5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5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51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56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61.xml"/>
  <Override ContentType="application/vnd.openxmlformats-officedocument.presentationml.notesSlide+xml" PartName="/ppt/notesSlides/notesSlide57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58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62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54.xml"/>
  <Override ContentType="application/vnd.openxmlformats-officedocument.presentationml.notesSlide+xml" PartName="/ppt/notesSlides/notesSlide45.xml"/>
  <Override ContentType="application/vnd.openxmlformats-officedocument.presentationml.notesSlide+xml" PartName="/ppt/notesSlides/notesSlide46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63.xml"/>
  <Override ContentType="application/vnd.openxmlformats-officedocument.presentationml.notesSlide+xml" PartName="/ppt/notesSlides/notesSlide5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47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60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64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48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5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49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53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35.xml"/>
  <Override ContentType="application/vnd.openxmlformats-officedocument.presentationml.slide+xml" PartName="/ppt/slides/slide60.xml"/>
  <Override ContentType="application/vnd.openxmlformats-officedocument.presentationml.slide+xml" PartName="/ppt/slides/slide5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50.xml"/>
  <Override ContentType="application/vnd.openxmlformats-officedocument.presentationml.slide+xml" PartName="/ppt/slides/slide34.xml"/>
  <Override ContentType="application/vnd.openxmlformats-officedocument.presentationml.slide+xml" PartName="/ppt/slides/slide33.xml"/>
  <Override ContentType="application/vnd.openxmlformats-officedocument.presentationml.slide+xml" PartName="/ppt/slides/slide51.xml"/>
  <Override ContentType="application/vnd.openxmlformats-officedocument.presentationml.slide+xml" PartName="/ppt/slides/slide16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7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54.xml"/>
  <Override ContentType="application/vnd.openxmlformats-officedocument.presentationml.slide+xml" PartName="/ppt/slides/slide36.xml"/>
  <Override ContentType="application/vnd.openxmlformats-officedocument.presentationml.slide+xml" PartName="/ppt/slides/slide23.xml"/>
  <Override ContentType="application/vnd.openxmlformats-officedocument.presentationml.slide+xml" PartName="/ppt/slides/slide49.xml"/>
  <Override ContentType="application/vnd.openxmlformats-officedocument.presentationml.slide+xml" PartName="/ppt/slides/slide10.xml"/>
  <Override ContentType="application/vnd.openxmlformats-officedocument.presentationml.slide+xml" PartName="/ppt/slides/slide6.xml"/>
  <Override ContentType="application/vnd.openxmlformats-officedocument.presentationml.slide+xml" PartName="/ppt/slides/slide53.xml"/>
  <Override ContentType="application/vnd.openxmlformats-officedocument.presentationml.slide+xml" PartName="/ppt/slides/slide40.xml"/>
  <Override ContentType="application/vnd.openxmlformats-officedocument.presentationml.slide+xml" PartName="/ppt/slides/slide4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9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6.xml"/>
  <Override ContentType="application/vnd.openxmlformats-officedocument.presentationml.slide+xml" PartName="/ppt/slides/slide12.xml"/>
  <Override ContentType="application/vnd.openxmlformats-officedocument.presentationml.slide+xml" PartName="/ppt/slides/slide4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8.xml"/>
  <Override ContentType="application/vnd.openxmlformats-officedocument.presentationml.slide+xml" PartName="/ppt/slides/slide46.xml"/>
  <Override ContentType="application/vnd.openxmlformats-officedocument.presentationml.slide+xml" PartName="/ppt/slides/slide64.xml"/>
  <Override ContentType="application/vnd.openxmlformats-officedocument.presentationml.slide+xml" PartName="/ppt/slides/slide8.xml"/>
  <Override ContentType="application/vnd.openxmlformats-officedocument.presentationml.slide+xml" PartName="/ppt/slides/slide55.xml"/>
  <Override ContentType="application/vnd.openxmlformats-officedocument.presentationml.slide+xml" PartName="/ppt/slides/slide29.xml"/>
  <Override ContentType="application/vnd.openxmlformats-officedocument.presentationml.slide+xml" PartName="/ppt/slides/slide59.xml"/>
  <Override ContentType="application/vnd.openxmlformats-officedocument.presentationml.slide+xml" PartName="/ppt/slides/slide32.xml"/>
  <Override ContentType="application/vnd.openxmlformats-officedocument.presentationml.slide+xml" PartName="/ppt/slides/slide62.xml"/>
  <Override ContentType="application/vnd.openxmlformats-officedocument.presentationml.slide+xml" PartName="/ppt/slides/slide1.xml"/>
  <Override ContentType="application/vnd.openxmlformats-officedocument.presentationml.slide+xml" PartName="/ppt/slides/slide58.xml"/>
  <Override ContentType="application/vnd.openxmlformats-officedocument.presentationml.slide+xml" PartName="/ppt/slides/slide63.xml"/>
  <Override ContentType="application/vnd.openxmlformats-officedocument.presentationml.slide+xml" PartName="/ppt/slides/slide45.xml"/>
  <Override ContentType="application/vnd.openxmlformats-officedocument.presentationml.slide+xml" PartName="/ppt/slides/slide28.xml"/>
  <Override ContentType="application/vnd.openxmlformats-officedocument.presentationml.slide+xml" PartName="/ppt/slides/slide15.xml"/>
  <Override ContentType="application/vnd.openxmlformats-officedocument.presentationml.slide+xml" PartName="/ppt/slides/slide61.xml"/>
  <Override ContentType="application/vnd.openxmlformats-officedocument.presentationml.slide+xml" PartName="/ppt/slides/slide31.xml"/>
  <Override ContentType="application/vnd.openxmlformats-officedocument.presentationml.slide+xml" PartName="/ppt/slides/slide27.xml"/>
  <Override ContentType="application/vnd.openxmlformats-officedocument.presentationml.slide+xml" PartName="/ppt/slides/slide57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2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  <p:sldId id="317" r:id="rId68"/>
    <p:sldId id="318" r:id="rId69"/>
    <p:sldId id="319" r:id="rId70"/>
  </p:sldIdLst>
  <p:sldSz cy="5143500" cx="9144000"/>
  <p:notesSz cx="6858000" cy="9144000"/>
  <p:embeddedFontLst>
    <p:embeddedFont>
      <p:font typeface="Oi"/>
      <p:regular r:id="rId71"/>
    </p:embeddedFont>
    <p:embeddedFont>
      <p:font typeface="Helvetica Neue"/>
      <p:regular r:id="rId72"/>
      <p:bold r:id="rId73"/>
      <p:italic r:id="rId74"/>
      <p:boldItalic r:id="rId7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27DDFD0E-D07E-4245-9B5E-44F62409D258}">
  <a:tblStyle styleId="{27DDFD0E-D07E-4245-9B5E-44F62409D258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4.xml"/><Relationship Id="rId42" Type="http://schemas.openxmlformats.org/officeDocument/2006/relationships/slide" Target="slides/slide36.xml"/><Relationship Id="rId41" Type="http://schemas.openxmlformats.org/officeDocument/2006/relationships/slide" Target="slides/slide35.xml"/><Relationship Id="rId44" Type="http://schemas.openxmlformats.org/officeDocument/2006/relationships/slide" Target="slides/slide38.xml"/><Relationship Id="rId43" Type="http://schemas.openxmlformats.org/officeDocument/2006/relationships/slide" Target="slides/slide37.xml"/><Relationship Id="rId46" Type="http://schemas.openxmlformats.org/officeDocument/2006/relationships/slide" Target="slides/slide40.xml"/><Relationship Id="rId45" Type="http://schemas.openxmlformats.org/officeDocument/2006/relationships/slide" Target="slides/slide39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48" Type="http://schemas.openxmlformats.org/officeDocument/2006/relationships/slide" Target="slides/slide42.xml"/><Relationship Id="rId47" Type="http://schemas.openxmlformats.org/officeDocument/2006/relationships/slide" Target="slides/slide41.xml"/><Relationship Id="rId49" Type="http://schemas.openxmlformats.org/officeDocument/2006/relationships/slide" Target="slides/slide43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73" Type="http://schemas.openxmlformats.org/officeDocument/2006/relationships/font" Target="fonts/HelveticaNeue-bold.fntdata"/><Relationship Id="rId72" Type="http://schemas.openxmlformats.org/officeDocument/2006/relationships/font" Target="fonts/HelveticaNeue-regular.fntdata"/><Relationship Id="rId31" Type="http://schemas.openxmlformats.org/officeDocument/2006/relationships/slide" Target="slides/slide25.xml"/><Relationship Id="rId75" Type="http://schemas.openxmlformats.org/officeDocument/2006/relationships/font" Target="fonts/HelveticaNeue-boldItalic.fntdata"/><Relationship Id="rId30" Type="http://schemas.openxmlformats.org/officeDocument/2006/relationships/slide" Target="slides/slide24.xml"/><Relationship Id="rId74" Type="http://schemas.openxmlformats.org/officeDocument/2006/relationships/font" Target="fonts/HelveticaNeue-italic.fntdata"/><Relationship Id="rId33" Type="http://schemas.openxmlformats.org/officeDocument/2006/relationships/slide" Target="slides/slide27.xml"/><Relationship Id="rId32" Type="http://schemas.openxmlformats.org/officeDocument/2006/relationships/slide" Target="slides/slide26.xml"/><Relationship Id="rId35" Type="http://schemas.openxmlformats.org/officeDocument/2006/relationships/slide" Target="slides/slide29.xml"/><Relationship Id="rId34" Type="http://schemas.openxmlformats.org/officeDocument/2006/relationships/slide" Target="slides/slide28.xml"/><Relationship Id="rId71" Type="http://schemas.openxmlformats.org/officeDocument/2006/relationships/font" Target="fonts/Oi-regular.fntdata"/><Relationship Id="rId70" Type="http://schemas.openxmlformats.org/officeDocument/2006/relationships/slide" Target="slides/slide64.xml"/><Relationship Id="rId37" Type="http://schemas.openxmlformats.org/officeDocument/2006/relationships/slide" Target="slides/slide31.xml"/><Relationship Id="rId36" Type="http://schemas.openxmlformats.org/officeDocument/2006/relationships/slide" Target="slides/slide30.xml"/><Relationship Id="rId39" Type="http://schemas.openxmlformats.org/officeDocument/2006/relationships/slide" Target="slides/slide33.xml"/><Relationship Id="rId38" Type="http://schemas.openxmlformats.org/officeDocument/2006/relationships/slide" Target="slides/slide32.xml"/><Relationship Id="rId62" Type="http://schemas.openxmlformats.org/officeDocument/2006/relationships/slide" Target="slides/slide56.xml"/><Relationship Id="rId61" Type="http://schemas.openxmlformats.org/officeDocument/2006/relationships/slide" Target="slides/slide55.xml"/><Relationship Id="rId20" Type="http://schemas.openxmlformats.org/officeDocument/2006/relationships/slide" Target="slides/slide14.xml"/><Relationship Id="rId64" Type="http://schemas.openxmlformats.org/officeDocument/2006/relationships/slide" Target="slides/slide58.xml"/><Relationship Id="rId63" Type="http://schemas.openxmlformats.org/officeDocument/2006/relationships/slide" Target="slides/slide57.xml"/><Relationship Id="rId22" Type="http://schemas.openxmlformats.org/officeDocument/2006/relationships/slide" Target="slides/slide16.xml"/><Relationship Id="rId66" Type="http://schemas.openxmlformats.org/officeDocument/2006/relationships/slide" Target="slides/slide60.xml"/><Relationship Id="rId21" Type="http://schemas.openxmlformats.org/officeDocument/2006/relationships/slide" Target="slides/slide15.xml"/><Relationship Id="rId65" Type="http://schemas.openxmlformats.org/officeDocument/2006/relationships/slide" Target="slides/slide59.xml"/><Relationship Id="rId24" Type="http://schemas.openxmlformats.org/officeDocument/2006/relationships/slide" Target="slides/slide18.xml"/><Relationship Id="rId68" Type="http://schemas.openxmlformats.org/officeDocument/2006/relationships/slide" Target="slides/slide62.xml"/><Relationship Id="rId23" Type="http://schemas.openxmlformats.org/officeDocument/2006/relationships/slide" Target="slides/slide17.xml"/><Relationship Id="rId67" Type="http://schemas.openxmlformats.org/officeDocument/2006/relationships/slide" Target="slides/slide61.xml"/><Relationship Id="rId60" Type="http://schemas.openxmlformats.org/officeDocument/2006/relationships/slide" Target="slides/slide54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69" Type="http://schemas.openxmlformats.org/officeDocument/2006/relationships/slide" Target="slides/slide63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29" Type="http://schemas.openxmlformats.org/officeDocument/2006/relationships/slide" Target="slides/slide23.xml"/><Relationship Id="rId51" Type="http://schemas.openxmlformats.org/officeDocument/2006/relationships/slide" Target="slides/slide45.xml"/><Relationship Id="rId50" Type="http://schemas.openxmlformats.org/officeDocument/2006/relationships/slide" Target="slides/slide44.xml"/><Relationship Id="rId53" Type="http://schemas.openxmlformats.org/officeDocument/2006/relationships/slide" Target="slides/slide47.xml"/><Relationship Id="rId52" Type="http://schemas.openxmlformats.org/officeDocument/2006/relationships/slide" Target="slides/slide46.xml"/><Relationship Id="rId11" Type="http://schemas.openxmlformats.org/officeDocument/2006/relationships/slide" Target="slides/slide5.xml"/><Relationship Id="rId55" Type="http://schemas.openxmlformats.org/officeDocument/2006/relationships/slide" Target="slides/slide49.xml"/><Relationship Id="rId10" Type="http://schemas.openxmlformats.org/officeDocument/2006/relationships/slide" Target="slides/slide4.xml"/><Relationship Id="rId54" Type="http://schemas.openxmlformats.org/officeDocument/2006/relationships/slide" Target="slides/slide48.xml"/><Relationship Id="rId13" Type="http://schemas.openxmlformats.org/officeDocument/2006/relationships/slide" Target="slides/slide7.xml"/><Relationship Id="rId57" Type="http://schemas.openxmlformats.org/officeDocument/2006/relationships/slide" Target="slides/slide51.xml"/><Relationship Id="rId12" Type="http://schemas.openxmlformats.org/officeDocument/2006/relationships/slide" Target="slides/slide6.xml"/><Relationship Id="rId56" Type="http://schemas.openxmlformats.org/officeDocument/2006/relationships/slide" Target="slides/slide50.xml"/><Relationship Id="rId15" Type="http://schemas.openxmlformats.org/officeDocument/2006/relationships/slide" Target="slides/slide9.xml"/><Relationship Id="rId59" Type="http://schemas.openxmlformats.org/officeDocument/2006/relationships/slide" Target="slides/slide53.xml"/><Relationship Id="rId14" Type="http://schemas.openxmlformats.org/officeDocument/2006/relationships/slide" Target="slides/slide8.xml"/><Relationship Id="rId58" Type="http://schemas.openxmlformats.org/officeDocument/2006/relationships/slide" Target="slides/slide52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g3a18a88295b_0_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4" name="Google Shape;74;g3a18a88295b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g3bb15dafc3e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" name="Google Shape;83;g3bb15dafc3e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g3ba56086149_0_6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" name="Google Shape;88;g3ba56086149_0_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g3a18a88295b_0_8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" name="Google Shape;93;g3a18a88295b_0_8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g3a627de88ad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" name="Google Shape;99;g3a627de88ad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g3a627de88ad_0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6" name="Google Shape;106;g3a627de88ad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g3ba51b2b46d_0_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1" name="Google Shape;111;g3ba51b2b46d_0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3ba56086149_0_7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" name="Google Shape;118;g3ba56086149_0_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g3ba56086149_0_20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6" name="Google Shape;126;g3ba56086149_0_20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g3ba56086149_0_2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3" name="Google Shape;133;g3ba56086149_0_2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3ba75865b9f_1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" name="Google Shape;138;g3ba75865b9f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g3ba56086149_0_2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5" name="Google Shape;145;g3ba56086149_0_2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g3ba56086149_0_8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0" name="Google Shape;150;g3ba56086149_0_8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g3ba75865b9f_1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7" name="Google Shape;157;g3ba75865b9f_1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g3ba56086149_0_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1" name="Google Shape;171;g3ba56086149_0_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g3ba56086149_0_2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8" name="Google Shape;178;g3ba56086149_0_2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g3ba56086149_0_2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5" name="Google Shape;185;g3ba56086149_0_2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g3ba56086149_0_9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0" name="Google Shape;190;g3ba56086149_0_9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g3ba56086149_0_2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7" name="Google Shape;197;g3ba56086149_0_2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g3ba56086149_0_1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3" name="Google Shape;203;g3ba56086149_0_1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g3ba56086149_0_10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5" name="Google Shape;225;g3ba56086149_0_10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g3ba75865b9f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2" name="Google Shape;232;g3ba75865b9f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g3bad2d932a1_1_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0" name="Google Shape;240;g3bad2d932a1_1_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g3bad2d932a1_1_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8" name="Google Shape;248;g3bad2d932a1_1_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g3ba56086149_0_10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6" name="Google Shape;256;g3ba56086149_0_10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g3ba56086149_0_1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3" name="Google Shape;263;g3ba56086149_0_1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8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g3ba56086149_0_1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0" name="Google Shape;270;g3ba56086149_0_1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g3ba75865b9f_0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7" name="Google Shape;277;g3ba75865b9f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3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g3ba56086149_0_1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5" name="Google Shape;285;g3ba56086149_0_1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g3ba75865b9f_0_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3" name="Google Shape;293;g3ba75865b9f_0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8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g3ba75865b9f_1_7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0" name="Google Shape;300;g3ba75865b9f_1_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5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g3ba51b2b46d_0_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7" name="Google Shape;307;g3ba51b2b46d_0_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0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g3ba51b2b46d_0_16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2" name="Google Shape;312;g3ba51b2b46d_0_1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8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g3bae045a8ab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0" name="Google Shape;320;g3bae045a8ab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5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g3ba51b2b46d_0_17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7" name="Google Shape;327;g3ba51b2b46d_0_1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2" name="Shape 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Google Shape;333;g3ba75865b9f_1_6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4" name="Google Shape;334;g3ba75865b9f_1_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9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Google Shape;340;g3ba51b2b46d_0_17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1" name="Google Shape;341;g3ba51b2b46d_0_17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6" name="Shape 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Google Shape;347;g3ba51b2b46d_0_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8" name="Google Shape;348;g3ba51b2b46d_0_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3" name="Shape 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" name="Google Shape;354;g3ba51b2b46d_0_6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5" name="Google Shape;355;g3ba51b2b46d_0_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3" name="Shape 3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" name="Google Shape;364;g3ba51b2b46d_0_7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5" name="Google Shape;365;g3ba51b2b46d_0_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5" name="Shape 3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" name="Google Shape;376;g3ba51b2b46d_0_1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7" name="Google Shape;377;g3ba51b2b46d_0_1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2" name="Shape 3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3" name="Google Shape;383;g3ba75865b9f_1_8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4" name="Google Shape;384;g3ba75865b9f_1_8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9" name="Shape 3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0" name="Google Shape;390;g3ba51b2b46d_0_15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1" name="Google Shape;391;g3ba51b2b46d_0_1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6" name="Shape 3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7" name="Google Shape;397;g3bae045a8ab_1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8" name="Google Shape;398;g3bae045a8ab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5" name="Shape 4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6" name="Google Shape;406;g3bacb15613a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7" name="Google Shape;407;g3bacb15613a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1" name="Shape 4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2" name="Google Shape;412;g3bacb15613a_0_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3" name="Google Shape;413;g3bacb15613a_0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9" name="Shape 4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0" name="Google Shape;420;g3bacb15613a_0_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1" name="Google Shape;421;g3bacb15613a_0_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6" name="Shape 4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7" name="Google Shape;427;g3bacb15613a_0_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8" name="Google Shape;428;g3bacb15613a_0_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3" name="Shape 4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4" name="Google Shape;434;g3bacb15613a_0_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5" name="Google Shape;435;g3bacb15613a_0_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1" name="Shape 4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2" name="Google Shape;442;g3bae045a8ab_2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3" name="Google Shape;443;g3bae045a8ab_2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8" name="Shape 4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9" name="Google Shape;449;g3bae045a8ab_2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0" name="Google Shape;450;g3bae045a8ab_2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5" name="Shape 4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6" name="Google Shape;456;g3bae045a8ab_2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7" name="Google Shape;457;g3bae045a8ab_2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4" name="Shape 4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5" name="Google Shape;465;g3bae045a8ab_0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6" name="Google Shape;466;g3bae045a8ab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2" name="Shape 4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3" name="Google Shape;473;g3ba56086149_0_7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4" name="Google Shape;474;g3ba56086149_0_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9" name="Shape 4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0" name="Google Shape;480;g3ba51b2b46d_0_18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1" name="Google Shape;481;g3ba51b2b46d_0_18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4" name="Shape 4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5" name="Google Shape;485;g3ba51b2b46d_0_18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6" name="Google Shape;486;g3ba51b2b46d_0_18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1" name="Shape 4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2" name="Google Shape;492;g3ba56086149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3" name="Google Shape;493;g3ba56086149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8" name="Shape 4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9" name="Google Shape;499;g3ba56086149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0" name="Google Shape;500;g3ba56086149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5" name="Shape 5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6" name="Google Shape;506;g3ba56086149_0_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7" name="Google Shape;507;g3ba56086149_0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2" name="Shape 5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3" name="Google Shape;513;g3ba56086149_0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4" name="Google Shape;514;g3ba56086149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9" name="Shape 5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0" name="Google Shape;520;g3ba56086149_0_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1" name="Google Shape;521;g3ba56086149_0_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6" name="Shape 5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7" name="Google Shape;527;g3ba56086149_0_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8" name="Google Shape;528;g3ba56086149_0_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3" name="Shape 5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4" name="Google Shape;534;g3ba56086149_0_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5" name="Google Shape;535;g3ba56086149_0_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0" name="Shape 5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1" name="Google Shape;541;g3ba56086149_0_4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2" name="Google Shape;542;g3ba56086149_0_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TITLE_1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ctrTitle"/>
          </p:nvPr>
        </p:nvSpPr>
        <p:spPr>
          <a:xfrm>
            <a:off x="311708" y="13541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900"/>
              <a:buFont typeface="Calibri"/>
              <a:buNone/>
              <a:defRPr b="1"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39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39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39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39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39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39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39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3900"/>
              <a:buNone/>
              <a:defRPr sz="5200"/>
            </a:lvl9pPr>
          </a:lstStyle>
          <a:p/>
        </p:txBody>
      </p:sp>
      <p:sp>
        <p:nvSpPr>
          <p:cNvPr id="52" name="Google Shape;52;p13"/>
          <p:cNvSpPr txBox="1"/>
          <p:nvPr>
            <p:ph idx="1" type="subTitle"/>
          </p:nvPr>
        </p:nvSpPr>
        <p:spPr>
          <a:xfrm>
            <a:off x="311700" y="340677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i"/>
              <a:buNone/>
              <a:defRPr sz="2400">
                <a:latin typeface="Oi"/>
                <a:ea typeface="Oi"/>
                <a:cs typeface="Oi"/>
                <a:sym typeface="Oi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800"/>
            </a:lvl9pPr>
          </a:lstStyle>
          <a:p/>
        </p:txBody>
      </p:sp>
      <p:sp>
        <p:nvSpPr>
          <p:cNvPr id="53" name="Google Shape;53;p1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>
            <a:lvl1pPr indent="0" lvl="0" marL="0" algn="r">
              <a:buClr>
                <a:srgbClr val="888888"/>
              </a:buClr>
              <a:buSzPts val="900"/>
              <a:buFont typeface="Calibri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algn="r">
              <a:buClr>
                <a:srgbClr val="888888"/>
              </a:buClr>
              <a:buSzPts val="900"/>
              <a:buFont typeface="Calibri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algn="r">
              <a:buClr>
                <a:srgbClr val="888888"/>
              </a:buClr>
              <a:buSzPts val="900"/>
              <a:buFont typeface="Calibri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algn="r">
              <a:buClr>
                <a:srgbClr val="888888"/>
              </a:buClr>
              <a:buSzPts val="900"/>
              <a:buFont typeface="Calibri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algn="r">
              <a:buClr>
                <a:srgbClr val="888888"/>
              </a:buClr>
              <a:buSzPts val="900"/>
              <a:buFont typeface="Calibri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algn="r">
              <a:buClr>
                <a:srgbClr val="888888"/>
              </a:buClr>
              <a:buSzPts val="900"/>
              <a:buFont typeface="Calibri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algn="r">
              <a:buClr>
                <a:srgbClr val="888888"/>
              </a:buClr>
              <a:buSzPts val="900"/>
              <a:buFont typeface="Calibri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algn="r">
              <a:buClr>
                <a:srgbClr val="888888"/>
              </a:buClr>
              <a:buSzPts val="900"/>
              <a:buFont typeface="Calibri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algn="r">
              <a:buClr>
                <a:srgbClr val="888888"/>
              </a:buClr>
              <a:buSzPts val="900"/>
              <a:buFont typeface="Calibri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  <p:sp>
        <p:nvSpPr>
          <p:cNvPr id="54" name="Google Shape;54;p13"/>
          <p:cNvSpPr txBox="1"/>
          <p:nvPr>
            <p:ph idx="2" type="subTitle"/>
          </p:nvPr>
        </p:nvSpPr>
        <p:spPr>
          <a:xfrm>
            <a:off x="2251650" y="960575"/>
            <a:ext cx="4640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Oi"/>
              <a:buNone/>
              <a:defRPr b="1" sz="1800">
                <a:solidFill>
                  <a:schemeClr val="accent2"/>
                </a:solidFill>
                <a:latin typeface="Oi"/>
                <a:ea typeface="Oi"/>
                <a:cs typeface="Oi"/>
                <a:sym typeface="Oi"/>
              </a:defRPr>
            </a:lvl1pPr>
            <a:lvl2pPr lvl="1" algn="ctr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2pPr>
            <a:lvl3pPr lvl="2" algn="ctr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/>
            </a:lvl3pPr>
            <a:lvl4pPr lvl="3" algn="ctr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/>
            </a:lvl4pPr>
            <a:lvl5pPr lvl="4" algn="ctr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/>
            </a:lvl5pPr>
            <a:lvl6pPr lvl="5" algn="ctr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/>
            </a:lvl6pPr>
            <a:lvl7pPr lvl="6" algn="ctr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/>
            </a:lvl7pPr>
            <a:lvl8pPr lvl="7" algn="ctr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/>
            </a:lvl8pPr>
            <a:lvl9pPr lvl="8" algn="ctr">
              <a:lnSpc>
                <a:spcPct val="90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100"/>
              <a:buNone/>
              <a:defRPr/>
            </a:lvl9pPr>
          </a:lstStyle>
          <a:p/>
        </p:txBody>
      </p:sp>
      <p:sp>
        <p:nvSpPr>
          <p:cNvPr id="55" name="Google Shape;55;p13"/>
          <p:cNvSpPr txBox="1"/>
          <p:nvPr>
            <p:ph idx="3" type="body"/>
          </p:nvPr>
        </p:nvSpPr>
        <p:spPr>
          <a:xfrm>
            <a:off x="311700" y="4471325"/>
            <a:ext cx="3429000" cy="3993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noAutofit/>
          </a:bodyPr>
          <a:lstStyle>
            <a:lvl1pPr indent="-298450" lvl="0" marL="457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Oi"/>
              <a:buChar char="●"/>
              <a:defRPr sz="1400">
                <a:latin typeface="Oi"/>
                <a:ea typeface="Oi"/>
                <a:cs typeface="Oi"/>
                <a:sym typeface="Oi"/>
              </a:defRPr>
            </a:lvl1pPr>
            <a:lvl2pPr indent="-317500" lvl="1" marL="9144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/>
            </a:lvl2pPr>
            <a:lvl3pPr indent="-298450" lvl="2" marL="13716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Char char="■"/>
              <a:defRPr/>
            </a:lvl3pPr>
            <a:lvl4pPr indent="-298450" lvl="3" marL="18288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  <a:defRPr/>
            </a:lvl4pPr>
            <a:lvl5pPr indent="-298450" lvl="4" marL="22860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  <a:defRPr/>
            </a:lvl5pPr>
            <a:lvl6pPr indent="-298450" lvl="5" marL="27432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Char char="■"/>
              <a:defRPr/>
            </a:lvl6pPr>
            <a:lvl7pPr indent="-298450" lvl="6" marL="32004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  <a:defRPr/>
            </a:lvl7pPr>
            <a:lvl8pPr indent="-298450" lvl="7" marL="36576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  <a:defRPr/>
            </a:lvl8pPr>
            <a:lvl9pPr indent="-298450" lvl="8" marL="4114800" algn="l">
              <a:lnSpc>
                <a:spcPct val="90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1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自訂版面配置">
  <p:cSld name="1_自訂版面配置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4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9pPr>
          </a:lstStyle>
          <a:p/>
        </p:txBody>
      </p:sp>
      <p:sp>
        <p:nvSpPr>
          <p:cNvPr id="58" name="Google Shape;58;p14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9pPr>
          </a:lstStyle>
          <a:p/>
        </p:txBody>
      </p:sp>
      <p:sp>
        <p:nvSpPr>
          <p:cNvPr id="59" name="Google Shape;59;p14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  <p:sp>
        <p:nvSpPr>
          <p:cNvPr id="60" name="Google Shape;60;p14"/>
          <p:cNvSpPr txBox="1"/>
          <p:nvPr>
            <p:ph type="ctrTitle"/>
          </p:nvPr>
        </p:nvSpPr>
        <p:spPr>
          <a:xfrm>
            <a:off x="311708" y="13541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900"/>
              <a:buFont typeface="Helvetica Neue"/>
              <a:buNone/>
              <a:defRPr b="1" sz="3000">
                <a:solidFill>
                  <a:schemeClr val="accent5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900"/>
              <a:buNone/>
              <a:defRPr sz="5200">
                <a:solidFill>
                  <a:schemeClr val="accent5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900"/>
              <a:buNone/>
              <a:defRPr sz="5200">
                <a:solidFill>
                  <a:schemeClr val="accent5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900"/>
              <a:buNone/>
              <a:defRPr sz="5200">
                <a:solidFill>
                  <a:schemeClr val="accent5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900"/>
              <a:buNone/>
              <a:defRPr sz="5200">
                <a:solidFill>
                  <a:schemeClr val="accent5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900"/>
              <a:buNone/>
              <a:defRPr sz="5200">
                <a:solidFill>
                  <a:schemeClr val="accent5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900"/>
              <a:buNone/>
              <a:defRPr sz="5200">
                <a:solidFill>
                  <a:schemeClr val="accent5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900"/>
              <a:buNone/>
              <a:defRPr sz="5200">
                <a:solidFill>
                  <a:schemeClr val="accent5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900"/>
              <a:buNone/>
              <a:defRPr sz="5200">
                <a:solidFill>
                  <a:schemeClr val="accent5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自訂版面配置">
  <p:cSld name="自訂版面配置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5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9pPr>
          </a:lstStyle>
          <a:p/>
        </p:txBody>
      </p:sp>
      <p:sp>
        <p:nvSpPr>
          <p:cNvPr id="63" name="Google Shape;63;p15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9pPr>
          </a:lstStyle>
          <a:p/>
        </p:txBody>
      </p:sp>
      <p:sp>
        <p:nvSpPr>
          <p:cNvPr id="64" name="Google Shape;64;p15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  <p:sp>
        <p:nvSpPr>
          <p:cNvPr id="65" name="Google Shape;65;p15"/>
          <p:cNvSpPr txBox="1"/>
          <p:nvPr/>
        </p:nvSpPr>
        <p:spPr>
          <a:xfrm>
            <a:off x="628650" y="325560"/>
            <a:ext cx="7886700" cy="7575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Calibri"/>
              <a:buNone/>
            </a:pPr>
            <a:r>
              <a:t/>
            </a:r>
            <a:endParaRPr b="1" sz="27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cxnSp>
        <p:nvCxnSpPr>
          <p:cNvPr id="66" name="Google Shape;66;p15"/>
          <p:cNvCxnSpPr/>
          <p:nvPr/>
        </p:nvCxnSpPr>
        <p:spPr>
          <a:xfrm>
            <a:off x="628650" y="1092085"/>
            <a:ext cx="7886700" cy="0"/>
          </a:xfrm>
          <a:prstGeom prst="straightConnector1">
            <a:avLst/>
          </a:prstGeom>
          <a:noFill/>
          <a:ln cap="flat" cmpd="sng" w="14300">
            <a:solidFill>
              <a:srgbClr val="7F7F7F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67" name="Google Shape;67;p15"/>
          <p:cNvCxnSpPr/>
          <p:nvPr/>
        </p:nvCxnSpPr>
        <p:spPr>
          <a:xfrm>
            <a:off x="628650" y="4651641"/>
            <a:ext cx="7886700" cy="0"/>
          </a:xfrm>
          <a:prstGeom prst="straightConnector1">
            <a:avLst/>
          </a:prstGeom>
          <a:noFill/>
          <a:ln cap="flat" cmpd="sng" w="14300">
            <a:solidFill>
              <a:srgbClr val="7F7F7F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68" name="Google Shape;68;p15"/>
          <p:cNvSpPr txBox="1"/>
          <p:nvPr/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 sz="9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900">
              <a:solidFill>
                <a:srgbClr val="88888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" name="Google Shape;69;p15"/>
          <p:cNvSpPr txBox="1"/>
          <p:nvPr>
            <p:ph idx="1" type="body"/>
          </p:nvPr>
        </p:nvSpPr>
        <p:spPr>
          <a:xfrm>
            <a:off x="628649" y="4651772"/>
            <a:ext cx="7567800" cy="491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marR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757070"/>
              </a:buClr>
              <a:buSzPts val="1500"/>
              <a:buFont typeface="Arial"/>
              <a:buNone/>
              <a:defRPr sz="1500">
                <a:solidFill>
                  <a:srgbClr val="757070"/>
                </a:solidFill>
              </a:defRPr>
            </a:lvl1pPr>
            <a:lvl2pPr indent="-3175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/>
            </a:lvl2pPr>
            <a:lvl3pPr indent="-317500" lvl="2" marL="1371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/>
            </a:lvl3pPr>
            <a:lvl4pPr indent="-317500" lvl="3" marL="18288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4pPr>
            <a:lvl5pPr indent="-317500" lvl="4" marL="22860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/>
            </a:lvl5pPr>
            <a:lvl6pPr indent="-317500" lvl="5" marL="2743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/>
            </a:lvl6pPr>
            <a:lvl7pPr indent="-317500" lvl="6" marL="32004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7pPr>
            <a:lvl8pPr indent="-317500" lvl="7" marL="3657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/>
            </a:lvl8pPr>
            <a:lvl9pPr indent="-317500" lvl="8" marL="411480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400"/>
              <a:buChar char="■"/>
              <a:defRPr/>
            </a:lvl9pPr>
          </a:lstStyle>
          <a:p/>
        </p:txBody>
      </p:sp>
      <p:sp>
        <p:nvSpPr>
          <p:cNvPr id="70" name="Google Shape;70;p15"/>
          <p:cNvSpPr txBox="1"/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Helvetica Neue"/>
              <a:buNone/>
              <a:defRPr b="1" i="0"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1" name="Google Shape;71;p15"/>
          <p:cNvSpPr txBox="1"/>
          <p:nvPr>
            <p:ph idx="2" type="body"/>
          </p:nvPr>
        </p:nvSpPr>
        <p:spPr>
          <a:xfrm>
            <a:off x="628650" y="1167940"/>
            <a:ext cx="7886700" cy="3464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61950" lvl="0" marL="4572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Char char="●"/>
              <a:defRPr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-342900" lvl="1" marL="9144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  <a:defRPr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indent="-323850" lvl="2" marL="13716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■"/>
              <a:defRPr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indent="-317500" lvl="3" marL="18288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indent="-317500" lvl="4" marL="22860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indent="-317500" lvl="5" marL="27432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6pPr>
            <a:lvl7pPr indent="-317500" lvl="6" marL="32004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>
                <a:solidFill>
                  <a:schemeClr val="dk1"/>
                </a:solidFill>
              </a:defRPr>
            </a:lvl7pPr>
            <a:lvl8pPr indent="-317500" lvl="7" marL="36576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8pPr>
            <a:lvl9pPr indent="-317500" lvl="8" marL="411480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5" Type="http://schemas.openxmlformats.org/officeDocument/2006/relationships/theme" Target="../theme/theme2.xml"/><Relationship Id="rId14" Type="http://schemas.openxmlformats.org/officeDocument/2006/relationships/slideLayout" Target="../slideLayouts/slideLayout1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7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6.jp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9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3.jpg"/><Relationship Id="rId4" Type="http://schemas.openxmlformats.org/officeDocument/2006/relationships/image" Target="../media/image2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5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2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2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0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4.jpg"/><Relationship Id="rId4" Type="http://schemas.openxmlformats.org/officeDocument/2006/relationships/image" Target="../media/image8.png"/><Relationship Id="rId5" Type="http://schemas.openxmlformats.org/officeDocument/2006/relationships/image" Target="../media/image12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11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11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11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13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22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39.xml"/><Relationship Id="rId3" Type="http://schemas.openxmlformats.org/officeDocument/2006/relationships/image" Target="../media/image14.jpg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40.xml"/><Relationship Id="rId3" Type="http://schemas.openxmlformats.org/officeDocument/2006/relationships/image" Target="../media/image16.jpg"/><Relationship Id="rId4" Type="http://schemas.openxmlformats.org/officeDocument/2006/relationships/image" Target="../media/image14.jpg"/><Relationship Id="rId5" Type="http://schemas.openxmlformats.org/officeDocument/2006/relationships/image" Target="../media/image15.png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44.xml"/><Relationship Id="rId3" Type="http://schemas.openxmlformats.org/officeDocument/2006/relationships/image" Target="../media/image15.png"/><Relationship Id="rId4" Type="http://schemas.openxmlformats.org/officeDocument/2006/relationships/image" Target="../media/image17.jpg"/></Relationships>
</file>

<file path=ppt/slides/_rels/slide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45.xml"/></Relationships>
</file>

<file path=ppt/slides/_rels/slide4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46.xml"/><Relationship Id="rId3" Type="http://schemas.openxmlformats.org/officeDocument/2006/relationships/image" Target="../media/image18.png"/></Relationships>
</file>

<file path=ppt/slides/_rels/slide4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47.xml"/></Relationships>
</file>

<file path=ppt/slides/_rels/slide4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48.xml"/></Relationships>
</file>

<file path=ppt/slides/_rels/slide4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49.xml"/><Relationship Id="rId3" Type="http://schemas.openxmlformats.org/officeDocument/2006/relationships/image" Target="../media/image21.jpg"/></Relationships>
</file>

<file path=ppt/slides/_rels/slide5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50.xml"/></Relationships>
</file>

<file path=ppt/slides/_rels/slide5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51.xml"/><Relationship Id="rId3" Type="http://schemas.openxmlformats.org/officeDocument/2006/relationships/image" Target="../media/image19.png"/></Relationships>
</file>

<file path=ppt/slides/_rels/slide5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52.xml"/><Relationship Id="rId3" Type="http://schemas.openxmlformats.org/officeDocument/2006/relationships/image" Target="../media/image20.jpg"/></Relationships>
</file>

<file path=ppt/slides/_rels/slide5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53.xml"/></Relationships>
</file>

<file path=ppt/slides/_rels/slide5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54.xml"/></Relationships>
</file>

<file path=ppt/slides/_rels/slide5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55.xml"/></Relationships>
</file>

<file path=ppt/slides/_rels/slide5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56.xml"/></Relationships>
</file>

<file path=ppt/slides/_rels/slide5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57.xml"/></Relationships>
</file>

<file path=ppt/slides/_rels/slide5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58.xml"/></Relationships>
</file>

<file path=ppt/slides/_rels/slide5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59.xml"/></Relationships>
</file>

<file path=ppt/slides/_rels/slide6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60.xml"/></Relationships>
</file>

<file path=ppt/slides/_rels/slide6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61.xml"/></Relationships>
</file>

<file path=ppt/slides/_rels/slide6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62.xml"/></Relationships>
</file>

<file path=ppt/slides/_rels/slide6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63.xml"/></Relationships>
</file>

<file path=ppt/slides/_rels/slide6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64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6"/>
          <p:cNvSpPr txBox="1"/>
          <p:nvPr>
            <p:ph type="ctrTitle"/>
          </p:nvPr>
        </p:nvSpPr>
        <p:spPr>
          <a:xfrm>
            <a:off x="691825" y="1761600"/>
            <a:ext cx="7653300" cy="1155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3900"/>
              <a:buFont typeface="Helvetica Neue"/>
              <a:buNone/>
            </a:pPr>
            <a:r>
              <a:rPr lang="zh-TW" sz="3300">
                <a:solidFill>
                  <a:srgbClr val="262626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Physical Activity and Exercise Intensity Terminology</a:t>
            </a:r>
            <a:endParaRPr sz="3300">
              <a:solidFill>
                <a:srgbClr val="262626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77" name="Google Shape;77;p16"/>
          <p:cNvSpPr txBox="1"/>
          <p:nvPr>
            <p:ph idx="1" type="subTitle"/>
          </p:nvPr>
        </p:nvSpPr>
        <p:spPr>
          <a:xfrm>
            <a:off x="691832" y="2845676"/>
            <a:ext cx="4410600" cy="151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245E65"/>
              </a:buClr>
              <a:buSzPts val="1800"/>
              <a:buNone/>
            </a:pPr>
            <a:r>
              <a:rPr b="1" lang="zh-TW" sz="2700">
                <a:solidFill>
                  <a:srgbClr val="245E65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R2吳一宏, Yi-Hong Wu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245E65"/>
              </a:buClr>
              <a:buSzPts val="1800"/>
              <a:buNone/>
            </a:pPr>
            <a:r>
              <a:rPr b="1" lang="zh-TW" sz="1800">
                <a:solidFill>
                  <a:srgbClr val="245E65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Supervisor: Attending </a:t>
            </a:r>
            <a:r>
              <a:rPr b="1" lang="zh-TW" sz="1800">
                <a:solidFill>
                  <a:srgbClr val="245E65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莊泓叡</a:t>
            </a:r>
            <a:endParaRPr b="1" sz="1800">
              <a:solidFill>
                <a:srgbClr val="245E65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245E65"/>
              </a:buClr>
              <a:buSzPts val="1800"/>
              <a:buNone/>
            </a:pPr>
            <a:r>
              <a:rPr b="1" lang="zh-TW" sz="1800">
                <a:solidFill>
                  <a:srgbClr val="245E65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Date: January 22</a:t>
            </a:r>
            <a:r>
              <a:rPr b="1" baseline="30000" lang="zh-TW" sz="1800">
                <a:solidFill>
                  <a:srgbClr val="245E65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nd</a:t>
            </a:r>
            <a:r>
              <a:rPr b="1" lang="zh-TW" sz="1800">
                <a:solidFill>
                  <a:srgbClr val="245E65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, 2026</a:t>
            </a:r>
            <a:endParaRPr b="1" sz="1800">
              <a:solidFill>
                <a:srgbClr val="245E65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78" name="Google Shape;78;p16"/>
          <p:cNvSpPr txBox="1"/>
          <p:nvPr/>
        </p:nvSpPr>
        <p:spPr>
          <a:xfrm>
            <a:off x="524200" y="861300"/>
            <a:ext cx="3592800" cy="4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zh-TW" sz="2700">
                <a:solidFill>
                  <a:schemeClr val="accent5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心肺復健討論會</a:t>
            </a:r>
            <a:endParaRPr sz="1400">
              <a:solidFill>
                <a:schemeClr val="accent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79" name="Google Shape;79;p16"/>
          <p:cNvCxnSpPr/>
          <p:nvPr/>
        </p:nvCxnSpPr>
        <p:spPr>
          <a:xfrm>
            <a:off x="813748" y="3500651"/>
            <a:ext cx="3592800" cy="0"/>
          </a:xfrm>
          <a:prstGeom prst="straightConnector1">
            <a:avLst/>
          </a:prstGeom>
          <a:noFill/>
          <a:ln cap="flat" cmpd="sng" w="14300">
            <a:solidFill>
              <a:srgbClr val="222A35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80" name="Google Shape;80;p16"/>
          <p:cNvSpPr txBox="1"/>
          <p:nvPr/>
        </p:nvSpPr>
        <p:spPr>
          <a:xfrm>
            <a:off x="8158025" y="1100850"/>
            <a:ext cx="985800" cy="4848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27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CR</a:t>
            </a: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7"/>
          <p:cNvSpPr txBox="1"/>
          <p:nvPr>
            <p:ph type="ctrTitle"/>
          </p:nvPr>
        </p:nvSpPr>
        <p:spPr>
          <a:xfrm>
            <a:off x="311708" y="1354175"/>
            <a:ext cx="8520600" cy="2052600"/>
          </a:xfrm>
          <a:prstGeom prst="rect">
            <a:avLst/>
          </a:prstGeom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怎麼開立運動處方？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0" name="Google Shape;90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44357" y="0"/>
            <a:ext cx="7655287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9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  <p:sp>
        <p:nvSpPr>
          <p:cNvPr id="96" name="Google Shape;96;p19"/>
          <p:cNvSpPr txBox="1"/>
          <p:nvPr>
            <p:ph type="ctrTitle"/>
          </p:nvPr>
        </p:nvSpPr>
        <p:spPr>
          <a:xfrm>
            <a:off x="311708" y="13541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5536"/>
              </a:buClr>
              <a:buSzPts val="3900"/>
              <a:buFont typeface="Helvetica Neue"/>
              <a:buNone/>
            </a:pPr>
            <a:r>
              <a:rPr lang="zh-TW">
                <a:solidFill>
                  <a:schemeClr val="accent5"/>
                </a:solidFill>
              </a:rPr>
              <a:t>Outline</a:t>
            </a:r>
            <a:endParaRPr>
              <a:solidFill>
                <a:schemeClr val="accent5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20"/>
          <p:cNvSpPr txBox="1"/>
          <p:nvPr>
            <p:ph idx="1" type="body"/>
          </p:nvPr>
        </p:nvSpPr>
        <p:spPr>
          <a:xfrm>
            <a:off x="628649" y="4651772"/>
            <a:ext cx="7567800" cy="4917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" name="Google Shape;102;p20"/>
          <p:cNvSpPr txBox="1"/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Outline</a:t>
            </a:r>
            <a:endParaRPr/>
          </a:p>
        </p:txBody>
      </p:sp>
      <p:sp>
        <p:nvSpPr>
          <p:cNvPr id="103" name="Google Shape;103;p20"/>
          <p:cNvSpPr txBox="1"/>
          <p:nvPr>
            <p:ph idx="2" type="body"/>
          </p:nvPr>
        </p:nvSpPr>
        <p:spPr>
          <a:xfrm>
            <a:off x="628650" y="1167940"/>
            <a:ext cx="7886700" cy="34647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zh-TW"/>
              <a:t>Physical activity and exercise intensity terminology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zh-TW"/>
              <a:t>ACSM GETP 11th vs. 12th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21"/>
          <p:cNvSpPr txBox="1"/>
          <p:nvPr>
            <p:ph type="ctrTitle"/>
          </p:nvPr>
        </p:nvSpPr>
        <p:spPr>
          <a:xfrm>
            <a:off x="311708" y="1354175"/>
            <a:ext cx="8520600" cy="2052600"/>
          </a:xfrm>
          <a:prstGeom prst="rect">
            <a:avLst/>
          </a:prstGeom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Physical Activity and Exercise Intensity Terminology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22"/>
          <p:cNvSpPr txBox="1"/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Introduction &amp; Problem Statement</a:t>
            </a:r>
            <a:endParaRPr/>
          </a:p>
        </p:txBody>
      </p:sp>
      <p:sp>
        <p:nvSpPr>
          <p:cNvPr id="114" name="Google Shape;114;p22"/>
          <p:cNvSpPr txBox="1"/>
          <p:nvPr>
            <p:ph idx="1" type="body"/>
          </p:nvPr>
        </p:nvSpPr>
        <p:spPr>
          <a:xfrm>
            <a:off x="628649" y="4651772"/>
            <a:ext cx="7567800" cy="4917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" name="Google Shape;115;p22"/>
          <p:cNvSpPr txBox="1"/>
          <p:nvPr>
            <p:ph idx="2" type="body"/>
          </p:nvPr>
        </p:nvSpPr>
        <p:spPr>
          <a:xfrm>
            <a:off x="628650" y="1167940"/>
            <a:ext cx="7886700" cy="34647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-361950" lvl="0" marL="457200" rtl="0" algn="l">
              <a:spcBef>
                <a:spcPts val="800"/>
              </a:spcBef>
              <a:spcAft>
                <a:spcPts val="0"/>
              </a:spcAft>
              <a:buSzPts val="2100"/>
              <a:buChar char="●"/>
            </a:pPr>
            <a:r>
              <a:rPr lang="zh-TW"/>
              <a:t>核心論點：儘管運動對健康的益處證據確鑿，但不同領域（公共衛生、運動科學、競技體育）對「運動強度」的術語使用不一致，阻礙了研究整合、臨床指引的採用及運動處方的精確性。</a:t>
            </a:r>
            <a:endParaRPr/>
          </a:p>
          <a:p>
            <a:pPr indent="-361950" lvl="0" marL="457200" rtl="0" algn="l">
              <a:spcBef>
                <a:spcPts val="0"/>
              </a:spcBef>
              <a:spcAft>
                <a:spcPts val="0"/>
              </a:spcAft>
              <a:buSzPts val="2100"/>
              <a:buChar char="●"/>
            </a:pPr>
            <a:r>
              <a:rPr lang="zh-TW"/>
              <a:t>目前的指引（如 WHO、ACSM 舊版、英國首席醫療官指引）在術語上存在差異（例如：有些使用 Light/Moderate/Vigorous，有些使用 Zones，有些使用 Domains）。</a:t>
            </a:r>
            <a:endParaRPr/>
          </a:p>
          <a:p>
            <a:pPr indent="-361950" lvl="0" marL="457200" rtl="0" algn="l">
              <a:spcBef>
                <a:spcPts val="0"/>
              </a:spcBef>
              <a:spcAft>
                <a:spcPts val="0"/>
              </a:spcAft>
              <a:buSzPts val="2100"/>
              <a:buChar char="●"/>
            </a:pPr>
            <a:r>
              <a:rPr lang="zh-TW"/>
              <a:t>這種不一致性導致無法有效進行統合分析（Meta-analysis），也造成臨床醫師與大眾的溝通混淆。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23"/>
          <p:cNvSpPr txBox="1"/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Importance of Exercise Prescription</a:t>
            </a:r>
            <a:endParaRPr/>
          </a:p>
        </p:txBody>
      </p:sp>
      <p:sp>
        <p:nvSpPr>
          <p:cNvPr id="121" name="Google Shape;121;p23"/>
          <p:cNvSpPr txBox="1"/>
          <p:nvPr>
            <p:ph idx="1" type="body"/>
          </p:nvPr>
        </p:nvSpPr>
        <p:spPr>
          <a:xfrm>
            <a:off x="628649" y="4651772"/>
            <a:ext cx="7567800" cy="4917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rmAutofit fontScale="92500"/>
          </a:bodyPr>
          <a:lstStyle/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zh-TW"/>
              <a:t>Norton, K., Norton, L., &amp; Sadgrove, D. (2010). Position statement on physical activity and exercise intensity terminology. Journal of science and medicine in sport, 13(5), 496-502.</a:t>
            </a:r>
            <a:endParaRPr/>
          </a:p>
        </p:txBody>
      </p:sp>
      <p:sp>
        <p:nvSpPr>
          <p:cNvPr id="122" name="Google Shape;122;p23"/>
          <p:cNvSpPr txBox="1"/>
          <p:nvPr>
            <p:ph idx="2" type="body"/>
          </p:nvPr>
        </p:nvSpPr>
        <p:spPr>
          <a:xfrm>
            <a:off x="628650" y="1167950"/>
            <a:ext cx="4723200" cy="34647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-361950" lvl="0" marL="457200" rtl="0" algn="l">
              <a:spcBef>
                <a:spcPts val="800"/>
              </a:spcBef>
              <a:spcAft>
                <a:spcPts val="0"/>
              </a:spcAft>
              <a:buSzPts val="2100"/>
              <a:buChar char="●"/>
            </a:pPr>
            <a:r>
              <a:rPr lang="zh-TW"/>
              <a:t>運</a:t>
            </a:r>
            <a:r>
              <a:rPr lang="zh-TW"/>
              <a:t>動應被視為一種「藥物」（Exercise is Medicine），其處方（FITT-VP 原則）決定了健康結果。</a:t>
            </a:r>
            <a:endParaRPr/>
          </a:p>
          <a:p>
            <a:pPr indent="-361950" lvl="0" marL="457200" rtl="0" algn="l">
              <a:spcBef>
                <a:spcPts val="0"/>
              </a:spcBef>
              <a:spcAft>
                <a:spcPts val="0"/>
              </a:spcAft>
              <a:buSzPts val="2100"/>
              <a:buChar char="●"/>
            </a:pPr>
            <a:r>
              <a:rPr lang="zh-TW"/>
              <a:t>強度（Intensity）是最關鍵但也最模糊的變項。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zh-TW"/>
              <a:t>絕對強度表示（例如固定功率、固定速度、固定阻力）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zh-TW"/>
              <a:t>相對強度表示（例如相對於個人最大能力的百分比）</a:t>
            </a:r>
            <a:endParaRPr/>
          </a:p>
        </p:txBody>
      </p:sp>
      <p:pic>
        <p:nvPicPr>
          <p:cNvPr descr="美化這張投影片" id="123" name="Google Shape;123;p23"/>
          <p:cNvPicPr preferRelativeResize="0"/>
          <p:nvPr/>
        </p:nvPicPr>
        <p:blipFill rotWithShape="1">
          <a:blip r:embed="rId3">
            <a:alphaModFix/>
          </a:blip>
          <a:srcRect b="7135" l="36852" r="5442" t="16721"/>
          <a:stretch/>
        </p:blipFill>
        <p:spPr>
          <a:xfrm>
            <a:off x="5454441" y="1538026"/>
            <a:ext cx="3060901" cy="22554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24"/>
          <p:cNvSpPr txBox="1"/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Importance of Exercise Prescription</a:t>
            </a:r>
            <a:endParaRPr/>
          </a:p>
        </p:txBody>
      </p:sp>
      <p:sp>
        <p:nvSpPr>
          <p:cNvPr id="129" name="Google Shape;129;p24"/>
          <p:cNvSpPr txBox="1"/>
          <p:nvPr>
            <p:ph idx="1" type="body"/>
          </p:nvPr>
        </p:nvSpPr>
        <p:spPr>
          <a:xfrm>
            <a:off x="628649" y="4651772"/>
            <a:ext cx="7567800" cy="4917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" name="Google Shape;130;p24"/>
          <p:cNvSpPr txBox="1"/>
          <p:nvPr>
            <p:ph idx="2" type="body"/>
          </p:nvPr>
        </p:nvSpPr>
        <p:spPr>
          <a:xfrm>
            <a:off x="628650" y="1167940"/>
            <a:ext cx="7886700" cy="34647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-361950" lvl="0" marL="457200" rtl="0" algn="l">
              <a:spcBef>
                <a:spcPts val="800"/>
              </a:spcBef>
              <a:spcAft>
                <a:spcPts val="0"/>
              </a:spcAft>
              <a:buSzPts val="2100"/>
              <a:buChar char="●"/>
            </a:pPr>
            <a:r>
              <a:rPr lang="zh-TW"/>
              <a:t>超負荷原則 (Overload Principle)：低於特定強度的運動無法充分刺激身體產生結構或生理適應。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5" name="Google Shape;135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66800" y="152400"/>
            <a:ext cx="6810393" cy="48386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26"/>
          <p:cNvSpPr txBox="1"/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Importance of Exercise Prescription</a:t>
            </a:r>
            <a:endParaRPr/>
          </a:p>
        </p:txBody>
      </p:sp>
      <p:sp>
        <p:nvSpPr>
          <p:cNvPr id="141" name="Google Shape;141;p26"/>
          <p:cNvSpPr txBox="1"/>
          <p:nvPr>
            <p:ph idx="1" type="body"/>
          </p:nvPr>
        </p:nvSpPr>
        <p:spPr>
          <a:xfrm>
            <a:off x="628649" y="4651772"/>
            <a:ext cx="7567800" cy="4917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rmAutofit fontScale="40000" lnSpcReduction="20000"/>
          </a:bodyPr>
          <a:lstStyle/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zh-TW"/>
              <a:t>Wen, C. P., Wai, J. P. M., Tsai, M. K., Yang, Y. C., Cheng, T. Y. D., Lee, M. C., ... &amp; Wu, X. (2011). Minimum amount of physical activity for reduced mortality and extended life expectancy: a prospective cohort study. The lancet, 378(9798), 1244-1253. </a:t>
            </a:r>
            <a:endParaRPr/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zh-TW"/>
              <a:t>Lie, Ø. H., Dejgaard, L. A., Saberniak, J., Rootwelt, C., Stokke, M. K., Edvardsen, T., &amp; Haugaa, K. H. (2018). Harmful effects of exercise intensity and exercise duration in patients with arrhythmogenic cardiomyopathy. Clinical Electrophysiology, 4(6), 744-753.</a:t>
            </a:r>
            <a:endParaRPr/>
          </a:p>
        </p:txBody>
      </p:sp>
      <p:sp>
        <p:nvSpPr>
          <p:cNvPr id="142" name="Google Shape;142;p26"/>
          <p:cNvSpPr txBox="1"/>
          <p:nvPr>
            <p:ph idx="2" type="body"/>
          </p:nvPr>
        </p:nvSpPr>
        <p:spPr>
          <a:xfrm>
            <a:off x="628650" y="1167940"/>
            <a:ext cx="7886700" cy="34647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-361950" lvl="0" marL="457200" rtl="0" algn="l">
              <a:spcBef>
                <a:spcPts val="800"/>
              </a:spcBef>
              <a:spcAft>
                <a:spcPts val="0"/>
              </a:spcAft>
              <a:buSzPts val="2100"/>
              <a:buChar char="●"/>
            </a:pPr>
            <a:r>
              <a:rPr lang="zh-TW"/>
              <a:t>劑量反應關係 (Dose-Response)：運動強度是全因死亡率降低及運動中不良事件風險的重要決定因素（Wen et al., 2011; Lie et al., 2018）。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7" name="Google Shape;147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56063" y="152400"/>
            <a:ext cx="6031875" cy="4898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28"/>
          <p:cNvSpPr txBox="1"/>
          <p:nvPr>
            <p:ph idx="1" type="body"/>
          </p:nvPr>
        </p:nvSpPr>
        <p:spPr>
          <a:xfrm>
            <a:off x="628649" y="4651772"/>
            <a:ext cx="7567800" cy="4917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rmAutofit fontScale="85000"/>
          </a:bodyPr>
          <a:lstStyle/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zh-TW"/>
              <a:t>U.S. Department of Health and Human ServicesPhysical Activity Guidelines for Americans. Available at: https://odphp.health.gov/sites/default/files/2019-09/Physical_Activity_Guidelines_2nd_edition.pdf</a:t>
            </a:r>
            <a:endParaRPr/>
          </a:p>
        </p:txBody>
      </p:sp>
      <p:sp>
        <p:nvSpPr>
          <p:cNvPr id="153" name="Google Shape;153;p28"/>
          <p:cNvSpPr txBox="1"/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Current Terminology Inconsistencies</a:t>
            </a:r>
            <a:br>
              <a:rPr lang="zh-TW"/>
            </a:br>
            <a:r>
              <a:rPr lang="zh-TW"/>
              <a:t>心肺耐力運動 (Cardiorespiratory Exercise)</a:t>
            </a:r>
            <a:endParaRPr/>
          </a:p>
        </p:txBody>
      </p:sp>
      <p:sp>
        <p:nvSpPr>
          <p:cNvPr id="154" name="Google Shape;154;p28"/>
          <p:cNvSpPr txBox="1"/>
          <p:nvPr>
            <p:ph idx="2" type="body"/>
          </p:nvPr>
        </p:nvSpPr>
        <p:spPr>
          <a:xfrm>
            <a:off x="628650" y="1167940"/>
            <a:ext cx="7886700" cy="34647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-361950" lvl="0" marL="457200" rtl="0" algn="l">
              <a:spcBef>
                <a:spcPts val="800"/>
              </a:spcBef>
              <a:spcAft>
                <a:spcPts val="0"/>
              </a:spcAft>
              <a:buSzPts val="2100"/>
              <a:buChar char="●"/>
            </a:pPr>
            <a:r>
              <a:rPr lang="zh-TW"/>
              <a:t>核心論點：目前存在多種分類系統，彼此無法對接。</a:t>
            </a:r>
            <a:endParaRPr/>
          </a:p>
          <a:p>
            <a:pPr indent="-361950" lvl="0" marL="457200" rtl="0" algn="l">
              <a:spcBef>
                <a:spcPts val="0"/>
              </a:spcBef>
              <a:spcAft>
                <a:spcPts val="0"/>
              </a:spcAft>
              <a:buSzPts val="2100"/>
              <a:buChar char="●"/>
            </a:pPr>
            <a:r>
              <a:rPr lang="zh-TW"/>
              <a:t>身體活動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zh-TW"/>
              <a:t>ACSM (2020), ESSA (2010), UK CMO (2019), etc.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zh-TW"/>
              <a:t>Howley’s (2001)</a:t>
            </a:r>
            <a:endParaRPr/>
          </a:p>
          <a:p>
            <a:pPr indent="-361950" lvl="0" marL="457200" rtl="0" algn="l">
              <a:spcBef>
                <a:spcPts val="0"/>
              </a:spcBef>
              <a:spcAft>
                <a:spcPts val="0"/>
              </a:spcAft>
              <a:buSzPts val="2100"/>
              <a:buChar char="●"/>
            </a:pPr>
            <a:r>
              <a:rPr lang="zh-TW"/>
              <a:t>運動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zh-TW"/>
              <a:t>公共衛生：Light, Moderate, Vigorous。(WHO, 2020; Physical Activity Guidelines for Americans, 2018)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zh-TW"/>
              <a:t>運動生理學：基於生物能量學分為四個領域（Domains）——Moderate（&lt;MT1）、Heavy（MT1-MT2）、 Severe（&gt;MT2）、Extreme。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zh-TW"/>
              <a:t>競技體育：使用 Zones（如 Zone 1-5）或描述性術語（Easy, Tempo, Threshold）。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9" name="Google Shape;159;p29"/>
          <p:cNvGrpSpPr/>
          <p:nvPr/>
        </p:nvGrpSpPr>
        <p:grpSpPr>
          <a:xfrm>
            <a:off x="-35701" y="127012"/>
            <a:ext cx="9144358" cy="4321950"/>
            <a:chOff x="-35700" y="308701"/>
            <a:chExt cx="9210675" cy="4353294"/>
          </a:xfrm>
        </p:grpSpPr>
        <p:pic>
          <p:nvPicPr>
            <p:cNvPr descr="illustrative, white background, strict english output&#10;based on intensity descriptor, ESSA, ACSM together (with sedentary / very light; light ; moderate ; vigorous ; high / near max); Howley's intensity descriptor different largely from them ( very light ; light ; modereate ; hard ; very hard ; maximal)" id="160" name="Google Shape;160;p29"/>
            <p:cNvPicPr preferRelativeResize="0"/>
            <p:nvPr/>
          </p:nvPicPr>
          <p:blipFill rotWithShape="1">
            <a:blip r:embed="rId3">
              <a:alphaModFix/>
            </a:blip>
            <a:srcRect b="9021" l="0" r="0" t="14468"/>
            <a:stretch/>
          </p:blipFill>
          <p:spPr>
            <a:xfrm>
              <a:off x="-35700" y="372150"/>
              <a:ext cx="9210675" cy="393537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illustrative, white background, strict english output&#10;based on intensity descriptor, ESSA, ACSM together (with sedentary / very light; light ; moderate ; vigorous ; high / near max); Howley's intensity descriptor different largely from them ( very light ; light ; modereate ; hard ; very hard ; maximal)" id="161" name="Google Shape;161;p29"/>
            <p:cNvPicPr preferRelativeResize="0"/>
            <p:nvPr/>
          </p:nvPicPr>
          <p:blipFill rotWithShape="1">
            <a:blip r:embed="rId3">
              <a:alphaModFix/>
            </a:blip>
            <a:srcRect b="77092" l="27055" r="25917" t="16822"/>
            <a:stretch/>
          </p:blipFill>
          <p:spPr>
            <a:xfrm>
              <a:off x="2335150" y="4348944"/>
              <a:ext cx="4331800" cy="3130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62" name="Google Shape;162;p29"/>
            <p:cNvPicPr preferRelativeResize="0"/>
            <p:nvPr/>
          </p:nvPicPr>
          <p:blipFill rotWithShape="1">
            <a:blip r:embed="rId4">
              <a:alphaModFix/>
            </a:blip>
            <a:srcRect b="29499" l="0" r="0" t="-3338"/>
            <a:stretch/>
          </p:blipFill>
          <p:spPr>
            <a:xfrm>
              <a:off x="2173350" y="308701"/>
              <a:ext cx="4949100" cy="7338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illustrative, white background, strict english output&#10;based on intensity descriptor, ESSA, ACSM together (with sedentary / very light; light ; moderate ; vigorous ; high / near max); Howley's intensity descriptor different largely from them ( very light ; light ; modereate ; hard ; very hard ; maximal)" id="163" name="Google Shape;163;p29"/>
            <p:cNvPicPr preferRelativeResize="0"/>
            <p:nvPr/>
          </p:nvPicPr>
          <p:blipFill rotWithShape="1">
            <a:blip r:embed="rId3">
              <a:alphaModFix/>
            </a:blip>
            <a:srcRect b="9471" l="61314" r="18992" t="28100"/>
            <a:stretch/>
          </p:blipFill>
          <p:spPr>
            <a:xfrm>
              <a:off x="5548775" y="572650"/>
              <a:ext cx="1813874" cy="37763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64" name="Google Shape;164;p29"/>
            <p:cNvPicPr preferRelativeResize="0"/>
            <p:nvPr/>
          </p:nvPicPr>
          <p:blipFill rotWithShape="1">
            <a:blip r:embed="rId4">
              <a:alphaModFix/>
            </a:blip>
            <a:srcRect b="26161" l="0" r="63509" t="0"/>
            <a:stretch/>
          </p:blipFill>
          <p:spPr>
            <a:xfrm>
              <a:off x="321400" y="2682475"/>
              <a:ext cx="978425" cy="397550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165" name="Google Shape;165;p29"/>
          <p:cNvPicPr preferRelativeResize="0"/>
          <p:nvPr/>
        </p:nvPicPr>
        <p:blipFill rotWithShape="1">
          <a:blip r:embed="rId4">
            <a:alphaModFix/>
          </a:blip>
          <a:srcRect b="29499" l="0" r="0" t="-3338"/>
          <a:stretch/>
        </p:blipFill>
        <p:spPr>
          <a:xfrm>
            <a:off x="3591402" y="1645182"/>
            <a:ext cx="1884087" cy="927761"/>
          </a:xfrm>
          <a:prstGeom prst="rect">
            <a:avLst/>
          </a:prstGeom>
          <a:noFill/>
          <a:ln>
            <a:noFill/>
          </a:ln>
        </p:spPr>
      </p:pic>
      <p:sp>
        <p:nvSpPr>
          <p:cNvPr id="166" name="Google Shape;166;p29"/>
          <p:cNvSpPr txBox="1"/>
          <p:nvPr/>
        </p:nvSpPr>
        <p:spPr>
          <a:xfrm>
            <a:off x="270542" y="2373671"/>
            <a:ext cx="1085400" cy="73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0775" lIns="90775" spcFirstLastPara="1" rIns="90775" wrap="square" tIns="9077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zh-TW" sz="1191">
                <a:solidFill>
                  <a:srgbClr val="486F41"/>
                </a:solidFill>
              </a:rPr>
              <a:t>&amp;</a:t>
            </a:r>
            <a:endParaRPr b="1" sz="1191">
              <a:solidFill>
                <a:srgbClr val="486F4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zh-TW" sz="1191">
                <a:solidFill>
                  <a:srgbClr val="486F41"/>
                </a:solidFill>
              </a:rPr>
              <a:t>UK CMO (2019)</a:t>
            </a:r>
            <a:endParaRPr b="1" sz="1191">
              <a:solidFill>
                <a:srgbClr val="486F41"/>
              </a:solidFill>
            </a:endParaRPr>
          </a:p>
        </p:txBody>
      </p:sp>
      <p:sp>
        <p:nvSpPr>
          <p:cNvPr id="167" name="Google Shape;167;p29"/>
          <p:cNvSpPr txBox="1"/>
          <p:nvPr/>
        </p:nvSpPr>
        <p:spPr>
          <a:xfrm>
            <a:off x="2524650" y="4317650"/>
            <a:ext cx="10932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zh-TW" sz="1200">
                <a:solidFill>
                  <a:srgbClr val="486F41"/>
                </a:solidFill>
              </a:rPr>
              <a:t>&amp; UK CMO</a:t>
            </a:r>
            <a:endParaRPr b="1" sz="1200">
              <a:solidFill>
                <a:srgbClr val="486F41"/>
              </a:solidFill>
            </a:endParaRPr>
          </a:p>
        </p:txBody>
      </p:sp>
      <p:sp>
        <p:nvSpPr>
          <p:cNvPr id="168" name="Google Shape;168;p29"/>
          <p:cNvSpPr txBox="1"/>
          <p:nvPr/>
        </p:nvSpPr>
        <p:spPr>
          <a:xfrm>
            <a:off x="-5237" y="4820400"/>
            <a:ext cx="91440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i="1" lang="zh-TW" sz="900">
                <a:solidFill>
                  <a:schemeClr val="dk2"/>
                </a:solidFill>
              </a:rPr>
              <a:t>Howley ET. Type of activity: resistance, aerobic and leisure versus occupational physical activity. Med Sci Sports Exerc. 2001;33(6 Suppl):S364–9 discussion S419–20.</a:t>
            </a:r>
            <a:endParaRPr i="1" sz="9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30"/>
          <p:cNvSpPr txBox="1"/>
          <p:nvPr>
            <p:ph idx="1" type="body"/>
          </p:nvPr>
        </p:nvSpPr>
        <p:spPr>
          <a:xfrm>
            <a:off x="628649" y="4651772"/>
            <a:ext cx="7567800" cy="4917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4" name="Google Shape;174;p30"/>
          <p:cNvSpPr txBox="1"/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Previous descriptors / criteria for intensities</a:t>
            </a:r>
            <a:endParaRPr/>
          </a:p>
        </p:txBody>
      </p:sp>
      <p:pic>
        <p:nvPicPr>
          <p:cNvPr id="175" name="Google Shape;175;p30"/>
          <p:cNvPicPr preferRelativeResize="0"/>
          <p:nvPr/>
        </p:nvPicPr>
        <p:blipFill rotWithShape="1">
          <a:blip r:embed="rId3">
            <a:alphaModFix/>
          </a:blip>
          <a:srcRect b="0" l="0" r="0" t="11770"/>
          <a:stretch/>
        </p:blipFill>
        <p:spPr>
          <a:xfrm>
            <a:off x="172750" y="1339500"/>
            <a:ext cx="8798499" cy="2716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0" name="Google Shape;180;p31"/>
          <p:cNvPicPr preferRelativeResize="0"/>
          <p:nvPr/>
        </p:nvPicPr>
        <p:blipFill rotWithShape="1">
          <a:blip r:embed="rId3">
            <a:alphaModFix/>
          </a:blip>
          <a:srcRect b="46086" l="0" r="0" t="0"/>
          <a:stretch/>
        </p:blipFill>
        <p:spPr>
          <a:xfrm>
            <a:off x="56137" y="889563"/>
            <a:ext cx="9031726" cy="3364375"/>
          </a:xfrm>
          <a:prstGeom prst="rect">
            <a:avLst/>
          </a:prstGeom>
          <a:noFill/>
          <a:ln>
            <a:noFill/>
          </a:ln>
        </p:spPr>
      </p:pic>
      <p:sp>
        <p:nvSpPr>
          <p:cNvPr id="181" name="Google Shape;181;p31"/>
          <p:cNvSpPr txBox="1"/>
          <p:nvPr/>
        </p:nvSpPr>
        <p:spPr>
          <a:xfrm>
            <a:off x="3215075" y="889575"/>
            <a:ext cx="58728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500">
                <a:solidFill>
                  <a:schemeClr val="dk2"/>
                </a:solidFill>
              </a:rPr>
              <a:t>Lactate -&gt; CO2    CO2超過buffer</a:t>
            </a:r>
            <a:endParaRPr sz="1500">
              <a:solidFill>
                <a:schemeClr val="dk2"/>
              </a:solidFill>
            </a:endParaRPr>
          </a:p>
        </p:txBody>
      </p:sp>
      <p:sp>
        <p:nvSpPr>
          <p:cNvPr id="182" name="Google Shape;182;p31"/>
          <p:cNvSpPr txBox="1"/>
          <p:nvPr/>
        </p:nvSpPr>
        <p:spPr>
          <a:xfrm>
            <a:off x="0" y="4650900"/>
            <a:ext cx="90318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zh-TW" sz="1000">
                <a:solidFill>
                  <a:srgbClr val="7F7F7F"/>
                </a:solidFill>
              </a:rPr>
              <a:t>Midgley, A.W. ∙ McNaughton, L.R. ∙ Jones, A.M.</a:t>
            </a:r>
            <a:r>
              <a:rPr i="1" lang="zh-TW" sz="1000">
                <a:solidFill>
                  <a:srgbClr val="7F7F7F"/>
                </a:solidFill>
              </a:rPr>
              <a:t> </a:t>
            </a:r>
            <a:r>
              <a:rPr i="1" lang="zh-TW" sz="1000">
                <a:solidFill>
                  <a:srgbClr val="7F7F7F"/>
                </a:solidFill>
              </a:rPr>
              <a:t>Training to enhance the physiological determinants of long-distance running performance: can valid recommendations be given to runners and coaches based on current scientific knowledge?</a:t>
            </a:r>
            <a:r>
              <a:rPr i="1" lang="zh-TW" sz="1000">
                <a:solidFill>
                  <a:srgbClr val="7F7F7F"/>
                </a:solidFill>
              </a:rPr>
              <a:t> </a:t>
            </a:r>
            <a:r>
              <a:rPr i="1" lang="zh-TW" sz="1000">
                <a:solidFill>
                  <a:srgbClr val="7F7F7F"/>
                </a:solidFill>
              </a:rPr>
              <a:t>Sports Med. 2007; 37:857-880</a:t>
            </a:r>
            <a:endParaRPr i="1" sz="1000">
              <a:solidFill>
                <a:srgbClr val="7F7F7F"/>
              </a:solidFill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7" name="Google Shape;187;p32"/>
          <p:cNvPicPr preferRelativeResize="0"/>
          <p:nvPr/>
        </p:nvPicPr>
        <p:blipFill rotWithShape="1">
          <a:blip r:embed="rId3">
            <a:alphaModFix/>
          </a:blip>
          <a:srcRect b="0" l="0" r="0" t="41806"/>
          <a:stretch/>
        </p:blipFill>
        <p:spPr>
          <a:xfrm>
            <a:off x="56125" y="756012"/>
            <a:ext cx="9031752" cy="36314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33"/>
          <p:cNvSpPr txBox="1"/>
          <p:nvPr>
            <p:ph idx="1" type="body"/>
          </p:nvPr>
        </p:nvSpPr>
        <p:spPr>
          <a:xfrm>
            <a:off x="628649" y="4651772"/>
            <a:ext cx="7567800" cy="4917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3" name="Google Shape;193;p33"/>
          <p:cNvSpPr txBox="1"/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Current Terminology Inconsistencies</a:t>
            </a:r>
            <a:br>
              <a:rPr lang="zh-TW"/>
            </a:br>
            <a:r>
              <a:rPr lang="zh-TW"/>
              <a:t>阻力運動 (Resistance Exercise)</a:t>
            </a:r>
            <a:endParaRPr/>
          </a:p>
        </p:txBody>
      </p:sp>
      <p:sp>
        <p:nvSpPr>
          <p:cNvPr id="194" name="Google Shape;194;p33"/>
          <p:cNvSpPr txBox="1"/>
          <p:nvPr>
            <p:ph idx="2" type="body"/>
          </p:nvPr>
        </p:nvSpPr>
        <p:spPr>
          <a:xfrm>
            <a:off x="628650" y="1167940"/>
            <a:ext cx="7886700" cy="34647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-361950" lvl="0" marL="457200" rtl="0" algn="l">
              <a:spcBef>
                <a:spcPts val="800"/>
              </a:spcBef>
              <a:spcAft>
                <a:spcPts val="0"/>
              </a:spcAft>
              <a:buSzPts val="2100"/>
              <a:buChar char="●"/>
            </a:pPr>
            <a:r>
              <a:rPr lang="zh-TW"/>
              <a:t>核心論點：阻力運動的強度常被錯誤地與「負荷（Load，即重量）」混淆，而非「努力程度（Effort）」。</a:t>
            </a:r>
            <a:endParaRPr/>
          </a:p>
          <a:p>
            <a:pPr indent="-361950" lvl="0" marL="457200" rtl="0" algn="l">
              <a:spcBef>
                <a:spcPts val="0"/>
              </a:spcBef>
              <a:spcAft>
                <a:spcPts val="0"/>
              </a:spcAft>
              <a:buSzPts val="2100"/>
              <a:buChar char="●"/>
            </a:pPr>
            <a:r>
              <a:rPr lang="zh-TW"/>
              <a:t>現行指引常以 %1RM 來定義強度（如 &lt;30% 為 Very Light）。然而，強度不僅取決於重量，還取決於力竭的接近程度（Proximity to failure）。</a:t>
            </a:r>
            <a:endParaRPr/>
          </a:p>
          <a:p>
            <a:pPr indent="-361950" lvl="0" marL="457200" rtl="0" algn="l">
              <a:spcBef>
                <a:spcPts val="0"/>
              </a:spcBef>
              <a:spcAft>
                <a:spcPts val="0"/>
              </a:spcAft>
              <a:buSzPts val="2100"/>
              <a:buChar char="●"/>
            </a:pPr>
            <a:r>
              <a:rPr lang="zh-TW"/>
              <a:t>舉例而言，50% 1RM 的重量若做到力竭，其生理與感知壓力屬於高強度，而非低強度。</a:t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9" name="Google Shape;199;p34"/>
          <p:cNvPicPr preferRelativeResize="0"/>
          <p:nvPr/>
        </p:nvPicPr>
        <p:blipFill rotWithShape="1">
          <a:blip r:embed="rId3">
            <a:alphaModFix/>
          </a:blip>
          <a:srcRect b="0" l="0" r="0" t="6033"/>
          <a:stretch/>
        </p:blipFill>
        <p:spPr>
          <a:xfrm>
            <a:off x="152400" y="108525"/>
            <a:ext cx="8839199" cy="4489499"/>
          </a:xfrm>
          <a:prstGeom prst="rect">
            <a:avLst/>
          </a:prstGeom>
          <a:noFill/>
          <a:ln>
            <a:noFill/>
          </a:ln>
        </p:spPr>
      </p:pic>
      <p:sp>
        <p:nvSpPr>
          <p:cNvPr id="200" name="Google Shape;200;p34"/>
          <p:cNvSpPr txBox="1"/>
          <p:nvPr/>
        </p:nvSpPr>
        <p:spPr>
          <a:xfrm>
            <a:off x="0" y="4681800"/>
            <a:ext cx="8991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zh-TW" sz="900">
                <a:solidFill>
                  <a:srgbClr val="7F7F7F"/>
                </a:solidFill>
              </a:rPr>
              <a:t>Williams, M.A. ∙ Haskell, W.L. ∙ Ades, P.A. .Resistance exercise in individuals with and without cardiovascular disease: 2007 update: a scientific statement from the American Heart Association Council on Clinical Cardiology and Council on Nutrition, Physical Activity, and Metabolism Circulation. 2007; 116:572-584</a:t>
            </a:r>
            <a:endParaRPr i="1" sz="900">
              <a:solidFill>
                <a:srgbClr val="7F7F7F"/>
              </a:solidFill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English, #FFFFFF background, illustrative, comparison, beautiful" id="205" name="Google Shape;205;p35"/>
          <p:cNvPicPr preferRelativeResize="0"/>
          <p:nvPr/>
        </p:nvPicPr>
        <p:blipFill rotWithShape="1">
          <a:blip r:embed="rId3">
            <a:alphaModFix/>
          </a:blip>
          <a:srcRect b="3935" l="0" r="0" t="25548"/>
          <a:stretch/>
        </p:blipFill>
        <p:spPr>
          <a:xfrm>
            <a:off x="-35700" y="1555325"/>
            <a:ext cx="9210675" cy="3626975"/>
          </a:xfrm>
          <a:prstGeom prst="rect">
            <a:avLst/>
          </a:prstGeom>
          <a:noFill/>
          <a:ln>
            <a:noFill/>
          </a:ln>
        </p:spPr>
      </p:pic>
      <p:sp>
        <p:nvSpPr>
          <p:cNvPr id="206" name="Google Shape;206;p35"/>
          <p:cNvSpPr txBox="1"/>
          <p:nvPr/>
        </p:nvSpPr>
        <p:spPr>
          <a:xfrm>
            <a:off x="2510125" y="2197450"/>
            <a:ext cx="1807200" cy="5541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200"/>
              <a:t>建議將運動強度統一分為五級</a:t>
            </a:r>
            <a:endParaRPr sz="1200"/>
          </a:p>
        </p:txBody>
      </p:sp>
      <p:sp>
        <p:nvSpPr>
          <p:cNvPr id="207" name="Google Shape;207;p35"/>
          <p:cNvSpPr txBox="1"/>
          <p:nvPr/>
        </p:nvSpPr>
        <p:spPr>
          <a:xfrm>
            <a:off x="2510125" y="2822575"/>
            <a:ext cx="1807200" cy="1477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200"/>
              <a:t>雖然生物能量學主要劃分四個領域（無 Moderate 以下的區分），但考量到從「不活動」到「活動」的健康效益最大，因此保留 Very Low 類別。</a:t>
            </a:r>
            <a:endParaRPr sz="1200"/>
          </a:p>
        </p:txBody>
      </p:sp>
      <p:sp>
        <p:nvSpPr>
          <p:cNvPr id="208" name="Google Shape;208;p35"/>
          <p:cNvSpPr txBox="1"/>
          <p:nvPr/>
        </p:nvSpPr>
        <p:spPr>
          <a:xfrm>
            <a:off x="2510125" y="4289820"/>
            <a:ext cx="1807200" cy="9234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200"/>
              <a:t>術語 "High" 在語言學上比 "Vigorous" 更能準確對應 "Moderate" 之上的層級。</a:t>
            </a:r>
            <a:endParaRPr sz="1200"/>
          </a:p>
        </p:txBody>
      </p:sp>
      <p:pic>
        <p:nvPicPr>
          <p:cNvPr id="209" name="Google Shape;209;p3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141294" y="1629975"/>
            <a:ext cx="721250" cy="276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10" name="Google Shape;210;p3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829648" y="1629975"/>
            <a:ext cx="463600" cy="276225"/>
          </a:xfrm>
          <a:prstGeom prst="rect">
            <a:avLst/>
          </a:prstGeom>
          <a:noFill/>
          <a:ln>
            <a:noFill/>
          </a:ln>
        </p:spPr>
      </p:pic>
      <p:sp>
        <p:nvSpPr>
          <p:cNvPr id="211" name="Google Shape;211;p35"/>
          <p:cNvSpPr txBox="1"/>
          <p:nvPr/>
        </p:nvSpPr>
        <p:spPr>
          <a:xfrm>
            <a:off x="7068048" y="2265488"/>
            <a:ext cx="1807200" cy="2586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200"/>
              <a:t>對應上述五級強度的描述詞</a:t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200"/>
              <a:t>基於 Gunnar Borg 的先驅研究。</a:t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200"/>
              <a:t>建議避免使用 "Light", "Heavy", "Strong", "Weak" 等詞彙</a:t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200"/>
              <a:t>因為這些詞容易被誤解為描述「重量/負荷」而非「努力程度/強度」。</a:t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212" name="Google Shape;212;p35"/>
          <p:cNvSpPr txBox="1"/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Proposed Standardized Terminology</a:t>
            </a:r>
            <a:endParaRPr/>
          </a:p>
        </p:txBody>
      </p:sp>
      <p:sp>
        <p:nvSpPr>
          <p:cNvPr id="213" name="Google Shape;213;p35"/>
          <p:cNvSpPr txBox="1"/>
          <p:nvPr/>
        </p:nvSpPr>
        <p:spPr>
          <a:xfrm>
            <a:off x="782713" y="3669384"/>
            <a:ext cx="614400" cy="3693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200"/>
              <a:t>MT1</a:t>
            </a:r>
            <a:endParaRPr sz="1200"/>
          </a:p>
        </p:txBody>
      </p:sp>
      <p:sp>
        <p:nvSpPr>
          <p:cNvPr id="214" name="Google Shape;214;p35"/>
          <p:cNvSpPr/>
          <p:nvPr/>
        </p:nvSpPr>
        <p:spPr>
          <a:xfrm>
            <a:off x="518600" y="2979510"/>
            <a:ext cx="789000" cy="2763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15" name="Google Shape;215;p35"/>
          <p:cNvCxnSpPr>
            <a:endCxn id="213" idx="3"/>
          </p:cNvCxnSpPr>
          <p:nvPr/>
        </p:nvCxnSpPr>
        <p:spPr>
          <a:xfrm>
            <a:off x="1232713" y="3854034"/>
            <a:ext cx="1644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16" name="Google Shape;216;p35"/>
          <p:cNvSpPr txBox="1"/>
          <p:nvPr/>
        </p:nvSpPr>
        <p:spPr>
          <a:xfrm>
            <a:off x="782713" y="3088784"/>
            <a:ext cx="614400" cy="3693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200"/>
              <a:t>MT2</a:t>
            </a:r>
            <a:endParaRPr sz="1200"/>
          </a:p>
        </p:txBody>
      </p:sp>
      <p:cxnSp>
        <p:nvCxnSpPr>
          <p:cNvPr id="217" name="Google Shape;217;p35"/>
          <p:cNvCxnSpPr>
            <a:endCxn id="216" idx="3"/>
          </p:cNvCxnSpPr>
          <p:nvPr/>
        </p:nvCxnSpPr>
        <p:spPr>
          <a:xfrm>
            <a:off x="1232713" y="3273434"/>
            <a:ext cx="1644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18" name="Google Shape;218;p35"/>
          <p:cNvSpPr/>
          <p:nvPr/>
        </p:nvSpPr>
        <p:spPr>
          <a:xfrm>
            <a:off x="352300" y="2345966"/>
            <a:ext cx="1044900" cy="4152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9" name="Google Shape;219;p35"/>
          <p:cNvSpPr txBox="1"/>
          <p:nvPr/>
        </p:nvSpPr>
        <p:spPr>
          <a:xfrm>
            <a:off x="451225" y="2453275"/>
            <a:ext cx="894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200"/>
              <a:t>VO2max</a:t>
            </a:r>
            <a:endParaRPr sz="1200"/>
          </a:p>
        </p:txBody>
      </p:sp>
      <p:cxnSp>
        <p:nvCxnSpPr>
          <p:cNvPr id="220" name="Google Shape;220;p35"/>
          <p:cNvCxnSpPr/>
          <p:nvPr/>
        </p:nvCxnSpPr>
        <p:spPr>
          <a:xfrm>
            <a:off x="1191313" y="2637915"/>
            <a:ext cx="1644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pic>
        <p:nvPicPr>
          <p:cNvPr id="221" name="Google Shape;221;p35"/>
          <p:cNvPicPr preferRelativeResize="0"/>
          <p:nvPr/>
        </p:nvPicPr>
        <p:blipFill rotWithShape="1">
          <a:blip r:embed="rId5">
            <a:alphaModFix/>
          </a:blip>
          <a:srcRect b="46086" l="10873" r="0" t="42463"/>
          <a:stretch/>
        </p:blipFill>
        <p:spPr>
          <a:xfrm>
            <a:off x="233275" y="1151625"/>
            <a:ext cx="4677402" cy="415200"/>
          </a:xfrm>
          <a:prstGeom prst="rect">
            <a:avLst/>
          </a:prstGeom>
          <a:noFill/>
          <a:ln>
            <a:noFill/>
          </a:ln>
        </p:spPr>
      </p:pic>
      <p:sp>
        <p:nvSpPr>
          <p:cNvPr id="222" name="Google Shape;222;p35"/>
          <p:cNvSpPr/>
          <p:nvPr/>
        </p:nvSpPr>
        <p:spPr>
          <a:xfrm rot="5400000">
            <a:off x="4989400" y="1182500"/>
            <a:ext cx="231000" cy="415200"/>
          </a:xfrm>
          <a:prstGeom prst="bentArrow">
            <a:avLst>
              <a:gd fmla="val 25000" name="adj1"/>
              <a:gd fmla="val 25921" name="adj2"/>
              <a:gd fmla="val 25000" name="adj3"/>
              <a:gd fmla="val 43750" name="adj4"/>
            </a:avLst>
          </a:prstGeom>
          <a:solidFill>
            <a:srgbClr val="E9E0D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36"/>
          <p:cNvSpPr txBox="1"/>
          <p:nvPr>
            <p:ph idx="1" type="body"/>
          </p:nvPr>
        </p:nvSpPr>
        <p:spPr>
          <a:xfrm>
            <a:off x="628649" y="4651772"/>
            <a:ext cx="7567800" cy="4917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8" name="Google Shape;228;p36"/>
          <p:cNvSpPr txBox="1"/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How to Determine and Monitor Intensity</a:t>
            </a:r>
            <a:br>
              <a:rPr lang="zh-TW"/>
            </a:br>
            <a:r>
              <a:rPr lang="zh-TW"/>
              <a:t>代謝閾值 (Metabolic Thresholds) —— 黃金標準</a:t>
            </a:r>
            <a:endParaRPr/>
          </a:p>
        </p:txBody>
      </p:sp>
      <p:sp>
        <p:nvSpPr>
          <p:cNvPr id="229" name="Google Shape;229;p36"/>
          <p:cNvSpPr txBox="1"/>
          <p:nvPr>
            <p:ph idx="2" type="body"/>
          </p:nvPr>
        </p:nvSpPr>
        <p:spPr>
          <a:xfrm>
            <a:off x="628650" y="1167940"/>
            <a:ext cx="7886700" cy="34647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rmAutofit lnSpcReduction="20000"/>
          </a:bodyPr>
          <a:lstStyle/>
          <a:p>
            <a:pPr indent="-361950" lvl="0" marL="457200" rtl="0" algn="l">
              <a:spcBef>
                <a:spcPts val="800"/>
              </a:spcBef>
              <a:spcAft>
                <a:spcPts val="0"/>
              </a:spcAft>
              <a:buSzPts val="2100"/>
              <a:buChar char="●"/>
            </a:pPr>
            <a:r>
              <a:rPr lang="zh-TW"/>
              <a:t>核心論點：直接測量代謝閾值是定義運動強度的首選方法。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zh-TW"/>
              <a:t>第一代謝閾值 (MT1)：Lactate Threshold (LT), Gas Exchange Threshold (GET), Ventilatory Threshold (VT)。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zh-TW"/>
              <a:t>第二代謝閾值 (MT2)：Maximal Lactate Steady State (MLSS), Critical Power (CP)。</a:t>
            </a:r>
            <a:endParaRPr/>
          </a:p>
          <a:p>
            <a:pPr indent="-361950" lvl="0" marL="457200" rtl="0" algn="l">
              <a:spcBef>
                <a:spcPts val="0"/>
              </a:spcBef>
              <a:spcAft>
                <a:spcPts val="0"/>
              </a:spcAft>
              <a:buSzPts val="2100"/>
              <a:buChar char="●"/>
            </a:pPr>
            <a:r>
              <a:rPr lang="zh-TW"/>
              <a:t>優點：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zh-TW"/>
              <a:t>個體化生理反應：閾值能將不同運動能力的個體置於相似的生理壓力狀態下。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zh-TW"/>
              <a:t>客觀性：許多閾值不受受試者動機影響（適合臨床族群）。</a:t>
            </a:r>
            <a:endParaRPr/>
          </a:p>
          <a:p>
            <a:pPr indent="-361950" lvl="0" marL="457200" rtl="0" algn="l">
              <a:spcBef>
                <a:spcPts val="0"/>
              </a:spcBef>
              <a:spcAft>
                <a:spcPts val="0"/>
              </a:spcAft>
              <a:buSzPts val="2100"/>
              <a:buChar char="●"/>
            </a:pPr>
            <a:r>
              <a:rPr lang="zh-TW"/>
              <a:t>缺點：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zh-TW"/>
              <a:t>需要昂貴設備與耗時的運動測試。</a:t>
            </a:r>
            <a:r>
              <a:rPr lang="zh-TW"/>
              <a:t>需要專業能力來分析與解讀資料。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zh-TW"/>
              <a:t>可能需要「全力」測試（例如用以決定臨界功率/臨界速度），以及／或需要侵入性採血（例如用以決定乳酸閾值與最大乳酸穩態）。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zh-TW"/>
              <a:t>主要是用來界定「中等強度」運動類別的下界與上界。</a:t>
            </a:r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37"/>
          <p:cNvSpPr txBox="1"/>
          <p:nvPr>
            <p:ph idx="1" type="body"/>
          </p:nvPr>
        </p:nvSpPr>
        <p:spPr>
          <a:xfrm>
            <a:off x="628649" y="4651772"/>
            <a:ext cx="7567800" cy="4917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5" name="Google Shape;235;p37"/>
          <p:cNvSpPr txBox="1"/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How to Determine and Monitor Intensity</a:t>
            </a:r>
            <a:br>
              <a:rPr lang="zh-TW"/>
            </a:br>
            <a:r>
              <a:rPr lang="zh-TW"/>
              <a:t>代謝閾值 (Metabolic Thresholds) —— 黃金標準</a:t>
            </a:r>
            <a:endParaRPr/>
          </a:p>
        </p:txBody>
      </p:sp>
      <p:sp>
        <p:nvSpPr>
          <p:cNvPr id="236" name="Google Shape;236;p37"/>
          <p:cNvSpPr txBox="1"/>
          <p:nvPr>
            <p:ph idx="2" type="body"/>
          </p:nvPr>
        </p:nvSpPr>
        <p:spPr>
          <a:xfrm>
            <a:off x="628650" y="1167950"/>
            <a:ext cx="3400800" cy="34647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-361950" lvl="0" marL="457200" rtl="0" algn="l">
              <a:spcBef>
                <a:spcPts val="800"/>
              </a:spcBef>
              <a:spcAft>
                <a:spcPts val="0"/>
              </a:spcAft>
              <a:buSzPts val="2100"/>
              <a:buChar char="●"/>
            </a:pPr>
            <a:r>
              <a:rPr lang="zh-TW"/>
              <a:t>MT1</a:t>
            </a:r>
            <a:endParaRPr/>
          </a:p>
          <a:p>
            <a:pPr indent="-361950" lvl="0" marL="457200" rtl="0" algn="l">
              <a:spcBef>
                <a:spcPts val="0"/>
              </a:spcBef>
              <a:spcAft>
                <a:spcPts val="0"/>
              </a:spcAft>
              <a:buSzPts val="2100"/>
              <a:buChar char="●"/>
            </a:pPr>
            <a:r>
              <a:rPr lang="zh-TW"/>
              <a:t>乳酸閾值（LT）：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zh-TW"/>
              <a:t>血乳酸濃度首次高於基線的上升點</a:t>
            </a:r>
            <a:endParaRPr/>
          </a:p>
          <a:p>
            <a:pPr indent="-361950" lvl="0" marL="457200" rtl="0" algn="l">
              <a:spcBef>
                <a:spcPts val="0"/>
              </a:spcBef>
              <a:spcAft>
                <a:spcPts val="0"/>
              </a:spcAft>
              <a:buSzPts val="2100"/>
              <a:buChar char="●"/>
            </a:pPr>
            <a:r>
              <a:rPr lang="zh-TW"/>
              <a:t>氣體交換閾值：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zh-TW"/>
              <a:t>將二氧化碳排出量（VCO2）對氧氣攝取量（VO2）作圖時，VCO2出現非線性上升</a:t>
            </a:r>
            <a:endParaRPr/>
          </a:p>
          <a:p>
            <a:pPr indent="-361950" lvl="0" marL="457200" rtl="0" algn="l">
              <a:spcBef>
                <a:spcPts val="0"/>
              </a:spcBef>
              <a:spcAft>
                <a:spcPts val="0"/>
              </a:spcAft>
              <a:buSzPts val="2100"/>
              <a:buChar char="●"/>
            </a:pPr>
            <a:r>
              <a:rPr lang="zh-TW"/>
              <a:t>通氣閾值：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zh-TW"/>
              <a:t>分鐘通氣量出現非線性上升</a:t>
            </a:r>
            <a:endParaRPr/>
          </a:p>
        </p:txBody>
      </p:sp>
      <p:pic>
        <p:nvPicPr>
          <p:cNvPr id="237" name="Google Shape;237;p3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029450" y="1167950"/>
            <a:ext cx="4485899" cy="38492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38"/>
          <p:cNvSpPr txBox="1"/>
          <p:nvPr>
            <p:ph idx="1" type="body"/>
          </p:nvPr>
        </p:nvSpPr>
        <p:spPr>
          <a:xfrm>
            <a:off x="628649" y="4651772"/>
            <a:ext cx="7567800" cy="4917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3" name="Google Shape;243;p38"/>
          <p:cNvSpPr txBox="1"/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How to Determine and Monitor Intensity</a:t>
            </a:r>
            <a:br>
              <a:rPr lang="zh-TW"/>
            </a:br>
            <a:r>
              <a:rPr lang="zh-TW"/>
              <a:t>代謝閾值 (Metabolic Thresholds) —— 黃金標準</a:t>
            </a:r>
            <a:endParaRPr/>
          </a:p>
        </p:txBody>
      </p:sp>
      <p:sp>
        <p:nvSpPr>
          <p:cNvPr id="244" name="Google Shape;244;p38"/>
          <p:cNvSpPr txBox="1"/>
          <p:nvPr>
            <p:ph idx="2" type="body"/>
          </p:nvPr>
        </p:nvSpPr>
        <p:spPr>
          <a:xfrm>
            <a:off x="628650" y="1167950"/>
            <a:ext cx="3400800" cy="34647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rmAutofit fontScale="92500" lnSpcReduction="20000"/>
          </a:bodyPr>
          <a:lstStyle/>
          <a:p>
            <a:pPr indent="-351949" lvl="0" marL="457200" rtl="0" algn="l">
              <a:spcBef>
                <a:spcPts val="800"/>
              </a:spcBef>
              <a:spcAft>
                <a:spcPts val="0"/>
              </a:spcAft>
              <a:buSzPct val="116667"/>
              <a:buChar char="●"/>
            </a:pPr>
            <a:r>
              <a:rPr lang="zh-TW"/>
              <a:t>MT2</a:t>
            </a:r>
            <a:endParaRPr/>
          </a:p>
          <a:p>
            <a:pPr indent="-351949" lvl="0" marL="457200" rtl="0" algn="l">
              <a:spcBef>
                <a:spcPts val="0"/>
              </a:spcBef>
              <a:spcAft>
                <a:spcPts val="0"/>
              </a:spcAft>
              <a:buSzPct val="116667"/>
              <a:buChar char="●"/>
            </a:pPr>
            <a:r>
              <a:rPr lang="zh-TW"/>
              <a:t>最大乳酸穩態（MLSS）</a:t>
            </a:r>
            <a:endParaRPr/>
          </a:p>
          <a:p>
            <a:pPr indent="-334328" lvl="1" marL="914400" rtl="0" algn="l">
              <a:spcBef>
                <a:spcPts val="0"/>
              </a:spcBef>
              <a:spcAft>
                <a:spcPts val="0"/>
              </a:spcAft>
              <a:buSzPct val="128571"/>
              <a:buChar char="○"/>
            </a:pPr>
            <a:r>
              <a:rPr lang="zh-TW"/>
              <a:t>血液乳酸產生與排除平衡的最高強度。在此強度下，乳酸濃度能維持穩定而不持續上升。</a:t>
            </a:r>
            <a:endParaRPr/>
          </a:p>
          <a:p>
            <a:pPr indent="-351949" lvl="0" marL="457200" rtl="0" algn="l">
              <a:spcBef>
                <a:spcPts val="0"/>
              </a:spcBef>
              <a:spcAft>
                <a:spcPts val="0"/>
              </a:spcAft>
              <a:buSzPct val="116667"/>
              <a:buChar char="●"/>
            </a:pPr>
            <a:r>
              <a:rPr lang="zh-TW"/>
              <a:t>臨界功率／臨界速度（critical power/speed）</a:t>
            </a:r>
            <a:endParaRPr/>
          </a:p>
          <a:p>
            <a:pPr indent="-334328" lvl="1" marL="914400" rtl="0" algn="l">
              <a:spcBef>
                <a:spcPts val="0"/>
              </a:spcBef>
              <a:spcAft>
                <a:spcPts val="0"/>
              </a:spcAft>
              <a:buSzPct val="128571"/>
              <a:buChar char="○"/>
            </a:pPr>
            <a:r>
              <a:rPr lang="zh-TW"/>
              <a:t>基於「功率與時間」數學模型的參數，代表純有氧代謝能支撐的最高功。超過此值後，無氧儲備（W'）會開始消耗。</a:t>
            </a:r>
            <a:endParaRPr/>
          </a:p>
          <a:p>
            <a:pPr indent="-351949" lvl="0" marL="457200" rtl="0" algn="l">
              <a:spcBef>
                <a:spcPts val="0"/>
              </a:spcBef>
              <a:spcAft>
                <a:spcPts val="0"/>
              </a:spcAft>
              <a:buSzPct val="116667"/>
              <a:buChar char="●"/>
            </a:pPr>
            <a:r>
              <a:rPr lang="zh-TW"/>
              <a:t>通氣閾值：</a:t>
            </a:r>
            <a:endParaRPr/>
          </a:p>
          <a:p>
            <a:pPr indent="-334328" lvl="1" marL="914400" rtl="0" algn="l">
              <a:spcBef>
                <a:spcPts val="0"/>
              </a:spcBef>
              <a:spcAft>
                <a:spcPts val="0"/>
              </a:spcAft>
              <a:buSzPct val="128571"/>
              <a:buChar char="○"/>
            </a:pPr>
            <a:r>
              <a:rPr lang="zh-TW"/>
              <a:t>分鐘通氣量/</a:t>
            </a:r>
            <a:r>
              <a:rPr lang="zh-TW"/>
              <a:t>VCO2</a:t>
            </a:r>
            <a:r>
              <a:rPr lang="zh-TW"/>
              <a:t>出現非線性上升</a:t>
            </a:r>
            <a:endParaRPr/>
          </a:p>
        </p:txBody>
      </p:sp>
      <p:pic>
        <p:nvPicPr>
          <p:cNvPr id="245" name="Google Shape;245;p3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029450" y="1167950"/>
            <a:ext cx="4485899" cy="38492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39"/>
          <p:cNvSpPr txBox="1"/>
          <p:nvPr>
            <p:ph idx="1" type="body"/>
          </p:nvPr>
        </p:nvSpPr>
        <p:spPr>
          <a:xfrm>
            <a:off x="628649" y="4651772"/>
            <a:ext cx="7567800" cy="4917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1" name="Google Shape;251;p39"/>
          <p:cNvSpPr txBox="1"/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How to Determine and Monitor Intensity</a:t>
            </a:r>
            <a:br>
              <a:rPr lang="zh-TW"/>
            </a:br>
            <a:r>
              <a:rPr lang="zh-TW"/>
              <a:t>代謝閾值 (Metabolic Thresholds) —— 黃金標準</a:t>
            </a:r>
            <a:endParaRPr/>
          </a:p>
        </p:txBody>
      </p:sp>
      <p:sp>
        <p:nvSpPr>
          <p:cNvPr id="252" name="Google Shape;252;p39"/>
          <p:cNvSpPr txBox="1"/>
          <p:nvPr>
            <p:ph idx="2" type="body"/>
          </p:nvPr>
        </p:nvSpPr>
        <p:spPr>
          <a:xfrm>
            <a:off x="628650" y="1167950"/>
            <a:ext cx="3400800" cy="34647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rmAutofit fontScale="92500" lnSpcReduction="20000"/>
          </a:bodyPr>
          <a:lstStyle/>
          <a:p>
            <a:pPr indent="-351949" lvl="0" marL="457200" rtl="0" algn="l">
              <a:spcBef>
                <a:spcPts val="800"/>
              </a:spcBef>
              <a:spcAft>
                <a:spcPts val="0"/>
              </a:spcAft>
              <a:buSzPct val="116667"/>
              <a:buChar char="●"/>
            </a:pPr>
            <a:r>
              <a:rPr lang="zh-TW"/>
              <a:t>MLSS vs. CP</a:t>
            </a:r>
            <a:endParaRPr/>
          </a:p>
          <a:p>
            <a:pPr indent="-351949" lvl="0" marL="457200" rtl="0" algn="l">
              <a:spcBef>
                <a:spcPts val="0"/>
              </a:spcBef>
              <a:spcAft>
                <a:spcPts val="0"/>
              </a:spcAft>
              <a:buSzPct val="116667"/>
              <a:buChar char="●"/>
            </a:pPr>
            <a:r>
              <a:rPr lang="zh-TW"/>
              <a:t>強度位階： </a:t>
            </a:r>
            <a:endParaRPr/>
          </a:p>
          <a:p>
            <a:pPr indent="-334328" lvl="1" marL="914400" rtl="0" algn="l">
              <a:spcBef>
                <a:spcPts val="0"/>
              </a:spcBef>
              <a:spcAft>
                <a:spcPts val="0"/>
              </a:spcAft>
              <a:buSzPct val="128571"/>
              <a:buChar char="○"/>
            </a:pPr>
            <a:r>
              <a:rPr lang="zh-TW"/>
              <a:t>多數研究指出，CP/CS 通常略高於 MLSS。</a:t>
            </a:r>
            <a:endParaRPr/>
          </a:p>
          <a:p>
            <a:pPr indent="-334328" lvl="1" marL="914400" rtl="0" algn="l">
              <a:spcBef>
                <a:spcPts val="0"/>
              </a:spcBef>
              <a:spcAft>
                <a:spcPts val="0"/>
              </a:spcAft>
              <a:buSzPct val="128571"/>
              <a:buChar char="○"/>
            </a:pPr>
            <a:r>
              <a:rPr lang="zh-TW"/>
              <a:t>這意味著在臨界功率下運動時，乳酸可能已經開始緩慢累積，無法達成完全的穩態。</a:t>
            </a:r>
            <a:endParaRPr/>
          </a:p>
          <a:p>
            <a:pPr indent="-351949" lvl="0" marL="457200" rtl="0" algn="l">
              <a:spcBef>
                <a:spcPts val="0"/>
              </a:spcBef>
              <a:spcAft>
                <a:spcPts val="0"/>
              </a:spcAft>
              <a:buSzPct val="116667"/>
              <a:buChar char="●"/>
            </a:pPr>
            <a:r>
              <a:rPr lang="zh-TW"/>
              <a:t>界限標記： </a:t>
            </a:r>
            <a:endParaRPr/>
          </a:p>
          <a:p>
            <a:pPr indent="-334328" lvl="1" marL="914400" rtl="0" algn="l">
              <a:spcBef>
                <a:spcPts val="0"/>
              </a:spcBef>
              <a:spcAft>
                <a:spcPts val="0"/>
              </a:spcAft>
              <a:buSzPct val="128571"/>
              <a:buChar char="○"/>
            </a:pPr>
            <a:r>
              <a:rPr lang="zh-TW"/>
              <a:t>MLSS 被視為「重負荷（Heavy）」運動區間的上限</a:t>
            </a:r>
            <a:endParaRPr/>
          </a:p>
          <a:p>
            <a:pPr indent="-334328" lvl="1" marL="914400" rtl="0" algn="l">
              <a:spcBef>
                <a:spcPts val="0"/>
              </a:spcBef>
              <a:spcAft>
                <a:spcPts val="0"/>
              </a:spcAft>
              <a:buSzPct val="128571"/>
              <a:buChar char="○"/>
            </a:pPr>
            <a:r>
              <a:rPr lang="zh-TW"/>
              <a:t> CP 則被視為進入「極重負荷（Severe）」區間的邊界</a:t>
            </a:r>
            <a:endParaRPr/>
          </a:p>
          <a:p>
            <a:pPr indent="-334328" lvl="1" marL="914400" rtl="0" algn="l">
              <a:spcBef>
                <a:spcPts val="0"/>
              </a:spcBef>
              <a:spcAft>
                <a:spcPts val="0"/>
              </a:spcAft>
              <a:buSzPct val="128571"/>
              <a:buChar char="○"/>
            </a:pPr>
            <a:r>
              <a:rPr lang="zh-TW"/>
              <a:t>一旦超過 CP，攝氧量與乳酸會持續攀升直到精疲力竭。</a:t>
            </a:r>
            <a:endParaRPr/>
          </a:p>
        </p:txBody>
      </p:sp>
      <p:pic>
        <p:nvPicPr>
          <p:cNvPr id="253" name="Google Shape;253;p3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029450" y="1167950"/>
            <a:ext cx="4485899" cy="38492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40"/>
          <p:cNvSpPr txBox="1"/>
          <p:nvPr>
            <p:ph idx="1" type="body"/>
          </p:nvPr>
        </p:nvSpPr>
        <p:spPr>
          <a:xfrm>
            <a:off x="628649" y="4651772"/>
            <a:ext cx="7567800" cy="4917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rmAutofit lnSpcReduction="10000"/>
          </a:bodyPr>
          <a:lstStyle/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zh-TW"/>
              <a:t>Katch, V. ∙ Weltman, A. ∙ Sady, S. Validity of the relative percent concept for equating training intensity. Eur J Appl Physiol. 1978; 39:219-227</a:t>
            </a:r>
            <a:endParaRPr/>
          </a:p>
        </p:txBody>
      </p:sp>
      <p:sp>
        <p:nvSpPr>
          <p:cNvPr id="259" name="Google Shape;259;p40"/>
          <p:cNvSpPr txBox="1"/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How to Determine and Monitor Intensity</a:t>
            </a:r>
            <a:br>
              <a:rPr lang="zh-TW"/>
            </a:br>
            <a:r>
              <a:rPr lang="zh-TW"/>
              <a:t>%VO2max, %HRmax, %HRR —— 不建議作為首選</a:t>
            </a:r>
            <a:endParaRPr/>
          </a:p>
        </p:txBody>
      </p:sp>
      <p:sp>
        <p:nvSpPr>
          <p:cNvPr id="260" name="Google Shape;260;p40"/>
          <p:cNvSpPr txBox="1"/>
          <p:nvPr>
            <p:ph idx="2" type="body"/>
          </p:nvPr>
        </p:nvSpPr>
        <p:spPr>
          <a:xfrm>
            <a:off x="628650" y="1167940"/>
            <a:ext cx="7886700" cy="34647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-361950" lvl="0" marL="457200" rtl="0" algn="l">
              <a:spcBef>
                <a:spcPts val="800"/>
              </a:spcBef>
              <a:spcAft>
                <a:spcPts val="0"/>
              </a:spcAft>
              <a:buSzPts val="2100"/>
              <a:buChar char="●"/>
            </a:pPr>
            <a:r>
              <a:rPr lang="zh-TW"/>
              <a:t>核心論點：基於最大值的固定百分比（如 70% VO2max）無法在不同個體間產生一致的代謝壓力。</a:t>
            </a:r>
            <a:endParaRPr/>
          </a:p>
          <a:p>
            <a:pPr indent="-361950" lvl="0" marL="457200" rtl="0" algn="l">
              <a:spcBef>
                <a:spcPts val="0"/>
              </a:spcBef>
              <a:spcAft>
                <a:spcPts val="0"/>
              </a:spcAft>
              <a:buSzPts val="2100"/>
              <a:buChar char="●"/>
            </a:pPr>
            <a:r>
              <a:rPr lang="zh-TW"/>
              <a:t>理論依據：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zh-TW"/>
              <a:t>生理異質性：研究顯示，在固定 %VO2max 下，不同個體的血乳酸反應差異可達 40 倍。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zh-TW"/>
              <a:t>Katch et al. (1978)：在 80% HRmax 時，約一半受試者高於 MT1，另一半低於 MT1，導致訓練刺激完全不同。</a:t>
            </a:r>
            <a:endParaRPr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p41"/>
          <p:cNvSpPr txBox="1"/>
          <p:nvPr>
            <p:ph idx="1" type="body"/>
          </p:nvPr>
        </p:nvSpPr>
        <p:spPr>
          <a:xfrm>
            <a:off x="628649" y="4651772"/>
            <a:ext cx="7567800" cy="4917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6" name="Google Shape;266;p41"/>
          <p:cNvSpPr txBox="1"/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How to Determine and Monitor Intensity</a:t>
            </a:r>
            <a:br>
              <a:rPr lang="zh-TW"/>
            </a:br>
            <a:r>
              <a:rPr lang="zh-TW"/>
              <a:t>代謝當量 (METs) —— 不建議用於個體處方</a:t>
            </a:r>
            <a:endParaRPr/>
          </a:p>
        </p:txBody>
      </p:sp>
      <p:sp>
        <p:nvSpPr>
          <p:cNvPr id="267" name="Google Shape;267;p41"/>
          <p:cNvSpPr txBox="1"/>
          <p:nvPr>
            <p:ph idx="2" type="body"/>
          </p:nvPr>
        </p:nvSpPr>
        <p:spPr>
          <a:xfrm>
            <a:off x="628650" y="1167940"/>
            <a:ext cx="7886700" cy="34647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-361950" lvl="0" marL="457200" rtl="0" algn="l">
              <a:spcBef>
                <a:spcPts val="800"/>
              </a:spcBef>
              <a:spcAft>
                <a:spcPts val="0"/>
              </a:spcAft>
              <a:buSzPts val="2100"/>
              <a:buChar char="●"/>
            </a:pPr>
            <a:r>
              <a:rPr lang="zh-TW"/>
              <a:t>核</a:t>
            </a:r>
            <a:r>
              <a:rPr lang="zh-TW"/>
              <a:t>心論點：固定的 METs 數值忽略了個體差異（年齡、體重、體適能）。</a:t>
            </a:r>
            <a:endParaRPr/>
          </a:p>
          <a:p>
            <a:pPr indent="-361950" lvl="0" marL="457200" rtl="0" algn="l">
              <a:spcBef>
                <a:spcPts val="0"/>
              </a:spcBef>
              <a:spcAft>
                <a:spcPts val="0"/>
              </a:spcAft>
              <a:buSzPts val="2100"/>
              <a:buChar char="●"/>
            </a:pPr>
            <a:r>
              <a:rPr lang="zh-TW"/>
              <a:t>理論依據：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zh-TW"/>
              <a:t>誤差過大：對於不同體適能的人，"Moderate" 強度的上限可能介於 3 到 18 METs 之間，使用固定數值會導致嚴重的強度歸類錯誤。</a:t>
            </a:r>
            <a:endParaRPr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42"/>
          <p:cNvSpPr txBox="1"/>
          <p:nvPr>
            <p:ph idx="1" type="body"/>
          </p:nvPr>
        </p:nvSpPr>
        <p:spPr>
          <a:xfrm>
            <a:off x="628649" y="4651772"/>
            <a:ext cx="7567800" cy="4917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3" name="Google Shape;273;p42"/>
          <p:cNvSpPr txBox="1"/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How to Determine and Monitor Intensity</a:t>
            </a:r>
            <a:br>
              <a:rPr lang="zh-TW"/>
            </a:br>
            <a:r>
              <a:rPr lang="zh-TW"/>
              <a:t>自覺 (RPE/Talk Test) —— 輔助工具</a:t>
            </a:r>
            <a:endParaRPr/>
          </a:p>
        </p:txBody>
      </p:sp>
      <p:sp>
        <p:nvSpPr>
          <p:cNvPr id="274" name="Google Shape;274;p42"/>
          <p:cNvSpPr txBox="1"/>
          <p:nvPr>
            <p:ph idx="2" type="body"/>
          </p:nvPr>
        </p:nvSpPr>
        <p:spPr>
          <a:xfrm>
            <a:off x="628650" y="1167940"/>
            <a:ext cx="7886700" cy="34647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rmAutofit lnSpcReduction="10000"/>
          </a:bodyPr>
          <a:lstStyle/>
          <a:p>
            <a:pPr indent="-361950" lvl="0" marL="457200" rtl="0" algn="l">
              <a:spcBef>
                <a:spcPts val="800"/>
              </a:spcBef>
              <a:spcAft>
                <a:spcPts val="0"/>
              </a:spcAft>
              <a:buSzPts val="2100"/>
              <a:buChar char="●"/>
            </a:pPr>
            <a:r>
              <a:rPr lang="zh-TW"/>
              <a:t>核心論點：RPE 是有用的輔助工具，但需經過熟悉化（Familiarization）並最好與實驗室數據校正。</a:t>
            </a:r>
            <a:endParaRPr/>
          </a:p>
          <a:p>
            <a:pPr indent="-361950" lvl="0" marL="457200" rtl="0" algn="l">
              <a:spcBef>
                <a:spcPts val="0"/>
              </a:spcBef>
              <a:spcAft>
                <a:spcPts val="0"/>
              </a:spcAft>
              <a:buSzPts val="2100"/>
              <a:buChar char="●"/>
            </a:pPr>
            <a:r>
              <a:rPr lang="zh-TW"/>
              <a:t>理論依據：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zh-TW"/>
              <a:t>RPE：整合了周邊肌肉、心肺系統及中樞神經系統的信號。但在閾值處的 RPE 個體變異大</a:t>
            </a:r>
            <a:endParaRPr/>
          </a:p>
          <a:p>
            <a:pPr indent="-323850" lvl="2" marL="1371600" rtl="0" algn="l">
              <a:spcBef>
                <a:spcPts val="0"/>
              </a:spcBef>
              <a:spcAft>
                <a:spcPts val="0"/>
              </a:spcAft>
              <a:buSzPts val="1500"/>
              <a:buChar char="■"/>
            </a:pPr>
            <a:r>
              <a:rPr lang="zh-TW"/>
              <a:t>MT1 約 RPE 7-14</a:t>
            </a:r>
            <a:endParaRPr/>
          </a:p>
          <a:p>
            <a:pPr indent="-323850" lvl="2" marL="1371600" rtl="0" algn="l">
              <a:spcBef>
                <a:spcPts val="0"/>
              </a:spcBef>
              <a:spcAft>
                <a:spcPts val="0"/>
              </a:spcAft>
              <a:buSzPts val="1500"/>
              <a:buChar char="■"/>
            </a:pPr>
            <a:r>
              <a:rPr lang="zh-TW"/>
              <a:t>MT2 約 RPE 9-17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zh-TW"/>
              <a:t>Talk Test：基於閾值附近的換氣變化會影響說話舒適度。</a:t>
            </a:r>
            <a:endParaRPr/>
          </a:p>
          <a:p>
            <a:pPr indent="-323850" lvl="2" marL="1371600" rtl="0" algn="l">
              <a:spcBef>
                <a:spcPts val="0"/>
              </a:spcBef>
              <a:spcAft>
                <a:spcPts val="0"/>
              </a:spcAft>
              <a:buSzPts val="1500"/>
              <a:buChar char="■"/>
            </a:pPr>
            <a:r>
              <a:rPr lang="zh-TW"/>
              <a:t>在不活動者與接受心臟復健的患者中，「能舒適說話」可能在到達第一代謝閾值之前就終止；</a:t>
            </a:r>
            <a:endParaRPr/>
          </a:p>
          <a:p>
            <a:pPr indent="-323850" lvl="2" marL="1371600" rtl="0" algn="l">
              <a:spcBef>
                <a:spcPts val="0"/>
              </a:spcBef>
              <a:spcAft>
                <a:spcPts val="0"/>
              </a:spcAft>
              <a:buSzPts val="1500"/>
              <a:buChar char="■"/>
            </a:pPr>
            <a:r>
              <a:rPr lang="zh-TW"/>
              <a:t>在訓練良好的運動員中，「能舒適說話」則可能持續到中等強度訓練類別的深處。</a:t>
            </a:r>
            <a:endParaRPr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8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p43"/>
          <p:cNvSpPr txBox="1"/>
          <p:nvPr>
            <p:ph idx="1" type="body"/>
          </p:nvPr>
        </p:nvSpPr>
        <p:spPr>
          <a:xfrm>
            <a:off x="628649" y="4651772"/>
            <a:ext cx="7567800" cy="4917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0" name="Google Shape;280;p43"/>
          <p:cNvSpPr txBox="1"/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How to Determine and Monitor Intensity</a:t>
            </a:r>
            <a:br>
              <a:rPr lang="zh-TW"/>
            </a:br>
            <a:r>
              <a:rPr lang="zh-TW"/>
              <a:t>MET / RPE</a:t>
            </a:r>
            <a:endParaRPr/>
          </a:p>
        </p:txBody>
      </p:sp>
      <p:sp>
        <p:nvSpPr>
          <p:cNvPr id="281" name="Google Shape;281;p43"/>
          <p:cNvSpPr txBox="1"/>
          <p:nvPr>
            <p:ph idx="2" type="body"/>
          </p:nvPr>
        </p:nvSpPr>
        <p:spPr>
          <a:xfrm>
            <a:off x="628650" y="1167940"/>
            <a:ext cx="7886700" cy="34647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8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282" name="Google Shape;282;p4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62825" y="1279850"/>
            <a:ext cx="7218349" cy="3240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6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p44"/>
          <p:cNvSpPr txBox="1"/>
          <p:nvPr>
            <p:ph idx="1" type="body"/>
          </p:nvPr>
        </p:nvSpPr>
        <p:spPr>
          <a:xfrm>
            <a:off x="628649" y="4651772"/>
            <a:ext cx="7567800" cy="4917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8" name="Google Shape;288;p44"/>
          <p:cNvSpPr txBox="1"/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How to Determine and Monitor Intensity</a:t>
            </a:r>
            <a:br>
              <a:rPr lang="zh-TW"/>
            </a:br>
            <a:r>
              <a:rPr lang="zh-TW"/>
              <a:t>阻力運動強度的測量：Reps in Reserve, RIR</a:t>
            </a:r>
            <a:endParaRPr/>
          </a:p>
        </p:txBody>
      </p:sp>
      <p:sp>
        <p:nvSpPr>
          <p:cNvPr id="289" name="Google Shape;289;p44"/>
          <p:cNvSpPr txBox="1"/>
          <p:nvPr>
            <p:ph idx="2" type="body"/>
          </p:nvPr>
        </p:nvSpPr>
        <p:spPr>
          <a:xfrm>
            <a:off x="628650" y="1167940"/>
            <a:ext cx="7886700" cy="34647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8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290" name="Google Shape;290;p4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94200" y="1268050"/>
            <a:ext cx="4555601" cy="3710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4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p45"/>
          <p:cNvSpPr txBox="1"/>
          <p:nvPr>
            <p:ph idx="1" type="body"/>
          </p:nvPr>
        </p:nvSpPr>
        <p:spPr>
          <a:xfrm>
            <a:off x="628649" y="4651772"/>
            <a:ext cx="7567800" cy="4917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6" name="Google Shape;296;p45"/>
          <p:cNvSpPr txBox="1"/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How to Determine and Monitor Intensity</a:t>
            </a:r>
            <a:br>
              <a:rPr lang="zh-TW"/>
            </a:br>
            <a:r>
              <a:rPr lang="zh-TW"/>
              <a:t>阻力運動強度的測量：Reps in Reserve, RIR</a:t>
            </a:r>
            <a:endParaRPr/>
          </a:p>
        </p:txBody>
      </p:sp>
      <p:sp>
        <p:nvSpPr>
          <p:cNvPr id="297" name="Google Shape;297;p45"/>
          <p:cNvSpPr txBox="1"/>
          <p:nvPr>
            <p:ph idx="2" type="body"/>
          </p:nvPr>
        </p:nvSpPr>
        <p:spPr>
          <a:xfrm>
            <a:off x="628650" y="1167940"/>
            <a:ext cx="7886700" cy="34647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-361950" lvl="0" marL="457200" rtl="0" algn="l">
              <a:spcBef>
                <a:spcPts val="800"/>
              </a:spcBef>
              <a:spcAft>
                <a:spcPts val="0"/>
              </a:spcAft>
              <a:buSzPts val="2100"/>
              <a:buChar char="●"/>
            </a:pPr>
            <a:r>
              <a:rPr lang="zh-TW"/>
              <a:t>核心論點：不應僅用 %1RM 處方強度。建議使用 RIR（在力竭前還能做幾下）作為強度的主要指標。</a:t>
            </a:r>
            <a:endParaRPr/>
          </a:p>
          <a:p>
            <a:pPr indent="-361950" lvl="0" marL="457200" rtl="0" algn="l">
              <a:spcBef>
                <a:spcPts val="0"/>
              </a:spcBef>
              <a:spcAft>
                <a:spcPts val="0"/>
              </a:spcAft>
              <a:buSzPts val="2100"/>
              <a:buChar char="●"/>
            </a:pPr>
            <a:r>
              <a:rPr lang="zh-TW"/>
              <a:t>理論依據：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zh-TW"/>
              <a:t>神經肌肉疲勞：研究支持「接近力竭的程度」與「神經肌肉疲勞」之間存在線性關係。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zh-TW"/>
              <a:t>負荷與強度的區分：無論重量輕重，當 RIR 接近 0 時，強度皆屬於 High/Very High。</a:t>
            </a:r>
            <a:endParaRPr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p46"/>
          <p:cNvSpPr txBox="1"/>
          <p:nvPr>
            <p:ph idx="1" type="body"/>
          </p:nvPr>
        </p:nvSpPr>
        <p:spPr>
          <a:xfrm>
            <a:off x="628649" y="4651772"/>
            <a:ext cx="7567800" cy="4917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3" name="Google Shape;303;p46"/>
          <p:cNvSpPr txBox="1"/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Summary</a:t>
            </a:r>
            <a:endParaRPr/>
          </a:p>
        </p:txBody>
      </p:sp>
      <p:graphicFrame>
        <p:nvGraphicFramePr>
          <p:cNvPr id="304" name="Google Shape;304;p46"/>
          <p:cNvGraphicFramePr/>
          <p:nvPr/>
        </p:nvGraphicFramePr>
        <p:xfrm>
          <a:off x="960725" y="13309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{27DDFD0E-D07E-4245-9B5E-44F62409D258}</a:tableStyleId>
              </a:tblPr>
              <a:tblGrid>
                <a:gridCol w="781800"/>
                <a:gridCol w="1724175"/>
                <a:gridCol w="2495500"/>
                <a:gridCol w="861800"/>
                <a:gridCol w="1040375"/>
              </a:tblGrid>
              <a:tr h="2381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/>
                        <a:t>類別</a:t>
                      </a:r>
                      <a:endParaRPr b="1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/>
                        <a:t>生理參考</a:t>
                      </a:r>
                      <a:endParaRPr b="1"/>
                    </a:p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/>
                        <a:t>（心肺耐力運動）</a:t>
                      </a:r>
                      <a:endParaRPr b="1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/>
                        <a:t>RIR</a:t>
                      </a:r>
                      <a:endParaRPr b="1"/>
                    </a:p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/>
                        <a:t>（保留次數；阻力運動）</a:t>
                      </a:r>
                      <a:endParaRPr b="1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/>
                        <a:t>RPE10</a:t>
                      </a:r>
                      <a:endParaRPr b="1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/>
                        <a:t>RPE20</a:t>
                      </a:r>
                      <a:endParaRPr b="1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381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/>
                        <a:t>不活動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/>
                        <a:t>不活動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/>
                        <a:t>不活動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/>
                        <a:t>0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/>
                        <a:t>6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381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/>
                        <a:t>非常低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/>
                        <a:t>目前無測量指標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/>
                        <a:t>&gt;8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/>
                        <a:t>&lt;2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/>
                        <a:t>≤9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381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/>
                        <a:t>低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/>
                        <a:t>&lt; MT1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/>
                        <a:t>7–8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/>
                        <a:t>2–3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/>
                        <a:t>10–11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381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/>
                        <a:t>中等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/>
                        <a:t>&gt; MT1 且 &lt; MT2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/>
                        <a:t>4–6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/>
                        <a:t>4–5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/>
                        <a:t>12–14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381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/>
                        <a:t>高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/>
                        <a:t>&gt; MT2 且 &lt; Wmax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/>
                        <a:t>2–3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/>
                        <a:t>6–7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/>
                        <a:t>15–16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381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/>
                        <a:t>非常高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/>
                        <a:t>&gt; Wmax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/>
                        <a:t>&lt;2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/>
                        <a:t>8–10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/>
                        <a:t>≥17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8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p47"/>
          <p:cNvSpPr txBox="1"/>
          <p:nvPr>
            <p:ph type="ctrTitle"/>
          </p:nvPr>
        </p:nvSpPr>
        <p:spPr>
          <a:xfrm>
            <a:off x="311708" y="1354175"/>
            <a:ext cx="8520600" cy="2052600"/>
          </a:xfrm>
          <a:prstGeom prst="rect">
            <a:avLst/>
          </a:prstGeom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ACSM GETP 11th vs. 12th</a:t>
            </a:r>
            <a:endParaRPr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3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p48"/>
          <p:cNvSpPr txBox="1"/>
          <p:nvPr>
            <p:ph idx="1" type="body"/>
          </p:nvPr>
        </p:nvSpPr>
        <p:spPr>
          <a:xfrm>
            <a:off x="628649" y="4651772"/>
            <a:ext cx="7567800" cy="4917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5" name="Google Shape;315;p48"/>
          <p:cNvSpPr txBox="1"/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阻力訓練 (Chapter 5)</a:t>
            </a:r>
            <a:endParaRPr/>
          </a:p>
        </p:txBody>
      </p:sp>
      <p:sp>
        <p:nvSpPr>
          <p:cNvPr id="316" name="Google Shape;316;p48"/>
          <p:cNvSpPr txBox="1"/>
          <p:nvPr>
            <p:ph idx="2" type="body"/>
          </p:nvPr>
        </p:nvSpPr>
        <p:spPr>
          <a:xfrm>
            <a:off x="628650" y="1167940"/>
            <a:ext cx="7886700" cy="34647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8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graphicFrame>
        <p:nvGraphicFramePr>
          <p:cNvPr id="317" name="Google Shape;317;p48"/>
          <p:cNvGraphicFramePr/>
          <p:nvPr/>
        </p:nvGraphicFramePr>
        <p:xfrm>
          <a:off x="4763" y="1593250"/>
          <a:ext cx="3000000" cy="3000000"/>
        </p:xfrm>
        <a:graphic>
          <a:graphicData uri="http://schemas.openxmlformats.org/drawingml/2006/table">
            <a:tbl>
              <a:tblPr>
                <a:solidFill>
                  <a:srgbClr val="FFFFFF"/>
                </a:solidFill>
                <a:tableStyleId>{27DDFD0E-D07E-4245-9B5E-44F62409D258}</a:tableStyleId>
              </a:tblPr>
              <a:tblGrid>
                <a:gridCol w="1574650"/>
                <a:gridCol w="1195025"/>
                <a:gridCol w="1845125"/>
                <a:gridCol w="4519675"/>
              </a:tblGrid>
              <a:tr h="1083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1000"/>
                        <a:t>比較項目</a:t>
                      </a:r>
                      <a:endParaRPr b="1" sz="1000"/>
                    </a:p>
                  </a:txBody>
                  <a:tcPr marT="91425" marB="91425" marR="91425" marL="91425">
                    <a:lnL cap="flat" cmpd="sng" w="10575">
                      <a:solidFill>
                        <a:srgbClr val="CDD2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CDD2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CDD2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CDD2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1000"/>
                        <a:t>第 11 版 (2021)</a:t>
                      </a:r>
                      <a:endParaRPr b="1" sz="1000"/>
                    </a:p>
                  </a:txBody>
                  <a:tcPr marT="91425" marB="91425" marR="91425" marL="91425">
                    <a:lnL cap="flat" cmpd="sng" w="10575">
                      <a:solidFill>
                        <a:srgbClr val="CDD2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CDD2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CDD2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CDD2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1000"/>
                        <a:t>第 12 版 (2025/2026)</a:t>
                      </a:r>
                      <a:endParaRPr b="1" sz="1000"/>
                    </a:p>
                  </a:txBody>
                  <a:tcPr marT="91425" marB="91425" marR="91425" marL="91425">
                    <a:lnL cap="flat" cmpd="sng" w="10575">
                      <a:solidFill>
                        <a:srgbClr val="CDD2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CDD2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CDD2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CDD2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1000"/>
                        <a:t>臨床意義與更新重點</a:t>
                      </a:r>
                      <a:endParaRPr b="1" sz="1000"/>
                    </a:p>
                  </a:txBody>
                  <a:tcPr marT="91425" marB="91425" marR="91425" marL="91425">
                    <a:lnL cap="flat" cmpd="sng" w="10575">
                      <a:solidFill>
                        <a:srgbClr val="CDD2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CDD2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CDD2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CDD2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245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1000"/>
                        <a:t>Chapter 5: 一般原則</a:t>
                      </a:r>
                      <a:endParaRPr b="1" sz="1000"/>
                    </a:p>
                  </a:txBody>
                  <a:tcPr marT="91425" marB="91425" marR="91425" marL="91425">
                    <a:lnL cap="flat" cmpd="sng" w="10575">
                      <a:solidFill>
                        <a:srgbClr val="CDD2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CDD2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CDD2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CDD2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91425" marB="91425" marR="91425" marL="91425">
                    <a:lnL cap="flat" cmpd="sng" w="10575">
                      <a:solidFill>
                        <a:srgbClr val="CDD2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CDD2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CDD2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CDD2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91425" marB="91425" marR="91425" marL="91425">
                    <a:lnL cap="flat" cmpd="sng" w="10575">
                      <a:solidFill>
                        <a:srgbClr val="CDD2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CDD2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CDD2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CDD2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91425" marB="91425" marR="91425" marL="91425">
                    <a:lnL cap="flat" cmpd="sng" w="10575">
                      <a:solidFill>
                        <a:srgbClr val="CDD2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CDD2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CDD2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CDD2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478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000"/>
                        <a:t>性別差異</a:t>
                      </a:r>
                      <a:endParaRPr sz="1000"/>
                    </a:p>
                  </a:txBody>
                  <a:tcPr marT="91425" marB="91425" marR="91425" marL="91425">
                    <a:lnL cap="flat" cmpd="sng" w="10575">
                      <a:solidFill>
                        <a:srgbClr val="CDD2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CDD2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CDD2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CDD2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000"/>
                        <a:t>內容較分散，未獨立成節。</a:t>
                      </a:r>
                      <a:endParaRPr sz="1000"/>
                    </a:p>
                  </a:txBody>
                  <a:tcPr marT="91425" marB="91425" marR="91425" marL="91425">
                    <a:lnL cap="flat" cmpd="sng" w="10575">
                      <a:solidFill>
                        <a:srgbClr val="CDD2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CDD2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CDD2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CDD2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000"/>
                        <a:t>新增獨立小節 (Sex Differences)。</a:t>
                      </a:r>
                      <a:endParaRPr sz="1000"/>
                    </a:p>
                  </a:txBody>
                  <a:tcPr marT="91425" marB="91425" marR="91425" marL="91425">
                    <a:lnL cap="flat" cmpd="sng" w="10575">
                      <a:solidFill>
                        <a:srgbClr val="CDD2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CDD2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CDD2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CDD2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000"/>
                        <a:t>強調男女在心臟結構、代謝路徑（脂肪vs醣類）與疲勞抗性上的生理差異，指導更精確的個人化處方。</a:t>
                      </a:r>
                      <a:endParaRPr sz="1000"/>
                    </a:p>
                  </a:txBody>
                  <a:tcPr marT="91425" marB="91425" marR="91425" marL="91425">
                    <a:lnL cap="flat" cmpd="sng" w="10575">
                      <a:solidFill>
                        <a:srgbClr val="CDD2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CDD2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CDD2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CDD2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245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000"/>
                        <a:t>阻力訓練 (RT)</a:t>
                      </a:r>
                      <a:endParaRPr sz="1000"/>
                    </a:p>
                  </a:txBody>
                  <a:tcPr marT="91425" marB="91425" marR="91425" marL="91425">
                    <a:lnL cap="flat" cmpd="sng" w="10575">
                      <a:solidFill>
                        <a:srgbClr val="CDD2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CDD2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CDD2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CDD2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000"/>
                        <a:t>介紹基礎 FITT 原則。</a:t>
                      </a:r>
                      <a:endParaRPr sz="1000"/>
                    </a:p>
                  </a:txBody>
                  <a:tcPr marT="91425" marB="91425" marR="91425" marL="91425">
                    <a:lnL cap="flat" cmpd="sng" w="10575">
                      <a:solidFill>
                        <a:srgbClr val="CDD2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CDD2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CDD2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CDD2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000"/>
                        <a:t>內容大幅擴充。</a:t>
                      </a:r>
                      <a:endParaRPr sz="1000"/>
                    </a:p>
                  </a:txBody>
                  <a:tcPr marT="91425" marB="91425" marR="91425" marL="91425">
                    <a:lnL cap="flat" cmpd="sng" w="10575">
                      <a:solidFill>
                        <a:srgbClr val="CDD2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CDD2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CDD2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CDD2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000"/>
                        <a:t>詳述休息時間、動作順序（大肌群優先）、進階法則 (2-for-2 rule) 與 RIR 的應用。</a:t>
                      </a:r>
                      <a:endParaRPr sz="1000"/>
                    </a:p>
                  </a:txBody>
                  <a:tcPr marT="91425" marB="91425" marR="91425" marL="91425">
                    <a:lnL cap="flat" cmpd="sng" w="10575">
                      <a:solidFill>
                        <a:srgbClr val="CDD2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CDD2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CDD2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CDD2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478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000"/>
                        <a:t>運動強度指標</a:t>
                      </a:r>
                      <a:endParaRPr sz="1000"/>
                    </a:p>
                  </a:txBody>
                  <a:tcPr marT="91425" marB="91425" marR="91425" marL="91425">
                    <a:lnL cap="flat" cmpd="sng" w="10575">
                      <a:solidFill>
                        <a:srgbClr val="CDD2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CDD2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CDD2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CDD2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000"/>
                        <a:t>強調 %HRR, %HRmax, RPE。</a:t>
                      </a:r>
                      <a:endParaRPr sz="1000"/>
                    </a:p>
                  </a:txBody>
                  <a:tcPr marT="91425" marB="91425" marR="91425" marL="91425">
                    <a:lnL cap="flat" cmpd="sng" w="10575">
                      <a:solidFill>
                        <a:srgbClr val="CDD2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CDD2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CDD2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CDD2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000"/>
                        <a:t>延續舊有指標，但更強調客觀測試 (CPET) 為黃金標準。</a:t>
                      </a:r>
                      <a:endParaRPr sz="1000"/>
                    </a:p>
                  </a:txBody>
                  <a:tcPr marT="91425" marB="91425" marR="91425" marL="91425">
                    <a:lnL cap="flat" cmpd="sng" w="10575">
                      <a:solidFill>
                        <a:srgbClr val="CDD2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CDD2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CDD2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CDD2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000"/>
                        <a:t>在缺乏測試時，強調結合 RPE 與談話測試的重要性。</a:t>
                      </a:r>
                      <a:endParaRPr sz="1000"/>
                    </a:p>
                  </a:txBody>
                  <a:tcPr marT="91425" marB="91425" marR="91425" marL="91425">
                    <a:lnL cap="flat" cmpd="sng" w="10575">
                      <a:solidFill>
                        <a:srgbClr val="CDD2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CDD2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CDD2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CDD2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Google Shape;322;p49"/>
          <p:cNvSpPr txBox="1"/>
          <p:nvPr>
            <p:ph idx="1" type="body"/>
          </p:nvPr>
        </p:nvSpPr>
        <p:spPr>
          <a:xfrm>
            <a:off x="628649" y="4651772"/>
            <a:ext cx="7567800" cy="4917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3" name="Google Shape;323;p49"/>
          <p:cNvSpPr txBox="1"/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阻力訓練 (Chapter 5)</a:t>
            </a:r>
            <a:endParaRPr/>
          </a:p>
        </p:txBody>
      </p:sp>
      <p:sp>
        <p:nvSpPr>
          <p:cNvPr id="324" name="Google Shape;324;p49"/>
          <p:cNvSpPr txBox="1"/>
          <p:nvPr>
            <p:ph idx="2" type="body"/>
          </p:nvPr>
        </p:nvSpPr>
        <p:spPr>
          <a:xfrm>
            <a:off x="628650" y="1167940"/>
            <a:ext cx="7886700" cy="34647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zh-TW">
                <a:solidFill>
                  <a:srgbClr val="7F7F7F"/>
                </a:solidFill>
              </a:rPr>
              <a:t>基礎原則 → </a:t>
            </a:r>
            <a:endParaRPr>
              <a:solidFill>
                <a:srgbClr val="7F7F7F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zh-TW"/>
              <a:t>擴充為完整訓練系統，包含休息時間、動作順序、進階模型（如 2-for-2 法）。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8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p50"/>
          <p:cNvSpPr txBox="1"/>
          <p:nvPr>
            <p:ph idx="1" type="body"/>
          </p:nvPr>
        </p:nvSpPr>
        <p:spPr>
          <a:xfrm>
            <a:off x="628649" y="4651772"/>
            <a:ext cx="7567800" cy="4917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0" name="Google Shape;330;p50"/>
          <p:cNvSpPr txBox="1"/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阻力訓練 (Chapter 5)</a:t>
            </a:r>
            <a:endParaRPr/>
          </a:p>
        </p:txBody>
      </p:sp>
      <p:sp>
        <p:nvSpPr>
          <p:cNvPr id="331" name="Google Shape;331;p50"/>
          <p:cNvSpPr txBox="1"/>
          <p:nvPr>
            <p:ph idx="2" type="body"/>
          </p:nvPr>
        </p:nvSpPr>
        <p:spPr>
          <a:xfrm>
            <a:off x="628650" y="1167940"/>
            <a:ext cx="7886700" cy="34647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-361950" lvl="0" marL="457200" rtl="0" algn="l">
              <a:spcBef>
                <a:spcPts val="800"/>
              </a:spcBef>
              <a:spcAft>
                <a:spcPts val="0"/>
              </a:spcAft>
              <a:buClr>
                <a:srgbClr val="262626"/>
              </a:buClr>
              <a:buSzPts val="2100"/>
              <a:buChar char="●"/>
            </a:pPr>
            <a:r>
              <a:rPr lang="zh-TW">
                <a:solidFill>
                  <a:srgbClr val="262626"/>
                </a:solidFill>
              </a:rPr>
              <a:t>強度與適應：</a:t>
            </a:r>
            <a:endParaRPr>
              <a:solidFill>
                <a:srgbClr val="262626"/>
              </a:solidFill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800"/>
              <a:buChar char="○"/>
            </a:pPr>
            <a:r>
              <a:rPr lang="zh-TW">
                <a:solidFill>
                  <a:srgbClr val="262626"/>
                </a:solidFill>
              </a:rPr>
              <a:t>新手建議 60%-70% 1-RM，</a:t>
            </a:r>
            <a:endParaRPr>
              <a:solidFill>
                <a:srgbClr val="262626"/>
              </a:solidFill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800"/>
              <a:buChar char="○"/>
            </a:pPr>
            <a:r>
              <a:rPr lang="zh-TW">
                <a:solidFill>
                  <a:srgbClr val="262626"/>
                </a:solidFill>
              </a:rPr>
              <a:t>經驗豐富者可涵蓋 80%-100% 1-RM。</a:t>
            </a:r>
            <a:endParaRPr>
              <a:solidFill>
                <a:srgbClr val="262626"/>
              </a:solidFill>
            </a:endParaRPr>
          </a:p>
          <a:p>
            <a:pPr indent="-361950" lvl="0" marL="457200" rtl="0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2100"/>
              <a:buChar char="●"/>
            </a:pPr>
            <a:r>
              <a:rPr lang="zh-TW">
                <a:solidFill>
                  <a:srgbClr val="262626"/>
                </a:solidFill>
              </a:rPr>
              <a:t>休息時間： 指南細分了休息時間：</a:t>
            </a:r>
            <a:endParaRPr>
              <a:solidFill>
                <a:srgbClr val="262626"/>
              </a:solidFill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800"/>
              <a:buChar char="○"/>
            </a:pPr>
            <a:r>
              <a:rPr lang="zh-TW">
                <a:solidFill>
                  <a:srgbClr val="262626"/>
                </a:solidFill>
              </a:rPr>
              <a:t>肌耐力 30-60 秒；</a:t>
            </a:r>
            <a:endParaRPr>
              <a:solidFill>
                <a:srgbClr val="262626"/>
              </a:solidFill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800"/>
              <a:buChar char="○"/>
            </a:pPr>
            <a:r>
              <a:rPr lang="zh-TW">
                <a:solidFill>
                  <a:srgbClr val="262626"/>
                </a:solidFill>
              </a:rPr>
              <a:t>肌肥大與強度耐力 90 秒至 3 分鐘；</a:t>
            </a:r>
            <a:endParaRPr>
              <a:solidFill>
                <a:srgbClr val="262626"/>
              </a:solidFill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800"/>
              <a:buChar char="○"/>
            </a:pPr>
            <a:r>
              <a:rPr lang="zh-TW">
                <a:solidFill>
                  <a:srgbClr val="262626"/>
                </a:solidFill>
              </a:rPr>
              <a:t>最大力量與爆發力 2-5 分鐘。</a:t>
            </a:r>
            <a:endParaRPr>
              <a:solidFill>
                <a:srgbClr val="262626"/>
              </a:solidFill>
            </a:endParaRPr>
          </a:p>
          <a:p>
            <a:pPr indent="-361950" lvl="0" marL="457200" rtl="0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2100"/>
              <a:buChar char="●"/>
            </a:pPr>
            <a:r>
              <a:rPr lang="zh-TW">
                <a:solidFill>
                  <a:srgbClr val="262626"/>
                </a:solidFill>
              </a:rPr>
              <a:t>執行順序： </a:t>
            </a:r>
            <a:endParaRPr>
              <a:solidFill>
                <a:srgbClr val="262626"/>
              </a:solidFill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800"/>
              <a:buChar char="○"/>
            </a:pPr>
            <a:r>
              <a:rPr lang="zh-TW">
                <a:solidFill>
                  <a:srgbClr val="262626"/>
                </a:solidFill>
              </a:rPr>
              <a:t>建議順序為「大肌群多關節動作 → 小肌群多關節動作 ↔ 大肌群單關節動作 → 小肌群單關節動作 ↔ 核心穩定」。</a:t>
            </a:r>
            <a:endParaRPr>
              <a:solidFill>
                <a:srgbClr val="262626"/>
              </a:solidFill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5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Google Shape;336;p51"/>
          <p:cNvSpPr txBox="1"/>
          <p:nvPr>
            <p:ph idx="1" type="body"/>
          </p:nvPr>
        </p:nvSpPr>
        <p:spPr>
          <a:xfrm>
            <a:off x="628649" y="4651772"/>
            <a:ext cx="7567800" cy="4917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7" name="Google Shape;337;p51"/>
          <p:cNvSpPr txBox="1"/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阻力訓練 (Chapter 5)</a:t>
            </a:r>
            <a:endParaRPr/>
          </a:p>
        </p:txBody>
      </p:sp>
      <p:sp>
        <p:nvSpPr>
          <p:cNvPr id="338" name="Google Shape;338;p51"/>
          <p:cNvSpPr txBox="1"/>
          <p:nvPr>
            <p:ph idx="2" type="body"/>
          </p:nvPr>
        </p:nvSpPr>
        <p:spPr>
          <a:xfrm>
            <a:off x="628650" y="1167940"/>
            <a:ext cx="7886700" cy="34647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-361950" lvl="0" marL="457200" rtl="0" algn="l">
              <a:spcBef>
                <a:spcPts val="800"/>
              </a:spcBef>
              <a:spcAft>
                <a:spcPts val="0"/>
              </a:spcAft>
              <a:buClr>
                <a:srgbClr val="262626"/>
              </a:buClr>
              <a:buSzPts val="2100"/>
              <a:buChar char="●"/>
            </a:pPr>
            <a:r>
              <a:rPr lang="zh-TW">
                <a:solidFill>
                  <a:srgbClr val="262626"/>
                </a:solidFill>
              </a:rPr>
              <a:t>進階模型：2-for-2</a:t>
            </a:r>
            <a:endParaRPr>
              <a:solidFill>
                <a:srgbClr val="262626"/>
              </a:solidFill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800"/>
              <a:buChar char="○"/>
            </a:pPr>
            <a:r>
              <a:rPr lang="zh-TW">
                <a:solidFill>
                  <a:srgbClr val="262626"/>
                </a:solidFill>
              </a:rPr>
              <a:t>設定目標：例如，某動作目標是 3 組，每組 10 次。</a:t>
            </a:r>
            <a:endParaRPr>
              <a:solidFill>
                <a:srgbClr val="262626"/>
              </a:solidFill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800"/>
              <a:buChar char="○"/>
            </a:pPr>
            <a:r>
              <a:rPr lang="zh-TW">
                <a:solidFill>
                  <a:srgbClr val="262626"/>
                </a:solidFill>
              </a:rPr>
              <a:t>達成目標：在第一次訓練中，你完成 3 組，每組 10 次，最後一組你多做了 2 次 (12次)。</a:t>
            </a:r>
            <a:endParaRPr>
              <a:solidFill>
                <a:srgbClr val="262626"/>
              </a:solidFill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800"/>
              <a:buChar char="○"/>
            </a:pPr>
            <a:r>
              <a:rPr lang="zh-TW">
                <a:solidFill>
                  <a:srgbClr val="262626"/>
                </a:solidFill>
              </a:rPr>
              <a:t>連續達成：在第二次訓練中，你再次完成 3 組，每組 10 次，但最後一組仍多做了 2 次 (12次)。</a:t>
            </a:r>
            <a:endParaRPr>
              <a:solidFill>
                <a:srgbClr val="262626"/>
              </a:solidFill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800"/>
              <a:buChar char="○"/>
            </a:pPr>
            <a:r>
              <a:rPr lang="zh-TW">
                <a:solidFill>
                  <a:srgbClr val="262626"/>
                </a:solidFill>
              </a:rPr>
              <a:t>增加重量：由於你連續兩次都比目標多做 2 次，下次訓練時就應該增加重量。 </a:t>
            </a:r>
            <a:endParaRPr>
              <a:solidFill>
                <a:srgbClr val="262626"/>
              </a:solidFill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2" name="Shape 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Google Shape;343;p52"/>
          <p:cNvSpPr txBox="1"/>
          <p:nvPr>
            <p:ph idx="1" type="body"/>
          </p:nvPr>
        </p:nvSpPr>
        <p:spPr>
          <a:xfrm>
            <a:off x="628649" y="4651772"/>
            <a:ext cx="7567800" cy="4917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4" name="Google Shape;344;p52"/>
          <p:cNvSpPr txBox="1"/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有氧運動運動門檻 (Chapter 5)</a:t>
            </a:r>
            <a:endParaRPr/>
          </a:p>
        </p:txBody>
      </p:sp>
      <p:sp>
        <p:nvSpPr>
          <p:cNvPr id="345" name="Google Shape;345;p52"/>
          <p:cNvSpPr txBox="1"/>
          <p:nvPr>
            <p:ph idx="2" type="body"/>
          </p:nvPr>
        </p:nvSpPr>
        <p:spPr>
          <a:xfrm>
            <a:off x="628650" y="1167940"/>
            <a:ext cx="7886700" cy="34647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-361950" lvl="0" marL="457200" rtl="0" algn="l">
              <a:spcBef>
                <a:spcPts val="800"/>
              </a:spcBef>
              <a:spcAft>
                <a:spcPts val="0"/>
              </a:spcAft>
              <a:buClr>
                <a:srgbClr val="7F7F7F"/>
              </a:buClr>
              <a:buSzPts val="2100"/>
              <a:buChar char="●"/>
            </a:pPr>
            <a:r>
              <a:rPr lang="zh-TW">
                <a:solidFill>
                  <a:srgbClr val="7F7F7F"/>
                </a:solidFill>
              </a:rPr>
              <a:t>建議單次 &gt;10 分鐘</a:t>
            </a:r>
            <a:r>
              <a:rPr lang="zh-TW">
                <a:solidFill>
                  <a:srgbClr val="7F7F7F"/>
                </a:solidFill>
              </a:rPr>
              <a:t> →</a:t>
            </a:r>
            <a:endParaRPr>
              <a:solidFill>
                <a:srgbClr val="7F7F7F"/>
              </a:solidFill>
            </a:endParaRPr>
          </a:p>
          <a:p>
            <a:pPr indent="-361950" lvl="0" marL="457200" rtl="0" algn="l">
              <a:spcBef>
                <a:spcPts val="0"/>
              </a:spcBef>
              <a:spcAft>
                <a:spcPts val="0"/>
              </a:spcAft>
              <a:buSzPts val="2100"/>
              <a:buChar char="●"/>
            </a:pPr>
            <a:r>
              <a:rPr lang="zh-TW"/>
              <a:t>移除了過去「每次運動必須持續至少 10 分鐘才能獲得健康效益」的限制，強調</a:t>
            </a:r>
            <a:r>
              <a:rPr b="1" lang="zh-TW"/>
              <a:t>短時間活動（Micro-exercise）</a:t>
            </a:r>
            <a:r>
              <a:rPr lang="zh-TW"/>
              <a:t>同樣有益。</a:t>
            </a:r>
            <a:endParaRPr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9" name="Shape 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Google Shape;350;p53"/>
          <p:cNvSpPr txBox="1"/>
          <p:nvPr>
            <p:ph idx="1" type="body"/>
          </p:nvPr>
        </p:nvSpPr>
        <p:spPr>
          <a:xfrm>
            <a:off x="628649" y="4651772"/>
            <a:ext cx="7567800" cy="4917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1" name="Google Shape;351;p53"/>
          <p:cNvSpPr txBox="1"/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性別</a:t>
            </a:r>
            <a:r>
              <a:rPr lang="zh-TW"/>
              <a:t>生理 (Chapter 6)</a:t>
            </a:r>
            <a:endParaRPr/>
          </a:p>
        </p:txBody>
      </p:sp>
      <p:sp>
        <p:nvSpPr>
          <p:cNvPr id="352" name="Google Shape;352;p53"/>
          <p:cNvSpPr txBox="1"/>
          <p:nvPr>
            <p:ph idx="2" type="body"/>
          </p:nvPr>
        </p:nvSpPr>
        <p:spPr>
          <a:xfrm>
            <a:off x="628650" y="1167940"/>
            <a:ext cx="7886700" cy="34647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zh-TW">
                <a:solidFill>
                  <a:srgbClr val="7F7F7F"/>
                </a:solidFill>
              </a:rPr>
              <a:t>較少討論 →</a:t>
            </a:r>
            <a:endParaRPr>
              <a:solidFill>
                <a:srgbClr val="7F7F7F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TW"/>
              <a:t>建立專門部分討論性別生理差異對  V˙O2max 與代謝的影響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6" name="Shape 3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" name="Google Shape;357;p54"/>
          <p:cNvSpPr txBox="1"/>
          <p:nvPr>
            <p:ph idx="1" type="body"/>
          </p:nvPr>
        </p:nvSpPr>
        <p:spPr>
          <a:xfrm>
            <a:off x="628649" y="4651772"/>
            <a:ext cx="7567800" cy="4917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8" name="Google Shape;358;p54"/>
          <p:cNvSpPr txBox="1"/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性別生理 (Chapter 6)</a:t>
            </a:r>
            <a:endParaRPr/>
          </a:p>
        </p:txBody>
      </p:sp>
      <p:sp>
        <p:nvSpPr>
          <p:cNvPr id="359" name="Google Shape;359;p54"/>
          <p:cNvSpPr txBox="1"/>
          <p:nvPr>
            <p:ph idx="2" type="body"/>
          </p:nvPr>
        </p:nvSpPr>
        <p:spPr>
          <a:xfrm>
            <a:off x="628650" y="1167940"/>
            <a:ext cx="7886700" cy="34647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800"/>
              </a:spcBef>
              <a:spcAft>
                <a:spcPts val="1200"/>
              </a:spcAft>
              <a:buNone/>
            </a:pPr>
            <a:r>
              <a:t/>
            </a:r>
            <a:endParaRPr>
              <a:solidFill>
                <a:srgbClr val="262626"/>
              </a:solidFill>
            </a:endParaRPr>
          </a:p>
        </p:txBody>
      </p:sp>
      <p:pic>
        <p:nvPicPr>
          <p:cNvPr descr="English, #FFFFFF background, illustrative, comparison, beautiful" id="360" name="Google Shape;360;p54"/>
          <p:cNvPicPr preferRelativeResize="0"/>
          <p:nvPr/>
        </p:nvPicPr>
        <p:blipFill rotWithShape="1">
          <a:blip r:embed="rId3">
            <a:alphaModFix/>
          </a:blip>
          <a:srcRect b="0" l="0" r="0" t="12542"/>
          <a:stretch/>
        </p:blipFill>
        <p:spPr>
          <a:xfrm>
            <a:off x="510425" y="1167950"/>
            <a:ext cx="8118424" cy="39649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English, #FFFFFF background, illustrative, comparison, beautiful" id="361" name="Google Shape;361;p54"/>
          <p:cNvPicPr preferRelativeResize="0"/>
          <p:nvPr/>
        </p:nvPicPr>
        <p:blipFill rotWithShape="1">
          <a:blip r:embed="rId3">
            <a:alphaModFix/>
          </a:blip>
          <a:srcRect b="70064" l="22509" r="22858" t="24713"/>
          <a:stretch/>
        </p:blipFill>
        <p:spPr>
          <a:xfrm>
            <a:off x="1309800" y="1765925"/>
            <a:ext cx="2792725" cy="14909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English, #FFFFFF background, illustrative, comparison, beautiful" id="362" name="Google Shape;362;p54"/>
          <p:cNvPicPr preferRelativeResize="0"/>
          <p:nvPr/>
        </p:nvPicPr>
        <p:blipFill rotWithShape="1">
          <a:blip r:embed="rId3">
            <a:alphaModFix/>
          </a:blip>
          <a:srcRect b="70064" l="22509" r="22858" t="24713"/>
          <a:stretch/>
        </p:blipFill>
        <p:spPr>
          <a:xfrm>
            <a:off x="5081700" y="1765925"/>
            <a:ext cx="2792725" cy="1490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6" name="Shape 3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7" name="Google Shape;367;p55"/>
          <p:cNvSpPr txBox="1"/>
          <p:nvPr>
            <p:ph idx="1" type="body"/>
          </p:nvPr>
        </p:nvSpPr>
        <p:spPr>
          <a:xfrm>
            <a:off x="628649" y="4651772"/>
            <a:ext cx="7567800" cy="4917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8" name="Google Shape;368;p55"/>
          <p:cNvSpPr txBox="1"/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性別生理 (Chapter 6)</a:t>
            </a:r>
            <a:endParaRPr/>
          </a:p>
        </p:txBody>
      </p:sp>
      <p:sp>
        <p:nvSpPr>
          <p:cNvPr id="369" name="Google Shape;369;p55"/>
          <p:cNvSpPr txBox="1"/>
          <p:nvPr>
            <p:ph idx="2" type="body"/>
          </p:nvPr>
        </p:nvSpPr>
        <p:spPr>
          <a:xfrm>
            <a:off x="628650" y="1167940"/>
            <a:ext cx="7886700" cy="34647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800"/>
              </a:spcBef>
              <a:spcAft>
                <a:spcPts val="1200"/>
              </a:spcAft>
              <a:buNone/>
            </a:pPr>
            <a:r>
              <a:t/>
            </a:r>
            <a:endParaRPr>
              <a:solidFill>
                <a:srgbClr val="262626"/>
              </a:solidFill>
            </a:endParaRPr>
          </a:p>
        </p:txBody>
      </p:sp>
      <p:pic>
        <p:nvPicPr>
          <p:cNvPr descr="English, #FFFFFF background, illustrative, comparison, beautiful" id="370" name="Google Shape;370;p55"/>
          <p:cNvPicPr preferRelativeResize="0"/>
          <p:nvPr/>
        </p:nvPicPr>
        <p:blipFill rotWithShape="1">
          <a:blip r:embed="rId3">
            <a:alphaModFix/>
          </a:blip>
          <a:srcRect b="0" l="0" r="0" t="13285"/>
          <a:stretch/>
        </p:blipFill>
        <p:spPr>
          <a:xfrm>
            <a:off x="415000" y="1119750"/>
            <a:ext cx="8309274" cy="402375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English, #FFFFFF background, illustrative, comparison, beautiful" id="371" name="Google Shape;371;p55"/>
          <p:cNvPicPr preferRelativeResize="0"/>
          <p:nvPr/>
        </p:nvPicPr>
        <p:blipFill rotWithShape="1">
          <a:blip r:embed="rId4">
            <a:alphaModFix/>
          </a:blip>
          <a:srcRect b="70064" l="22509" r="22858" t="24713"/>
          <a:stretch/>
        </p:blipFill>
        <p:spPr>
          <a:xfrm>
            <a:off x="1210075" y="1709100"/>
            <a:ext cx="2755126" cy="14707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English, #FFFFFF background, illustrative, comparison, beautiful" id="372" name="Google Shape;372;p55"/>
          <p:cNvPicPr preferRelativeResize="0"/>
          <p:nvPr/>
        </p:nvPicPr>
        <p:blipFill rotWithShape="1">
          <a:blip r:embed="rId4">
            <a:alphaModFix/>
          </a:blip>
          <a:srcRect b="70064" l="22509" r="22858" t="24713"/>
          <a:stretch/>
        </p:blipFill>
        <p:spPr>
          <a:xfrm>
            <a:off x="5159600" y="1709100"/>
            <a:ext cx="2755126" cy="147074"/>
          </a:xfrm>
          <a:prstGeom prst="rect">
            <a:avLst/>
          </a:prstGeom>
          <a:noFill/>
          <a:ln>
            <a:noFill/>
          </a:ln>
        </p:spPr>
      </p:pic>
      <p:pic>
        <p:nvPicPr>
          <p:cNvPr id="373" name="Google Shape;373;p5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472068" y="2941000"/>
            <a:ext cx="515300" cy="162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74" name="Google Shape;374;p5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279468" y="2928500"/>
            <a:ext cx="515300" cy="162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378" name="Shape 3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" name="Google Shape;379;p56"/>
          <p:cNvSpPr txBox="1"/>
          <p:nvPr>
            <p:ph idx="1" type="body"/>
          </p:nvPr>
        </p:nvSpPr>
        <p:spPr>
          <a:xfrm>
            <a:off x="628649" y="4651772"/>
            <a:ext cx="7567800" cy="4917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0" name="Google Shape;380;p56"/>
          <p:cNvSpPr txBox="1"/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性別生理 (Chapter 6)</a:t>
            </a:r>
            <a:endParaRPr/>
          </a:p>
        </p:txBody>
      </p:sp>
      <p:sp>
        <p:nvSpPr>
          <p:cNvPr id="381" name="Google Shape;381;p56"/>
          <p:cNvSpPr txBox="1"/>
          <p:nvPr>
            <p:ph idx="2" type="body"/>
          </p:nvPr>
        </p:nvSpPr>
        <p:spPr>
          <a:xfrm>
            <a:off x="628650" y="1167940"/>
            <a:ext cx="7886700" cy="34647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rmAutofit lnSpcReduction="20000"/>
          </a:bodyPr>
          <a:lstStyle/>
          <a:p>
            <a:pPr indent="-361950" lvl="0" marL="457200" rtl="0" algn="l">
              <a:spcBef>
                <a:spcPts val="800"/>
              </a:spcBef>
              <a:spcAft>
                <a:spcPts val="0"/>
              </a:spcAft>
              <a:buClr>
                <a:srgbClr val="262626"/>
              </a:buClr>
              <a:buSzPts val="2100"/>
              <a:buChar char="●"/>
            </a:pPr>
            <a:r>
              <a:rPr lang="zh-TW">
                <a:solidFill>
                  <a:srgbClr val="262626"/>
                </a:solidFill>
              </a:rPr>
              <a:t>對</a:t>
            </a:r>
            <a:r>
              <a:rPr b="1" lang="zh-TW">
                <a:solidFill>
                  <a:srgbClr val="262626"/>
                </a:solidFill>
              </a:rPr>
              <a:t>最大攝氧量 ( V˙O 2 max) </a:t>
            </a:r>
            <a:r>
              <a:rPr lang="zh-TW">
                <a:solidFill>
                  <a:srgbClr val="262626"/>
                </a:solidFill>
              </a:rPr>
              <a:t>的影響</a:t>
            </a:r>
            <a:endParaRPr>
              <a:solidFill>
                <a:srgbClr val="262626"/>
              </a:solidFill>
            </a:endParaRPr>
          </a:p>
          <a:p>
            <a:pPr indent="-361950" lvl="0" marL="457200" rtl="0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2100"/>
              <a:buChar char="●"/>
            </a:pPr>
            <a:r>
              <a:rPr lang="zh-TW">
                <a:solidFill>
                  <a:srgbClr val="262626"/>
                </a:solidFill>
              </a:rPr>
              <a:t>在相同年齡與訓練狀態下，男性的 VO2max 通常比女性高出 10%–30%。這種差異主要源於以下生理基礎：</a:t>
            </a:r>
            <a:endParaRPr>
              <a:solidFill>
                <a:srgbClr val="262626"/>
              </a:solidFill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800"/>
              <a:buChar char="○"/>
            </a:pPr>
            <a:r>
              <a:rPr b="1" lang="zh-TW">
                <a:solidFill>
                  <a:srgbClr val="262626"/>
                </a:solidFill>
              </a:rPr>
              <a:t>心血管因素</a:t>
            </a:r>
            <a:r>
              <a:rPr lang="zh-TW">
                <a:solidFill>
                  <a:srgbClr val="262626"/>
                </a:solidFill>
              </a:rPr>
              <a:t>： 男性擁有較大的心臟質量（左心室質量）與心室容積，這使得男性在運動時具備較大的每搏輸出量（Stroke Volume）與心輸出量。相較之下，女性對長期耐力訓練的心血管反應較為遲鈍，心搏量通常在訓練 9 個月後達到平台期，而男性則持續增加。</a:t>
            </a:r>
            <a:endParaRPr>
              <a:solidFill>
                <a:srgbClr val="262626"/>
              </a:solidFill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800"/>
              <a:buChar char="○"/>
            </a:pPr>
            <a:r>
              <a:rPr b="1" lang="zh-TW">
                <a:solidFill>
                  <a:srgbClr val="262626"/>
                </a:solidFill>
              </a:rPr>
              <a:t>血液含氧能力</a:t>
            </a:r>
            <a:r>
              <a:rPr lang="zh-TW">
                <a:solidFill>
                  <a:srgbClr val="262626"/>
                </a:solidFill>
              </a:rPr>
              <a:t>： 男性血端的血紅素（Hemoglobin）濃度與總量較高，因此具備較強的血液攜氧能力。</a:t>
            </a:r>
            <a:endParaRPr>
              <a:solidFill>
                <a:srgbClr val="262626"/>
              </a:solidFill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800"/>
              <a:buChar char="○"/>
            </a:pPr>
            <a:r>
              <a:rPr b="1" lang="zh-TW">
                <a:solidFill>
                  <a:srgbClr val="262626"/>
                </a:solidFill>
              </a:rPr>
              <a:t>呼吸系統</a:t>
            </a:r>
            <a:r>
              <a:rPr lang="zh-TW">
                <a:solidFill>
                  <a:srgbClr val="262626"/>
                </a:solidFill>
              </a:rPr>
              <a:t>： 男性的肺容量較大，有利於氣體交換。</a:t>
            </a:r>
            <a:endParaRPr>
              <a:solidFill>
                <a:srgbClr val="262626"/>
              </a:solidFill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800"/>
              <a:buChar char="○"/>
            </a:pPr>
            <a:r>
              <a:rPr b="1" lang="zh-TW">
                <a:solidFill>
                  <a:srgbClr val="262626"/>
                </a:solidFill>
              </a:rPr>
              <a:t>訓練適應性</a:t>
            </a:r>
            <a:r>
              <a:rPr lang="zh-TW">
                <a:solidFill>
                  <a:srgbClr val="262626"/>
                </a:solidFill>
              </a:rPr>
              <a:t>： 雖然短期訓練（~12 週）男女在攝氧量提升的「百分比」上相似，但長期來看，女性的適應反應可能較早進入平台期（約 3 個月），而男性的心臟結構重塑與攝氧量增加可持續更久。</a:t>
            </a:r>
            <a:endParaRPr>
              <a:solidFill>
                <a:srgbClr val="262626"/>
              </a:solidFill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385" name="Shape 3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6" name="Google Shape;386;p57"/>
          <p:cNvSpPr txBox="1"/>
          <p:nvPr>
            <p:ph idx="1" type="body"/>
          </p:nvPr>
        </p:nvSpPr>
        <p:spPr>
          <a:xfrm>
            <a:off x="628649" y="4651772"/>
            <a:ext cx="7567800" cy="4917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7" name="Google Shape;387;p57"/>
          <p:cNvSpPr txBox="1"/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性別生理 (Chapter 6)</a:t>
            </a:r>
            <a:endParaRPr/>
          </a:p>
        </p:txBody>
      </p:sp>
      <p:sp>
        <p:nvSpPr>
          <p:cNvPr id="388" name="Google Shape;388;p57"/>
          <p:cNvSpPr txBox="1"/>
          <p:nvPr>
            <p:ph idx="2" type="body"/>
          </p:nvPr>
        </p:nvSpPr>
        <p:spPr>
          <a:xfrm>
            <a:off x="628650" y="1167940"/>
            <a:ext cx="7886700" cy="34647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rmAutofit fontScale="92500"/>
          </a:bodyPr>
          <a:lstStyle/>
          <a:p>
            <a:pPr indent="-351949" lvl="0" marL="457200" rtl="0" algn="l">
              <a:spcBef>
                <a:spcPts val="800"/>
              </a:spcBef>
              <a:spcAft>
                <a:spcPts val="0"/>
              </a:spcAft>
              <a:buClr>
                <a:srgbClr val="262626"/>
              </a:buClr>
              <a:buSzPct val="116667"/>
              <a:buChar char="●"/>
            </a:pPr>
            <a:r>
              <a:rPr lang="zh-TW">
                <a:solidFill>
                  <a:srgbClr val="262626"/>
                </a:solidFill>
              </a:rPr>
              <a:t>持續進步的項目： 在為期一年的有氧訓練研究中，男性的絕對最大攝氧量進步程度大於女性。這種進步的差異源於男性擁有更顯著的左右心室肥大重塑反應（Hypertrophic remodeling），其</a:t>
            </a:r>
            <a:r>
              <a:rPr b="1" lang="zh-TW">
                <a:solidFill>
                  <a:srgbClr val="262626"/>
                </a:solidFill>
              </a:rPr>
              <a:t>心搏量（Stroke volume）</a:t>
            </a:r>
            <a:r>
              <a:rPr lang="zh-TW">
                <a:solidFill>
                  <a:srgbClr val="262626"/>
                </a:solidFill>
              </a:rPr>
              <a:t>在長達一年的訓練中持續增加，而女性的心搏量在訓練 9 個月後就趨於穩定。</a:t>
            </a:r>
            <a:endParaRPr>
              <a:solidFill>
                <a:srgbClr val="262626"/>
              </a:solidFill>
            </a:endParaRPr>
          </a:p>
          <a:p>
            <a:pPr indent="-351949" lvl="0" marL="457200" rtl="0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ct val="116667"/>
              <a:buChar char="●"/>
            </a:pPr>
            <a:r>
              <a:rPr lang="zh-TW">
                <a:solidFill>
                  <a:srgbClr val="262626"/>
                </a:solidFill>
              </a:rPr>
              <a:t>平台期的差異： 女性在開始訓練後約 3 個月就會進入平台期，而男性的進步則可持續長達 9 個月。</a:t>
            </a:r>
            <a:endParaRPr>
              <a:solidFill>
                <a:srgbClr val="262626"/>
              </a:solidFill>
            </a:endParaRPr>
          </a:p>
          <a:p>
            <a:pPr indent="-351949" lvl="0" marL="457200" rtl="0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ct val="116667"/>
              <a:buChar char="●"/>
            </a:pPr>
            <a:r>
              <a:rPr lang="zh-TW">
                <a:solidFill>
                  <a:srgbClr val="262626"/>
                </a:solidFill>
              </a:rPr>
              <a:t>容易展現此特徵的族群： 這種長期進步的特徵主要出現在接受長期（達一年）且密集監督的有氧耐力訓練者。來源提到這可能與男性體內較高濃度的</a:t>
            </a:r>
            <a:r>
              <a:rPr b="1" lang="zh-TW">
                <a:solidFill>
                  <a:srgbClr val="262626"/>
                </a:solidFill>
              </a:rPr>
              <a:t>睪固酮（Testosterone）</a:t>
            </a:r>
            <a:r>
              <a:rPr lang="zh-TW">
                <a:solidFill>
                  <a:srgbClr val="262626"/>
                </a:solidFill>
              </a:rPr>
              <a:t>有關，該荷爾蒙參與了心血管的適應過程。</a:t>
            </a:r>
            <a:endParaRPr>
              <a:solidFill>
                <a:srgbClr val="262626"/>
              </a:solidFill>
            </a:endParaRPr>
          </a:p>
          <a:p>
            <a:pPr indent="-351949" lvl="0" marL="457200" rtl="0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ct val="116667"/>
              <a:buChar char="●"/>
            </a:pPr>
            <a:r>
              <a:rPr lang="zh-TW">
                <a:solidFill>
                  <a:srgbClr val="262626"/>
                </a:solidFill>
              </a:rPr>
              <a:t>來源中的具體文獻引用 (Reference)： 此項關於男女長期進步差異的結論，主要是基於來源中引用的 Howden et al. (2015) 研究。</a:t>
            </a:r>
            <a:endParaRPr>
              <a:solidFill>
                <a:srgbClr val="262626"/>
              </a:solidFill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392" name="Shape 3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3" name="Google Shape;393;p58"/>
          <p:cNvSpPr txBox="1"/>
          <p:nvPr>
            <p:ph idx="1" type="body"/>
          </p:nvPr>
        </p:nvSpPr>
        <p:spPr>
          <a:xfrm>
            <a:off x="628649" y="4651772"/>
            <a:ext cx="7567800" cy="4917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4" name="Google Shape;394;p58"/>
          <p:cNvSpPr txBox="1"/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性別生理 (Chapter 6)</a:t>
            </a:r>
            <a:endParaRPr/>
          </a:p>
        </p:txBody>
      </p:sp>
      <p:sp>
        <p:nvSpPr>
          <p:cNvPr id="395" name="Google Shape;395;p58"/>
          <p:cNvSpPr txBox="1"/>
          <p:nvPr>
            <p:ph idx="2" type="body"/>
          </p:nvPr>
        </p:nvSpPr>
        <p:spPr>
          <a:xfrm>
            <a:off x="628650" y="1167940"/>
            <a:ext cx="7886700" cy="34647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rmAutofit lnSpcReduction="10000"/>
          </a:bodyPr>
          <a:lstStyle/>
          <a:p>
            <a:pPr indent="-361950" lvl="0" marL="457200" rtl="0" algn="l">
              <a:spcBef>
                <a:spcPts val="800"/>
              </a:spcBef>
              <a:spcAft>
                <a:spcPts val="0"/>
              </a:spcAft>
              <a:buClr>
                <a:srgbClr val="262626"/>
              </a:buClr>
              <a:buSzPts val="2100"/>
              <a:buChar char="●"/>
            </a:pPr>
            <a:r>
              <a:rPr lang="zh-TW">
                <a:solidFill>
                  <a:srgbClr val="262626"/>
                </a:solidFill>
              </a:rPr>
              <a:t>對</a:t>
            </a:r>
            <a:r>
              <a:rPr b="1" lang="zh-TW">
                <a:solidFill>
                  <a:srgbClr val="262626"/>
                </a:solidFill>
              </a:rPr>
              <a:t>代謝（Fuel Metabolism）</a:t>
            </a:r>
            <a:r>
              <a:rPr lang="zh-TW">
                <a:solidFill>
                  <a:srgbClr val="262626"/>
                </a:solidFill>
              </a:rPr>
              <a:t>的影響</a:t>
            </a:r>
            <a:endParaRPr>
              <a:solidFill>
                <a:srgbClr val="262626"/>
              </a:solidFill>
            </a:endParaRPr>
          </a:p>
          <a:p>
            <a:pPr indent="-361950" lvl="0" marL="457200" rtl="0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2100"/>
              <a:buChar char="●"/>
            </a:pPr>
            <a:r>
              <a:rPr lang="zh-TW">
                <a:solidFill>
                  <a:srgbClr val="262626"/>
                </a:solidFill>
              </a:rPr>
              <a:t>男女在運動期間的能量利用存在明顯差異：</a:t>
            </a:r>
            <a:endParaRPr>
              <a:solidFill>
                <a:srgbClr val="262626"/>
              </a:solidFill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800"/>
              <a:buChar char="○"/>
            </a:pPr>
            <a:r>
              <a:rPr b="1" lang="zh-TW">
                <a:solidFill>
                  <a:srgbClr val="262626"/>
                </a:solidFill>
              </a:rPr>
              <a:t>氧化偏好</a:t>
            </a:r>
            <a:r>
              <a:rPr lang="zh-TW">
                <a:solidFill>
                  <a:srgbClr val="262626"/>
                </a:solidFill>
              </a:rPr>
              <a:t>： 在相同運動強度下，女性氧化脂肪的比例較高，而氧化碳水化合物與蛋白質的比例較低。</a:t>
            </a:r>
            <a:endParaRPr>
              <a:solidFill>
                <a:srgbClr val="262626"/>
              </a:solidFill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800"/>
              <a:buChar char="○"/>
            </a:pPr>
            <a:r>
              <a:rPr b="1" lang="zh-TW">
                <a:solidFill>
                  <a:srgbClr val="262626"/>
                </a:solidFill>
              </a:rPr>
              <a:t>代謝轉換點（Crossover）</a:t>
            </a:r>
            <a:r>
              <a:rPr lang="zh-TW">
                <a:solidFill>
                  <a:srgbClr val="262626"/>
                </a:solidFill>
              </a:rPr>
              <a:t>： 在運動強度增加的過程中，男性比女性更早從脂肪代謝轉換為碳水化合物代謝。</a:t>
            </a:r>
            <a:endParaRPr>
              <a:solidFill>
                <a:srgbClr val="262626"/>
              </a:solidFill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800"/>
              <a:buChar char="○"/>
            </a:pPr>
            <a:r>
              <a:rPr b="1" lang="zh-TW">
                <a:solidFill>
                  <a:srgbClr val="262626"/>
                </a:solidFill>
              </a:rPr>
              <a:t>肌肉纖維特性</a:t>
            </a:r>
            <a:r>
              <a:rPr lang="zh-TW">
                <a:solidFill>
                  <a:srgbClr val="262626"/>
                </a:solidFill>
              </a:rPr>
              <a:t>： 這種代謝差異可能與肌肉纖維類型有關。男性擁有較大比例的快速收縮纖維（Type II fibers）面積，具備更強的糖解能力（Glycolytic capacity）；而女性的肌肉特性則使其在慢速動態縮收或靜態收縮中較不易疲勞（Less fatigable）。</a:t>
            </a:r>
            <a:endParaRPr>
              <a:solidFill>
                <a:srgbClr val="262626"/>
              </a:solidFill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800"/>
              <a:buChar char="○"/>
            </a:pPr>
            <a:r>
              <a:rPr b="1" lang="zh-TW">
                <a:solidFill>
                  <a:srgbClr val="262626"/>
                </a:solidFill>
              </a:rPr>
              <a:t>體重與能量平衡反應</a:t>
            </a:r>
            <a:r>
              <a:rPr lang="zh-TW">
                <a:solidFill>
                  <a:srgbClr val="262626"/>
                </a:solidFill>
              </a:rPr>
              <a:t>： 進行有氧訓練時，男性通常比女性表現出更顯著的體重減輕效果。這是因為女性在面對運動導致的能量消耗時，生理補償反應（如食慾調節）較強，以維持能量平衡。</a:t>
            </a:r>
            <a:endParaRPr>
              <a:solidFill>
                <a:srgbClr val="262626"/>
              </a:solidFill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9" name="Shape 3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0" name="Google Shape;400;p59"/>
          <p:cNvSpPr txBox="1"/>
          <p:nvPr>
            <p:ph idx="1" type="body"/>
          </p:nvPr>
        </p:nvSpPr>
        <p:spPr>
          <a:xfrm>
            <a:off x="628649" y="4651772"/>
            <a:ext cx="7567800" cy="4917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1" name="Google Shape;401;p59"/>
          <p:cNvSpPr txBox="1"/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心臟復健 (Chapter 8)</a:t>
            </a:r>
            <a:endParaRPr/>
          </a:p>
        </p:txBody>
      </p:sp>
      <p:pic>
        <p:nvPicPr>
          <p:cNvPr id="402" name="Google Shape;402;p5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472068" y="2941000"/>
            <a:ext cx="515300" cy="162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03" name="Google Shape;403;p5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279468" y="2928500"/>
            <a:ext cx="515300" cy="1623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english, illustrative, #FFFFFF, beautify" id="404" name="Google Shape;404;p5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055425" y="1146325"/>
            <a:ext cx="7033151" cy="3927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8" name="Shape 4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" name="Google Shape;409;p60"/>
          <p:cNvSpPr txBox="1"/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ACSM 11th vs 12th</a:t>
            </a:r>
            <a:endParaRPr/>
          </a:p>
        </p:txBody>
      </p:sp>
      <p:graphicFrame>
        <p:nvGraphicFramePr>
          <p:cNvPr id="410" name="Google Shape;410;p60"/>
          <p:cNvGraphicFramePr/>
          <p:nvPr/>
        </p:nvGraphicFramePr>
        <p:xfrm>
          <a:off x="4750" y="0"/>
          <a:ext cx="3000000" cy="3000000"/>
        </p:xfrm>
        <a:graphic>
          <a:graphicData uri="http://schemas.openxmlformats.org/drawingml/2006/table">
            <a:tbl>
              <a:tblPr>
                <a:solidFill>
                  <a:srgbClr val="FFFFFF"/>
                </a:solidFill>
                <a:tableStyleId>{27DDFD0E-D07E-4245-9B5E-44F62409D258}</a:tableStyleId>
              </a:tblPr>
              <a:tblGrid>
                <a:gridCol w="1574650"/>
                <a:gridCol w="1195025"/>
                <a:gridCol w="1845125"/>
                <a:gridCol w="4519675"/>
              </a:tblGrid>
              <a:tr h="1083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1000"/>
                        <a:t>比較項目</a:t>
                      </a:r>
                      <a:endParaRPr b="1" sz="1000"/>
                    </a:p>
                  </a:txBody>
                  <a:tcPr marT="91425" marB="91425" marR="91425" marL="91425">
                    <a:lnL cap="flat" cmpd="sng" w="10575">
                      <a:solidFill>
                        <a:srgbClr val="CDD2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CDD2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CDD2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CDD2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1000"/>
                        <a:t>第 11 版 (2021)</a:t>
                      </a:r>
                      <a:endParaRPr b="1" sz="1000"/>
                    </a:p>
                  </a:txBody>
                  <a:tcPr marT="91425" marB="91425" marR="91425" marL="91425">
                    <a:lnL cap="flat" cmpd="sng" w="10575">
                      <a:solidFill>
                        <a:srgbClr val="CDD2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CDD2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CDD2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CDD2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1000"/>
                        <a:t>第 12 版 (2025/2026)</a:t>
                      </a:r>
                      <a:endParaRPr b="1" sz="1000"/>
                    </a:p>
                  </a:txBody>
                  <a:tcPr marT="91425" marB="91425" marR="91425" marL="91425">
                    <a:lnL cap="flat" cmpd="sng" w="10575">
                      <a:solidFill>
                        <a:srgbClr val="CDD2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CDD2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CDD2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CDD2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1000"/>
                        <a:t>臨床意義與更新重點</a:t>
                      </a:r>
                      <a:endParaRPr b="1" sz="1000"/>
                    </a:p>
                  </a:txBody>
                  <a:tcPr marT="91425" marB="91425" marR="91425" marL="91425">
                    <a:lnL cap="flat" cmpd="sng" w="10575">
                      <a:solidFill>
                        <a:srgbClr val="CDD2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CDD2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CDD2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CDD2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245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1000"/>
                        <a:t>Chapter 8: 心血管/肺部</a:t>
                      </a:r>
                      <a:endParaRPr b="1" sz="1000"/>
                    </a:p>
                  </a:txBody>
                  <a:tcPr marT="91425" marB="91425" marR="91425" marL="91425">
                    <a:lnL cap="flat" cmpd="sng" w="10575">
                      <a:solidFill>
                        <a:srgbClr val="CDD2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CDD2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CDD2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CDD2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91425" marB="91425" marR="91425" marL="91425">
                    <a:lnL cap="flat" cmpd="sng" w="10575">
                      <a:solidFill>
                        <a:srgbClr val="CDD2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CDD2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CDD2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CDD2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91425" marB="91425" marR="91425" marL="91425">
                    <a:lnL cap="flat" cmpd="sng" w="10575">
                      <a:solidFill>
                        <a:srgbClr val="CDD2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CDD2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CDD2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CDD2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91425" marB="91425" marR="91425" marL="91425">
                    <a:lnL cap="flat" cmpd="sng" w="10575">
                      <a:solidFill>
                        <a:srgbClr val="CDD2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CDD2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CDD2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CDD2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478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000"/>
                        <a:t>SCAD (自發性冠狀動脈夾層)</a:t>
                      </a:r>
                      <a:endParaRPr sz="1000"/>
                    </a:p>
                  </a:txBody>
                  <a:tcPr marT="91425" marB="91425" marR="91425" marL="91425">
                    <a:lnL cap="flat" cmpd="sng" w="10575">
                      <a:solidFill>
                        <a:srgbClr val="CDD2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CDD2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CDD2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CDD2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000"/>
                        <a:t>未獨立討論 (歸類於 ACS/MI)。</a:t>
                      </a:r>
                      <a:endParaRPr sz="1000"/>
                    </a:p>
                  </a:txBody>
                  <a:tcPr marT="91425" marB="91425" marR="91425" marL="91425">
                    <a:lnL cap="flat" cmpd="sng" w="10575">
                      <a:solidFill>
                        <a:srgbClr val="CDD2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CDD2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CDD2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CDD2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000"/>
                        <a:t>新增獨立章節。</a:t>
                      </a:r>
                      <a:endParaRPr sz="1000"/>
                    </a:p>
                  </a:txBody>
                  <a:tcPr marT="91425" marB="91425" marR="91425" marL="91425">
                    <a:lnL cap="flat" cmpd="sng" w="10575">
                      <a:solidFill>
                        <a:srgbClr val="CDD2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CDD2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CDD2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CDD2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000"/>
                        <a:t>針對此特殊病理（血管脆弱）提供指引：避免高強度、避免 Valsalva 動作、避免頸部劇烈活動。建議維持中等強度運動（RPE 12-14）。</a:t>
                      </a:r>
                      <a:endParaRPr sz="1000"/>
                    </a:p>
                  </a:txBody>
                  <a:tcPr marT="91425" marB="91425" marR="91425" marL="91425">
                    <a:lnL cap="flat" cmpd="sng" w="10575">
                      <a:solidFill>
                        <a:srgbClr val="CDD2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CDD2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CDD2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CDD2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245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000"/>
                        <a:t>POTS (姿勢性心搏過速)</a:t>
                      </a:r>
                      <a:endParaRPr sz="1000"/>
                    </a:p>
                  </a:txBody>
                  <a:tcPr marT="91425" marB="91425" marR="91425" marL="91425">
                    <a:lnL cap="flat" cmpd="sng" w="10575">
                      <a:solidFill>
                        <a:srgbClr val="CDD2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CDD2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CDD2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CDD2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000"/>
                        <a:t>未獨立討論。</a:t>
                      </a:r>
                      <a:endParaRPr sz="1000"/>
                    </a:p>
                  </a:txBody>
                  <a:tcPr marT="91425" marB="91425" marR="91425" marL="91425">
                    <a:lnL cap="flat" cmpd="sng" w="10575">
                      <a:solidFill>
                        <a:srgbClr val="CDD2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CDD2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CDD2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CDD2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000"/>
                        <a:t>新增獨立章節。</a:t>
                      </a:r>
                      <a:endParaRPr sz="1000"/>
                    </a:p>
                  </a:txBody>
                  <a:tcPr marT="91425" marB="91425" marR="91425" marL="91425">
                    <a:lnL cap="flat" cmpd="sng" w="10575">
                      <a:solidFill>
                        <a:srgbClr val="CDD2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CDD2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CDD2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CDD2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000"/>
                        <a:t>提供具體的「臥式 -&gt; 直立」漸進式運動方案，強調非直立式有氧運動的重要性。</a:t>
                      </a:r>
                      <a:endParaRPr sz="1000"/>
                    </a:p>
                  </a:txBody>
                  <a:tcPr marT="91425" marB="91425" marR="91425" marL="91425">
                    <a:lnL cap="flat" cmpd="sng" w="10575">
                      <a:solidFill>
                        <a:srgbClr val="CDD2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CDD2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CDD2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CDD2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083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000"/>
                        <a:t>小兒心臟復健</a:t>
                      </a:r>
                      <a:endParaRPr sz="1000"/>
                    </a:p>
                  </a:txBody>
                  <a:tcPr marT="91425" marB="91425" marR="91425" marL="91425">
                    <a:lnL cap="flat" cmpd="sng" w="10575">
                      <a:solidFill>
                        <a:srgbClr val="CDD2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CDD2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CDD2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CDD2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000"/>
                        <a:t>較少提及。</a:t>
                      </a:r>
                      <a:endParaRPr sz="1000"/>
                    </a:p>
                  </a:txBody>
                  <a:tcPr marT="91425" marB="91425" marR="91425" marL="91425">
                    <a:lnL cap="flat" cmpd="sng" w="10575">
                      <a:solidFill>
                        <a:srgbClr val="CDD2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CDD2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CDD2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CDD2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000"/>
                        <a:t>新增獨立章節。</a:t>
                      </a:r>
                      <a:endParaRPr sz="1000"/>
                    </a:p>
                  </a:txBody>
                  <a:tcPr marT="91425" marB="91425" marR="91425" marL="91425">
                    <a:lnL cap="flat" cmpd="sng" w="10575">
                      <a:solidFill>
                        <a:srgbClr val="CDD2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CDD2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CDD2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CDD2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000"/>
                        <a:t>針對兒童先天性心臟病的特殊運動需求提供指引。</a:t>
                      </a:r>
                      <a:endParaRPr sz="1000"/>
                    </a:p>
                  </a:txBody>
                  <a:tcPr marT="91425" marB="91425" marR="91425" marL="91425">
                    <a:lnL cap="flat" cmpd="sng" w="10575">
                      <a:solidFill>
                        <a:srgbClr val="CDD2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CDD2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CDD2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CDD2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245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000"/>
                        <a:t>肺部復健</a:t>
                      </a:r>
                      <a:endParaRPr sz="1000"/>
                    </a:p>
                  </a:txBody>
                  <a:tcPr marT="91425" marB="91425" marR="91425" marL="91425">
                    <a:lnL cap="flat" cmpd="sng" w="10575">
                      <a:solidFill>
                        <a:srgbClr val="CDD2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CDD2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CDD2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CDD2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000"/>
                        <a:t>聚焦於 COPD, 氣喘等傳統運動。</a:t>
                      </a:r>
                      <a:endParaRPr sz="1000"/>
                    </a:p>
                  </a:txBody>
                  <a:tcPr marT="91425" marB="91425" marR="91425" marL="91425">
                    <a:lnL cap="flat" cmpd="sng" w="10575">
                      <a:solidFill>
                        <a:srgbClr val="CDD2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CDD2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CDD2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CDD2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000"/>
                        <a:t>新增呼吸肌訓練 (RMT)。</a:t>
                      </a:r>
                      <a:endParaRPr sz="1000"/>
                    </a:p>
                  </a:txBody>
                  <a:tcPr marT="91425" marB="91425" marR="91425" marL="91425">
                    <a:lnL cap="flat" cmpd="sng" w="10575">
                      <a:solidFill>
                        <a:srgbClr val="CDD2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CDD2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CDD2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CDD2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000"/>
                        <a:t>加入呼吸肌肌力測試 (MIP/MEP) 與訓練處方，作為傳統全身性運動的輔助。</a:t>
                      </a:r>
                      <a:endParaRPr sz="1000"/>
                    </a:p>
                  </a:txBody>
                  <a:tcPr marT="91425" marB="91425" marR="91425" marL="91425">
                    <a:lnL cap="flat" cmpd="sng" w="10575">
                      <a:solidFill>
                        <a:srgbClr val="CDD2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CDD2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CDD2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CDD2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317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000"/>
                        <a:t>心臟衰竭 (HF)</a:t>
                      </a:r>
                      <a:endParaRPr sz="1000"/>
                    </a:p>
                  </a:txBody>
                  <a:tcPr marT="91425" marB="91425" marR="91425" marL="91425">
                    <a:lnL cap="flat" cmpd="sng" w="10575">
                      <a:solidFill>
                        <a:srgbClr val="CDD2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CDD2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CDD2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CDD2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000"/>
                        <a:t>討論 HFrEF/HFpEF。</a:t>
                      </a:r>
                      <a:endParaRPr sz="1000"/>
                    </a:p>
                  </a:txBody>
                  <a:tcPr marT="91425" marB="91425" marR="91425" marL="91425">
                    <a:lnL cap="flat" cmpd="sng" w="10575">
                      <a:solidFill>
                        <a:srgbClr val="CDD2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CDD2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CDD2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CDD2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000"/>
                        <a:t>更新關於 LVAD (左心室輔助器) 的內容。</a:t>
                      </a:r>
                      <a:endParaRPr sz="1000"/>
                    </a:p>
                  </a:txBody>
                  <a:tcPr marT="91425" marB="91425" marR="91425" marL="91425">
                    <a:lnL cap="flat" cmpd="sng" w="10575">
                      <a:solidFill>
                        <a:srgbClr val="CDD2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CDD2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CDD2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CDD2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000"/>
                        <a:t>更新 LVAD 患者的運動強度監控（心率可能線性增加）。</a:t>
                      </a:r>
                      <a:br>
                        <a:rPr lang="zh-TW" sz="1000"/>
                      </a:br>
                      <a:r>
                        <a:rPr lang="zh-TW" sz="1000"/>
                        <a:t>建議使用 RPE (11-13) 或 Talk Test 指導強度。</a:t>
                      </a:r>
                      <a:endParaRPr sz="1000"/>
                    </a:p>
                  </a:txBody>
                  <a:tcPr marT="91425" marB="91425" marR="91425" marL="91425">
                    <a:lnL cap="flat" cmpd="sng" w="10575">
                      <a:solidFill>
                        <a:srgbClr val="CDD2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CDD2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CDD2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CDD2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317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1000">
                          <a:solidFill>
                            <a:schemeClr val="dk1"/>
                          </a:solidFill>
                        </a:rPr>
                        <a:t>Chapter 9: 代謝疾病</a:t>
                      </a:r>
                      <a:endParaRPr sz="1000"/>
                    </a:p>
                  </a:txBody>
                  <a:tcPr marT="91425" marB="91425" marR="91425" marL="91425">
                    <a:lnL cap="flat" cmpd="sng" w="10575">
                      <a:solidFill>
                        <a:srgbClr val="CDD2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CDD2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CDD2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CDD2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zh-TW" sz="1000">
                          <a:solidFill>
                            <a:schemeClr val="dk1"/>
                          </a:solidFill>
                        </a:rPr>
                        <a:t>糖尿病、血脂異常、高血壓、代謝症候群</a:t>
                      </a:r>
                      <a:endParaRPr sz="1000"/>
                    </a:p>
                  </a:txBody>
                  <a:tcPr marT="91425" marB="91425" marR="91425" marL="91425">
                    <a:lnL cap="flat" cmpd="sng" w="10575">
                      <a:solidFill>
                        <a:srgbClr val="CDD2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CDD2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CDD2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CDD2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000"/>
                        <a:t>1. 新增「代謝功能障礙相關脂肪性肝病 (MASLD)」,（舊稱 NAFLD）</a:t>
                      </a:r>
                      <a:endParaRPr sz="1000"/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000"/>
                        <a:t>2. 更新糖尿病與減重。</a:t>
                      </a:r>
                      <a:endParaRPr sz="1000"/>
                    </a:p>
                  </a:txBody>
                  <a:tcPr marT="91425" marB="91425" marR="91425" marL="91425">
                    <a:lnL cap="flat" cmpd="sng" w="10575">
                      <a:solidFill>
                        <a:srgbClr val="CDD2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CDD2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CDD2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CDD2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000"/>
                        <a:t>即使體重未顯著減輕，規律運動（150分鐘中強度有氧/週）也能改善肝臟脂肪與發炎。</a:t>
                      </a:r>
                      <a:endParaRPr sz="1000"/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zh-TW" sz="1000">
                          <a:solidFill>
                            <a:schemeClr val="dk1"/>
                          </a:solidFill>
                        </a:rPr>
                        <a:t>重點在於血糖監控與避免低血糖。阻力訓練降低糖化血色素（A1C），但有氧運動對提升 CRF（心肺適能）更佳，建議合併進行。</a:t>
                      </a:r>
                      <a:endParaRPr sz="1000"/>
                    </a:p>
                  </a:txBody>
                  <a:tcPr marT="91425" marB="91425" marR="91425" marL="91425">
                    <a:lnL cap="flat" cmpd="sng" w="10575">
                      <a:solidFill>
                        <a:srgbClr val="CDD2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CDD2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CDD2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CDD2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317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1000"/>
                        <a:t>Chapter 10: 其他慢性疾病</a:t>
                      </a:r>
                      <a:endParaRPr b="1" sz="1000"/>
                    </a:p>
                  </a:txBody>
                  <a:tcPr marT="91425" marB="91425" marR="91425" marL="91425">
                    <a:lnL cap="flat" cmpd="sng" w="10575">
                      <a:solidFill>
                        <a:srgbClr val="CDD2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CDD2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CDD2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CDD2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zh-TW" sz="1000">
                          <a:solidFill>
                            <a:schemeClr val="dk1"/>
                          </a:solidFill>
                        </a:rPr>
                        <a:t>關節炎、癌症、愛滋病、腎臟病、多發性硬化症。</a:t>
                      </a:r>
                      <a:endParaRPr sz="1000"/>
                    </a:p>
                  </a:txBody>
                  <a:tcPr marT="91425" marB="91425" marR="91425" marL="91425">
                    <a:lnL cap="flat" cmpd="sng" w="10575">
                      <a:solidFill>
                        <a:srgbClr val="CDD2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CDD2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CDD2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CDD2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zh-TW" sz="1000">
                          <a:solidFill>
                            <a:schemeClr val="dk1"/>
                          </a:solidFill>
                        </a:rPr>
                        <a:t>新增「肌痛性腦脊髓炎/慢性疲勞症候群 (ME/CFS)」</a:t>
                      </a:r>
                      <a:endParaRPr sz="1000"/>
                    </a:p>
                  </a:txBody>
                  <a:tcPr marT="91425" marB="91425" marR="91425" marL="91425">
                    <a:lnL cap="flat" cmpd="sng" w="10575">
                      <a:solidFill>
                        <a:srgbClr val="CDD2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CDD2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CDD2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CDD2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000"/>
                        <a:t>針對長新冠 (Long COVID) 相關或類似症狀的疲勞症候群提供謹慎的運動建議。</a:t>
                      </a:r>
                      <a:endParaRPr sz="1000"/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000"/>
                        <a:t>強烈反對對重症者使用標準有氧處方。建議從橫膈呼吸與被動關節運動開始，並使用心率生理回饋確保強度低於通氣閥值（VT）。</a:t>
                      </a:r>
                      <a:endParaRPr sz="1000"/>
                    </a:p>
                  </a:txBody>
                  <a:tcPr marT="91425" marB="91425" marR="91425" marL="91425">
                    <a:lnL cap="flat" cmpd="sng" w="10575">
                      <a:solidFill>
                        <a:srgbClr val="CDD2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CDD2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CDD2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CDD2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4" name="Shape 4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5" name="Google Shape;415;p61"/>
          <p:cNvSpPr txBox="1"/>
          <p:nvPr>
            <p:ph idx="1" type="body"/>
          </p:nvPr>
        </p:nvSpPr>
        <p:spPr>
          <a:xfrm>
            <a:off x="628649" y="4651772"/>
            <a:ext cx="7567800" cy="4917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zh-TW"/>
              <a:t>ME/CFS, myalgic encephalomyelitis / chronic fatigue syndrome</a:t>
            </a:r>
            <a:endParaRPr/>
          </a:p>
        </p:txBody>
      </p:sp>
      <p:sp>
        <p:nvSpPr>
          <p:cNvPr id="416" name="Google Shape;416;p61"/>
          <p:cNvSpPr txBox="1"/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臨床特殊情況之處方調整 (Chapters 8, 9, 10)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ME/CFS</a:t>
            </a:r>
            <a:endParaRPr/>
          </a:p>
        </p:txBody>
      </p:sp>
      <p:sp>
        <p:nvSpPr>
          <p:cNvPr id="417" name="Google Shape;417;p61"/>
          <p:cNvSpPr txBox="1"/>
          <p:nvPr>
            <p:ph idx="2" type="body"/>
          </p:nvPr>
        </p:nvSpPr>
        <p:spPr>
          <a:xfrm>
            <a:off x="628650" y="1167940"/>
            <a:ext cx="7886700" cy="34647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8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418" name="Google Shape;418;p61"/>
          <p:cNvPicPr preferRelativeResize="0"/>
          <p:nvPr/>
        </p:nvPicPr>
        <p:blipFill rotWithShape="1">
          <a:blip r:embed="rId3">
            <a:alphaModFix/>
          </a:blip>
          <a:srcRect b="625" l="0" r="0" t="39830"/>
          <a:stretch/>
        </p:blipFill>
        <p:spPr>
          <a:xfrm>
            <a:off x="2811838" y="1167950"/>
            <a:ext cx="3520327" cy="34646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2" name="Shape 4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3" name="Google Shape;423;p62"/>
          <p:cNvSpPr txBox="1"/>
          <p:nvPr>
            <p:ph idx="1" type="body"/>
          </p:nvPr>
        </p:nvSpPr>
        <p:spPr>
          <a:xfrm>
            <a:off x="628649" y="4651772"/>
            <a:ext cx="7567800" cy="4917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zh-TW"/>
              <a:t>ME/CFS, myalgic encephalomyelitis / chronic fatigue syndrome</a:t>
            </a:r>
            <a:endParaRPr/>
          </a:p>
        </p:txBody>
      </p:sp>
      <p:sp>
        <p:nvSpPr>
          <p:cNvPr id="424" name="Google Shape;424;p62"/>
          <p:cNvSpPr txBox="1"/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臨床特殊情況之處方調整 (Chapters 8, 9, 10)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ME/CFS</a:t>
            </a:r>
            <a:endParaRPr/>
          </a:p>
        </p:txBody>
      </p:sp>
      <p:sp>
        <p:nvSpPr>
          <p:cNvPr id="425" name="Google Shape;425;p62"/>
          <p:cNvSpPr txBox="1"/>
          <p:nvPr>
            <p:ph idx="2" type="body"/>
          </p:nvPr>
        </p:nvSpPr>
        <p:spPr>
          <a:xfrm>
            <a:off x="628650" y="1167940"/>
            <a:ext cx="7886700" cy="34647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-361950" lvl="0" marL="457200" rtl="0" algn="l">
              <a:spcBef>
                <a:spcPts val="800"/>
              </a:spcBef>
              <a:spcAft>
                <a:spcPts val="0"/>
              </a:spcAft>
              <a:buSzPts val="2100"/>
              <a:buChar char="●"/>
            </a:pPr>
            <a:r>
              <a:rPr lang="zh-TW"/>
              <a:t>運動後不適 (Post-Exertional Malaise, PEM) 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zh-TW"/>
              <a:t>ME/CFS 的診斷標誌，指在身體或認知勞累後出現症狀惡化或體能崩潰的現象。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zh-TW"/>
              <a:t>在勞累後出現不成比例的體力或腦力喪失，且恢復時間呈現病理性的延長（通常超過 24 小時，甚至需數週才能恢復）。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zh-TW"/>
              <a:t>常見症狀： 極度疲勞、認知功能障礙（腦霧）、頭暈、全身疼痛、心悸、睡眠障礙，以及病毒活化症狀（如淋巴結腫大、喉嚨痛）。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zh-TW"/>
              <a:t>生理機制： 透過「兩日心肺運動測試 (2-day CPET)」證實，患者在第一天測試後，第二天會出現代謝、心臟與通氣功能的顯著受損（如  VO2 下降、Chronotropic incompetence），這證明了其身體無法像一般人一樣從勞累中正常恢復。</a:t>
            </a:r>
            <a:endParaRPr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9" name="Shape 4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" name="Google Shape;430;p63"/>
          <p:cNvSpPr txBox="1"/>
          <p:nvPr>
            <p:ph idx="1" type="body"/>
          </p:nvPr>
        </p:nvSpPr>
        <p:spPr>
          <a:xfrm>
            <a:off x="628649" y="4651772"/>
            <a:ext cx="7567800" cy="4917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zh-TW"/>
              <a:t>ME/CFS, myalgic encephalomyelitis / chronic fatigue syndrome</a:t>
            </a:r>
            <a:endParaRPr/>
          </a:p>
        </p:txBody>
      </p:sp>
      <p:sp>
        <p:nvSpPr>
          <p:cNvPr id="431" name="Google Shape;431;p63"/>
          <p:cNvSpPr txBox="1"/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臨床特殊情況之處方調整 (Chapters 8, 9, 10)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ME/CFS</a:t>
            </a:r>
            <a:endParaRPr/>
          </a:p>
        </p:txBody>
      </p:sp>
      <p:sp>
        <p:nvSpPr>
          <p:cNvPr id="432" name="Google Shape;432;p63"/>
          <p:cNvSpPr txBox="1"/>
          <p:nvPr>
            <p:ph idx="2" type="body"/>
          </p:nvPr>
        </p:nvSpPr>
        <p:spPr>
          <a:xfrm>
            <a:off x="628650" y="1167940"/>
            <a:ext cx="7886700" cy="34647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-361950" lvl="0" marL="457200" rtl="0" algn="l">
              <a:spcBef>
                <a:spcPts val="800"/>
              </a:spcBef>
              <a:spcAft>
                <a:spcPts val="0"/>
              </a:spcAft>
              <a:buSzPts val="2100"/>
              <a:buChar char="●"/>
            </a:pPr>
            <a:r>
              <a:rPr lang="zh-TW"/>
              <a:t>管理策略：配速 (Pacing)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zh-TW"/>
              <a:t>症狀管理策略，目的是在不誘發 PEM 的前提下平衡活動與休息。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zh-TW"/>
              <a:t>能量信封 (Energy Envelope)： 指導患者將日常生活活動 (ADLs) 的強度控制在其當下可用的「能量儲備」範圍內。這通常需要透過記錄日誌來識別誘發 PEM 的活動或觸發因子。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zh-TW"/>
              <a:t>心率生物回饋 (Heart Rate Biofeedback)： 這是 ACSM 強調的具體配速工具。</a:t>
            </a:r>
            <a:endParaRPr/>
          </a:p>
          <a:p>
            <a:pPr indent="-323850" lvl="2" marL="1371600" rtl="0" algn="l">
              <a:spcBef>
                <a:spcPts val="0"/>
              </a:spcBef>
              <a:spcAft>
                <a:spcPts val="0"/>
              </a:spcAft>
              <a:buSzPts val="1500"/>
              <a:buChar char="■"/>
            </a:pPr>
            <a:r>
              <a:rPr lang="zh-TW"/>
              <a:t>原理： 通氣閥值 (VT) 被視為可持續與不可持續活動的分界線。研究顯示 ME/CFS 患者即便在輕度日常活動中也常超過 VAT，導致系統崩潰。</a:t>
            </a:r>
            <a:endParaRPr/>
          </a:p>
          <a:p>
            <a:pPr indent="-323850" lvl="2" marL="1371600" rtl="0" algn="l">
              <a:spcBef>
                <a:spcPts val="0"/>
              </a:spcBef>
              <a:spcAft>
                <a:spcPts val="0"/>
              </a:spcAft>
              <a:buSzPts val="1500"/>
              <a:buChar char="■"/>
            </a:pPr>
            <a:r>
              <a:rPr lang="zh-TW"/>
              <a:t>執行： 建議以低於 VT 的心率作為活動強度的上限。若曾進行過 CPET，應使用測試測得的 VT 心率作為閾值；若無數據，則需極度保守。</a:t>
            </a:r>
            <a:endParaRPr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6" name="Shape 4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7" name="Google Shape;437;p64"/>
          <p:cNvSpPr txBox="1"/>
          <p:nvPr>
            <p:ph idx="1" type="body"/>
          </p:nvPr>
        </p:nvSpPr>
        <p:spPr>
          <a:xfrm>
            <a:off x="628649" y="4651772"/>
            <a:ext cx="7567800" cy="4917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zh-TW"/>
              <a:t>ME/CFS, myalgic encephalomyelitis / chronic fatigue syndrome</a:t>
            </a:r>
            <a:endParaRPr/>
          </a:p>
        </p:txBody>
      </p:sp>
      <p:sp>
        <p:nvSpPr>
          <p:cNvPr id="438" name="Google Shape;438;p64"/>
          <p:cNvSpPr txBox="1"/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臨床特殊情況之處方調整 (Chapters 8, 9, 10)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ME/CFS</a:t>
            </a:r>
            <a:endParaRPr/>
          </a:p>
        </p:txBody>
      </p:sp>
      <p:sp>
        <p:nvSpPr>
          <p:cNvPr id="439" name="Google Shape;439;p64"/>
          <p:cNvSpPr txBox="1"/>
          <p:nvPr>
            <p:ph idx="2" type="body"/>
          </p:nvPr>
        </p:nvSpPr>
        <p:spPr>
          <a:xfrm>
            <a:off x="628650" y="1167940"/>
            <a:ext cx="7886700" cy="34647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rmAutofit fontScale="77500" lnSpcReduction="20000"/>
          </a:bodyPr>
          <a:lstStyle/>
          <a:p>
            <a:pPr indent="-331946" lvl="0" marL="457200" rtl="0" algn="l">
              <a:spcBef>
                <a:spcPts val="800"/>
              </a:spcBef>
              <a:spcAft>
                <a:spcPts val="0"/>
              </a:spcAft>
              <a:buSzPct val="116667"/>
              <a:buChar char="●"/>
            </a:pPr>
            <a:r>
              <a:rPr lang="zh-TW"/>
              <a:t>運動處方 (Ex Rx) 與 FITT 調整</a:t>
            </a:r>
            <a:endParaRPr/>
          </a:p>
          <a:p>
            <a:pPr indent="-317182" lvl="1" marL="914400" rtl="0" algn="l">
              <a:spcBef>
                <a:spcPts val="0"/>
              </a:spcBef>
              <a:spcAft>
                <a:spcPts val="0"/>
              </a:spcAft>
              <a:buSzPct val="128571"/>
              <a:buChar char="○"/>
            </a:pPr>
            <a:r>
              <a:rPr lang="zh-TW"/>
              <a:t>對於 ME/CFS，標準的 FITT 原則（漸進式超負荷）通常不適用，因為患者無法適應固定的增量。運動目標是維持功能而非改善體適能。</a:t>
            </a:r>
            <a:endParaRPr/>
          </a:p>
          <a:p>
            <a:pPr indent="-331946" lvl="0" marL="457200" rtl="0" algn="l">
              <a:spcBef>
                <a:spcPts val="0"/>
              </a:spcBef>
              <a:spcAft>
                <a:spcPts val="0"/>
              </a:spcAft>
              <a:buSzPct val="116667"/>
              <a:buChar char="●"/>
            </a:pPr>
            <a:r>
              <a:rPr lang="zh-TW"/>
              <a:t>頻率 (Frequency)：</a:t>
            </a:r>
            <a:endParaRPr/>
          </a:p>
          <a:p>
            <a:pPr indent="-317182" lvl="1" marL="914400" rtl="0" algn="l">
              <a:spcBef>
                <a:spcPts val="0"/>
              </a:spcBef>
              <a:spcAft>
                <a:spcPts val="0"/>
              </a:spcAft>
              <a:buSzPct val="128571"/>
              <a:buChar char="○"/>
            </a:pPr>
            <a:r>
              <a:rPr lang="zh-TW"/>
              <a:t>初期建議每 1–2 週進行一次，以觀察是否有延遲性的 PEM 反應。</a:t>
            </a:r>
            <a:endParaRPr/>
          </a:p>
          <a:p>
            <a:pPr indent="-317182" lvl="1" marL="914400" rtl="0" algn="l">
              <a:spcBef>
                <a:spcPts val="0"/>
              </a:spcBef>
              <a:spcAft>
                <a:spcPts val="0"/>
              </a:spcAft>
              <a:buSzPct val="128571"/>
              <a:buChar char="○"/>
            </a:pPr>
            <a:r>
              <a:rPr lang="zh-TW"/>
              <a:t>輕度患者可從每週 1 次開始，最多進展至每週 3 次。</a:t>
            </a:r>
            <a:endParaRPr/>
          </a:p>
          <a:p>
            <a:pPr indent="-331946" lvl="0" marL="457200" rtl="0" algn="l">
              <a:spcBef>
                <a:spcPts val="0"/>
              </a:spcBef>
              <a:spcAft>
                <a:spcPts val="0"/>
              </a:spcAft>
              <a:buSzPct val="116667"/>
              <a:buChar char="●"/>
            </a:pPr>
            <a:r>
              <a:rPr lang="zh-TW"/>
              <a:t>• 強度 (Intensity)：</a:t>
            </a:r>
            <a:endParaRPr/>
          </a:p>
          <a:p>
            <a:pPr indent="-317182" lvl="1" marL="914400" rtl="0" algn="l">
              <a:spcBef>
                <a:spcPts val="0"/>
              </a:spcBef>
              <a:spcAft>
                <a:spcPts val="0"/>
              </a:spcAft>
              <a:buSzPct val="128571"/>
              <a:buChar char="○"/>
            </a:pPr>
            <a:r>
              <a:rPr lang="zh-TW"/>
              <a:t>必須全程監測心率，確保低於 VAT 心率。</a:t>
            </a:r>
            <a:endParaRPr/>
          </a:p>
          <a:p>
            <a:pPr indent="-317182" lvl="1" marL="914400" rtl="0" algn="l">
              <a:spcBef>
                <a:spcPts val="0"/>
              </a:spcBef>
              <a:spcAft>
                <a:spcPts val="0"/>
              </a:spcAft>
              <a:buSzPct val="128571"/>
              <a:buChar char="○"/>
            </a:pPr>
            <a:r>
              <a:rPr lang="zh-TW"/>
              <a:t>若無監測設備，應以 RPE 極低或被動關節活動為主。</a:t>
            </a:r>
            <a:endParaRPr/>
          </a:p>
          <a:p>
            <a:pPr indent="-331946" lvl="0" marL="457200" rtl="0" algn="l">
              <a:spcBef>
                <a:spcPts val="0"/>
              </a:spcBef>
              <a:spcAft>
                <a:spcPts val="0"/>
              </a:spcAft>
              <a:buSzPct val="116667"/>
              <a:buChar char="●"/>
            </a:pPr>
            <a:r>
              <a:rPr lang="zh-TW"/>
              <a:t>• 時間 (Time)：</a:t>
            </a:r>
            <a:endParaRPr/>
          </a:p>
          <a:p>
            <a:pPr indent="-317182" lvl="1" marL="914400" rtl="0" algn="l">
              <a:spcBef>
                <a:spcPts val="0"/>
              </a:spcBef>
              <a:spcAft>
                <a:spcPts val="0"/>
              </a:spcAft>
              <a:buSzPct val="128571"/>
              <a:buChar char="○"/>
            </a:pPr>
            <a:r>
              <a:rPr lang="zh-TW"/>
              <a:t>單次運動持續時間不應超過 90 秒。</a:t>
            </a:r>
            <a:endParaRPr/>
          </a:p>
          <a:p>
            <a:pPr indent="-317182" lvl="1" marL="914400" rtl="0" algn="l">
              <a:spcBef>
                <a:spcPts val="0"/>
              </a:spcBef>
              <a:spcAft>
                <a:spcPts val="0"/>
              </a:spcAft>
              <a:buSzPct val="128571"/>
              <a:buChar char="○"/>
            </a:pPr>
            <a:r>
              <a:rPr lang="zh-TW"/>
              <a:t>組間休息比例應大於 1:3（例如動 1 分鐘，休 3 分鐘以上），確保完全恢復。</a:t>
            </a:r>
            <a:endParaRPr/>
          </a:p>
          <a:p>
            <a:pPr indent="-331946" lvl="0" marL="457200" rtl="0" algn="l">
              <a:spcBef>
                <a:spcPts val="0"/>
              </a:spcBef>
              <a:spcAft>
                <a:spcPts val="0"/>
              </a:spcAft>
              <a:buSzPct val="116667"/>
              <a:buChar char="●"/>
            </a:pPr>
            <a:r>
              <a:rPr lang="zh-TW"/>
              <a:t>• 類型 (Type)：</a:t>
            </a:r>
            <a:endParaRPr/>
          </a:p>
          <a:p>
            <a:pPr indent="-317182" lvl="1" marL="914400" rtl="0" algn="l">
              <a:spcBef>
                <a:spcPts val="0"/>
              </a:spcBef>
              <a:spcAft>
                <a:spcPts val="0"/>
              </a:spcAft>
              <a:buSzPct val="128571"/>
              <a:buChar char="○"/>
            </a:pPr>
            <a:r>
              <a:rPr lang="zh-TW"/>
              <a:t>優先選擇仰臥姿 (Supine) 或消除重力的肢體運動，以減少直立不耐症（Dysautonomia）對心血管的壓力。</a:t>
            </a:r>
            <a:endParaRPr/>
          </a:p>
          <a:p>
            <a:pPr indent="-317182" lvl="1" marL="914400" rtl="0" algn="l">
              <a:spcBef>
                <a:spcPts val="0"/>
              </a:spcBef>
              <a:spcAft>
                <a:spcPts val="0"/>
              </a:spcAft>
              <a:buSzPct val="128571"/>
              <a:buChar char="○"/>
            </a:pPr>
            <a:r>
              <a:rPr lang="zh-TW"/>
              <a:t>包括橫膈膜呼吸、被動關節活動度 (ROM) 運動。</a:t>
            </a:r>
            <a:endParaRPr/>
          </a:p>
        </p:txBody>
      </p:sp>
      <p:pic>
        <p:nvPicPr>
          <p:cNvPr descr="illustrative, #FFFFFF, beautify, less words" id="440" name="Google Shape;440;p64"/>
          <p:cNvPicPr preferRelativeResize="0"/>
          <p:nvPr/>
        </p:nvPicPr>
        <p:blipFill rotWithShape="1">
          <a:blip r:embed="rId3">
            <a:alphaModFix/>
          </a:blip>
          <a:srcRect b="5289" l="11274" r="5156" t="20735"/>
          <a:stretch/>
        </p:blipFill>
        <p:spPr>
          <a:xfrm>
            <a:off x="661225" y="1167950"/>
            <a:ext cx="7697076" cy="38048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4" name="Shape 4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5" name="Google Shape;445;p65"/>
          <p:cNvSpPr txBox="1"/>
          <p:nvPr>
            <p:ph idx="1" type="body"/>
          </p:nvPr>
        </p:nvSpPr>
        <p:spPr>
          <a:xfrm>
            <a:off x="628649" y="4651772"/>
            <a:ext cx="7567800" cy="4917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6" name="Google Shape;446;p65"/>
          <p:cNvSpPr txBox="1"/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臨床特殊情況之處方調整 (Chapters 8, 9, 10)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POTS</a:t>
            </a:r>
            <a:endParaRPr/>
          </a:p>
        </p:txBody>
      </p:sp>
      <p:sp>
        <p:nvSpPr>
          <p:cNvPr id="447" name="Google Shape;447;p65"/>
          <p:cNvSpPr txBox="1"/>
          <p:nvPr>
            <p:ph idx="2" type="body"/>
          </p:nvPr>
        </p:nvSpPr>
        <p:spPr>
          <a:xfrm>
            <a:off x="628650" y="1167940"/>
            <a:ext cx="7886700" cy="34647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rmAutofit lnSpcReduction="20000"/>
          </a:bodyPr>
          <a:lstStyle/>
          <a:p>
            <a:pPr indent="-361950" lvl="0" marL="457200" rtl="0" algn="l">
              <a:spcBef>
                <a:spcPts val="800"/>
              </a:spcBef>
              <a:spcAft>
                <a:spcPts val="0"/>
              </a:spcAft>
              <a:buSzPts val="2100"/>
              <a:buChar char="●"/>
            </a:pPr>
            <a:r>
              <a:rPr lang="zh-TW"/>
              <a:t>姿勢性直立性心動過速症候群 (POTS)</a:t>
            </a:r>
            <a:endParaRPr/>
          </a:p>
          <a:p>
            <a:pPr indent="-361950" lvl="0" marL="457200" rtl="0" algn="l">
              <a:spcBef>
                <a:spcPts val="0"/>
              </a:spcBef>
              <a:spcAft>
                <a:spcPts val="0"/>
              </a:spcAft>
              <a:buSzPts val="2100"/>
              <a:buChar char="●"/>
            </a:pPr>
            <a:r>
              <a:rPr lang="zh-TW"/>
              <a:t>這是本版更新中最具臨床操作性的新章節之一，提供了具體的運動處方表格。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zh-TW"/>
              <a:t>評估重點：</a:t>
            </a:r>
            <a:endParaRPr/>
          </a:p>
          <a:p>
            <a:pPr indent="-323850" lvl="2" marL="1371600" rtl="0" algn="l">
              <a:spcBef>
                <a:spcPts val="0"/>
              </a:spcBef>
              <a:spcAft>
                <a:spcPts val="0"/>
              </a:spcAft>
              <a:buSzPts val="1500"/>
              <a:buChar char="■"/>
            </a:pPr>
            <a:r>
              <a:rPr lang="zh-TW"/>
              <a:t>10 分鐘站立測試 (10-minute stand test)： 用於診斷與評估。先平躺 10 分鐘測量基礎 BP 與 HR，再安靜站立 10 分鐘，分別於第 1、3、5、10 分鐘測量。</a:t>
            </a:r>
            <a:endParaRPr/>
          </a:p>
          <a:p>
            <a:pPr indent="-323850" lvl="2" marL="1371600" rtl="0" algn="l">
              <a:spcBef>
                <a:spcPts val="0"/>
              </a:spcBef>
              <a:spcAft>
                <a:spcPts val="0"/>
              </a:spcAft>
              <a:buSzPts val="1500"/>
              <a:buChar char="■"/>
            </a:pPr>
            <a:r>
              <a:rPr lang="zh-TW"/>
              <a:t>鑑別診斷： 需先排除缺鐵性貧血（Ferritin &lt; 50 ng/mL）、藥物副作用（如 SNRI）等可能模擬 POTS 症狀的因素。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zh-TW"/>
              <a:t>運動處方 (Ex Rx) 核心原則：</a:t>
            </a:r>
            <a:endParaRPr/>
          </a:p>
          <a:p>
            <a:pPr indent="-323850" lvl="2" marL="1371600" rtl="0" algn="l">
              <a:spcBef>
                <a:spcPts val="0"/>
              </a:spcBef>
              <a:spcAft>
                <a:spcPts val="0"/>
              </a:spcAft>
              <a:buSzPts val="1500"/>
              <a:buChar char="■"/>
            </a:pPr>
            <a:r>
              <a:rPr lang="zh-TW"/>
              <a:t>非直立式開始： 由於患者直立時心率會異常飆升，訓練初期強烈建議使用臥式腳踏車 (Recumbent bike) 或 划船機 (Rowing)。</a:t>
            </a:r>
            <a:endParaRPr/>
          </a:p>
          <a:p>
            <a:pPr indent="-323850" lvl="2" marL="1371600" rtl="0" algn="l">
              <a:spcBef>
                <a:spcPts val="0"/>
              </a:spcBef>
              <a:spcAft>
                <a:spcPts val="0"/>
              </a:spcAft>
              <a:buSzPts val="1500"/>
              <a:buChar char="■"/>
            </a:pPr>
            <a:r>
              <a:rPr lang="zh-TW"/>
              <a:t>心率區間： 建議使用「心率儲備值 (HRR)」來設定強度，而非單純的最大心率。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zh-TW"/>
              <a:t>生活型態建議： 增加鹽分攝取（7,000–10,000 mg/day）與水分（2–3 L/day）以擴充血漿容積。</a:t>
            </a:r>
            <a:endParaRPr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1" name="Shape 4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2" name="Google Shape;452;p66"/>
          <p:cNvSpPr txBox="1"/>
          <p:nvPr>
            <p:ph idx="1" type="body"/>
          </p:nvPr>
        </p:nvSpPr>
        <p:spPr>
          <a:xfrm>
            <a:off x="628649" y="4651772"/>
            <a:ext cx="7567800" cy="4917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3" name="Google Shape;453;p66"/>
          <p:cNvSpPr txBox="1"/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臨床特殊情況之處方調整 (Chapters 8, 9, 10)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POTS</a:t>
            </a:r>
            <a:endParaRPr/>
          </a:p>
        </p:txBody>
      </p:sp>
      <p:pic>
        <p:nvPicPr>
          <p:cNvPr id="454" name="Google Shape;454;p6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85525" y="1122175"/>
            <a:ext cx="4254050" cy="39675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8" name="Shape 4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9" name="Google Shape;459;p67"/>
          <p:cNvSpPr txBox="1"/>
          <p:nvPr>
            <p:ph idx="1" type="body"/>
          </p:nvPr>
        </p:nvSpPr>
        <p:spPr>
          <a:xfrm>
            <a:off x="628649" y="4651772"/>
            <a:ext cx="7567800" cy="4917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0" name="Google Shape;460;p67"/>
          <p:cNvSpPr txBox="1"/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臨床特殊情況之處方調整 (Chapters 8, 9, 10)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Pulmonary</a:t>
            </a:r>
            <a:endParaRPr/>
          </a:p>
        </p:txBody>
      </p:sp>
      <p:sp>
        <p:nvSpPr>
          <p:cNvPr id="461" name="Google Shape;461;p67"/>
          <p:cNvSpPr txBox="1"/>
          <p:nvPr>
            <p:ph idx="2" type="body"/>
          </p:nvPr>
        </p:nvSpPr>
        <p:spPr>
          <a:xfrm>
            <a:off x="628650" y="1167950"/>
            <a:ext cx="4910700" cy="34647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1" lang="zh-TW"/>
              <a:t>呼吸肌測試與訓練 (RMT)</a:t>
            </a:r>
            <a:endParaRPr b="1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zh-TW"/>
              <a:t>強調呼吸肌（MIP/MEP）的獨立評估與強化，作為改善呼吸困難的輔助手段。</a:t>
            </a:r>
            <a:endParaRPr/>
          </a:p>
        </p:txBody>
      </p:sp>
      <p:pic>
        <p:nvPicPr>
          <p:cNvPr descr="english, #FFFFFF, beautify, illustrative" id="462" name="Google Shape;462;p67"/>
          <p:cNvPicPr preferRelativeResize="0"/>
          <p:nvPr/>
        </p:nvPicPr>
        <p:blipFill rotWithShape="1">
          <a:blip r:embed="rId3">
            <a:alphaModFix/>
          </a:blip>
          <a:srcRect b="2177" l="4644" r="42040" t="71656"/>
          <a:stretch/>
        </p:blipFill>
        <p:spPr>
          <a:xfrm>
            <a:off x="722850" y="2359712"/>
            <a:ext cx="4910699" cy="13459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english, #FFFFFF, beautify, illustrative" id="463" name="Google Shape;463;p67"/>
          <p:cNvPicPr preferRelativeResize="0"/>
          <p:nvPr/>
        </p:nvPicPr>
        <p:blipFill rotWithShape="1">
          <a:blip r:embed="rId3">
            <a:alphaModFix/>
          </a:blip>
          <a:srcRect b="10226" l="59538" r="4006" t="13520"/>
          <a:stretch/>
        </p:blipFill>
        <p:spPr>
          <a:xfrm>
            <a:off x="5691750" y="1123925"/>
            <a:ext cx="3357675" cy="3922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7" name="Shape 4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8" name="Google Shape;468;p68"/>
          <p:cNvSpPr txBox="1"/>
          <p:nvPr>
            <p:ph idx="1" type="body"/>
          </p:nvPr>
        </p:nvSpPr>
        <p:spPr>
          <a:xfrm>
            <a:off x="628649" y="4651772"/>
            <a:ext cx="7567800" cy="4917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9" name="Google Shape;469;p68"/>
          <p:cNvSpPr txBox="1"/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0" name="Google Shape;470;p68"/>
          <p:cNvSpPr txBox="1"/>
          <p:nvPr>
            <p:ph idx="2" type="body"/>
          </p:nvPr>
        </p:nvSpPr>
        <p:spPr>
          <a:xfrm>
            <a:off x="628650" y="1167940"/>
            <a:ext cx="7886700" cy="34647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8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graphicFrame>
        <p:nvGraphicFramePr>
          <p:cNvPr id="471" name="Google Shape;471;p68"/>
          <p:cNvGraphicFramePr/>
          <p:nvPr/>
        </p:nvGraphicFramePr>
        <p:xfrm>
          <a:off x="4750" y="1571425"/>
          <a:ext cx="3000000" cy="3000000"/>
        </p:xfrm>
        <a:graphic>
          <a:graphicData uri="http://schemas.openxmlformats.org/drawingml/2006/table">
            <a:tbl>
              <a:tblPr>
                <a:solidFill>
                  <a:srgbClr val="FFFFFF"/>
                </a:solidFill>
                <a:tableStyleId>{27DDFD0E-D07E-4245-9B5E-44F62409D258}</a:tableStyleId>
              </a:tblPr>
              <a:tblGrid>
                <a:gridCol w="1574650"/>
                <a:gridCol w="1195025"/>
                <a:gridCol w="1845125"/>
                <a:gridCol w="4519675"/>
              </a:tblGrid>
              <a:tr h="1317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1000"/>
                        <a:t>比較項目</a:t>
                      </a:r>
                      <a:endParaRPr b="1" sz="1000"/>
                    </a:p>
                  </a:txBody>
                  <a:tcPr marT="91425" marB="91425" marR="91425" marL="91425">
                    <a:lnL cap="flat" cmpd="sng" w="10575">
                      <a:solidFill>
                        <a:srgbClr val="CDD2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CDD2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CDD2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CDD2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1000"/>
                        <a:t>第 11 版 (2021)</a:t>
                      </a:r>
                      <a:endParaRPr b="1" sz="10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10575">
                      <a:solidFill>
                        <a:srgbClr val="CDD2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CDD2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CDD2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CDD2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1000"/>
                        <a:t>第 12 版 (2025/2026)</a:t>
                      </a:r>
                      <a:endParaRPr b="1" sz="10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10575">
                      <a:solidFill>
                        <a:srgbClr val="CDD2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CDD2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CDD2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CDD2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1000"/>
                        <a:t>臨床意義與更新重點</a:t>
                      </a:r>
                      <a:endParaRPr b="1" sz="1000"/>
                    </a:p>
                  </a:txBody>
                  <a:tcPr marT="91425" marB="91425" marR="91425" marL="91425">
                    <a:lnL cap="flat" cmpd="sng" w="10575">
                      <a:solidFill>
                        <a:srgbClr val="CDD2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CDD2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CDD2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CDD2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317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1000"/>
                        <a:t>Chapter 11: 神經系統疾病</a:t>
                      </a:r>
                      <a:endParaRPr b="1" sz="1000"/>
                    </a:p>
                  </a:txBody>
                  <a:tcPr marT="91425" marB="91425" marR="91425" marL="91425">
                    <a:lnL cap="flat" cmpd="sng" w="10575">
                      <a:solidFill>
                        <a:srgbClr val="CDD2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CDD2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CDD2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CDD2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000">
                          <a:solidFill>
                            <a:schemeClr val="dk1"/>
                          </a:solidFill>
                        </a:rPr>
                        <a:t>「大腦健康 (Brain Health)」。</a:t>
                      </a:r>
                      <a:endParaRPr sz="10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000">
                          <a:solidFill>
                            <a:schemeClr val="dk1"/>
                          </a:solidFill>
                        </a:rPr>
                        <a:t>涵蓋帕金森、阿茲海默、失智、焦慮憂鬱。</a:t>
                      </a:r>
                      <a:endParaRPr sz="10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10575">
                      <a:solidFill>
                        <a:srgbClr val="CDD2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CDD2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CDD2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CDD2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000">
                          <a:solidFill>
                            <a:schemeClr val="dk1"/>
                          </a:solidFill>
                        </a:rPr>
                        <a:t>標題改為「神經系統疾病 (Neurologic Diseases)」。</a:t>
                      </a:r>
                      <a:endParaRPr sz="10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000">
                          <a:solidFill>
                            <a:schemeClr val="dk1"/>
                          </a:solidFill>
                        </a:rPr>
                        <a:t>涵蓋腦性麻痺、唐氏症、帕金森氏症、失智症等。</a:t>
                      </a:r>
                      <a:endParaRPr sz="10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10575">
                      <a:solidFill>
                        <a:srgbClr val="CDD2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CDD2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CDD2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CDD2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000"/>
                        <a:t>結構調整，更聚焦於神經病理學下的運動反應與處方</a:t>
                      </a:r>
                      <a:endParaRPr sz="1000"/>
                    </a:p>
                  </a:txBody>
                  <a:tcPr marT="91425" marB="91425" marR="91425" marL="91425">
                    <a:lnL cap="flat" cmpd="sng" w="10575">
                      <a:solidFill>
                        <a:srgbClr val="CDD2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CDD2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CDD2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CDD2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245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1000"/>
                        <a:t>Chapter 12: </a:t>
                      </a:r>
                      <a:r>
                        <a:rPr b="1" lang="zh-TW" sz="1000">
                          <a:solidFill>
                            <a:schemeClr val="dk1"/>
                          </a:solidFill>
                        </a:rPr>
                        <a:t>行為理論</a:t>
                      </a:r>
                      <a:endParaRPr b="1" sz="1000"/>
                    </a:p>
                  </a:txBody>
                  <a:tcPr marT="91425" marB="91425" marR="91425" marL="91425">
                    <a:lnL cap="flat" cmpd="sng" w="10575">
                      <a:solidFill>
                        <a:srgbClr val="CDD2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CDD2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CDD2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CDD2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000"/>
                        <a:t>基礎理論介紹。</a:t>
                      </a:r>
                      <a:endParaRPr sz="1000"/>
                    </a:p>
                  </a:txBody>
                  <a:tcPr marT="91425" marB="91425" marR="91425" marL="91425">
                    <a:lnL cap="flat" cmpd="sng" w="10575">
                      <a:solidFill>
                        <a:srgbClr val="CDD2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CDD2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CDD2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CDD2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000"/>
                        <a:t>內容改寫與擴充。</a:t>
                      </a:r>
                      <a:endParaRPr sz="1000"/>
                    </a:p>
                  </a:txBody>
                  <a:tcPr marT="91425" marB="91425" marR="91425" marL="91425">
                    <a:lnL cap="flat" cmpd="sng" w="10575">
                      <a:solidFill>
                        <a:srgbClr val="CDD2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CDD2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CDD2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CDD2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000"/>
                        <a:t>強調「以客戶為中心的對話 (Client-Centered Conversations)」與「動機式晤談 (Motivational Interviewing)」的實務應用技巧。</a:t>
                      </a:r>
                      <a:endParaRPr sz="1000"/>
                    </a:p>
                  </a:txBody>
                  <a:tcPr marT="91425" marB="91425" marR="91425" marL="91425">
                    <a:lnL cap="flat" cmpd="sng" w="10575">
                      <a:solidFill>
                        <a:srgbClr val="CDD2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CDD2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CDD2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CDD2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475" name="Shape 4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6" name="Google Shape;476;p69"/>
          <p:cNvSpPr txBox="1"/>
          <p:nvPr>
            <p:ph idx="1" type="body"/>
          </p:nvPr>
        </p:nvSpPr>
        <p:spPr>
          <a:xfrm>
            <a:off x="628649" y="4651772"/>
            <a:ext cx="7567800" cy="4917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7" name="Google Shape;477;p69"/>
          <p:cNvSpPr txBox="1"/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Importance of Exercise Prescription</a:t>
            </a:r>
            <a:endParaRPr/>
          </a:p>
        </p:txBody>
      </p:sp>
      <p:sp>
        <p:nvSpPr>
          <p:cNvPr id="478" name="Google Shape;478;p69"/>
          <p:cNvSpPr txBox="1"/>
          <p:nvPr>
            <p:ph idx="2" type="body"/>
          </p:nvPr>
        </p:nvSpPr>
        <p:spPr>
          <a:xfrm>
            <a:off x="628650" y="1167940"/>
            <a:ext cx="7886700" cy="34647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-361950" lvl="0" marL="457200" rtl="0" algn="l">
              <a:spcBef>
                <a:spcPts val="800"/>
              </a:spcBef>
              <a:spcAft>
                <a:spcPts val="0"/>
              </a:spcAft>
              <a:buSzPts val="2100"/>
              <a:buChar char="●"/>
            </a:pPr>
            <a:r>
              <a:rPr lang="zh-TW"/>
              <a:t>FITT-VP 的</a:t>
            </a:r>
            <a:r>
              <a:rPr lang="zh-TW"/>
              <a:t>「</a:t>
            </a:r>
            <a:r>
              <a:rPr lang="zh-TW"/>
              <a:t>I」最容易出錯：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zh-TW"/>
              <a:t>HR lag / drift、β-blocker、atrial fibrillation、CI（chronotropic incompetence）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zh-TW"/>
              <a:t>COPD：通氣限制使HR不是最好proxy</a:t>
            </a:r>
            <a:endParaRPr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482" name="Shape 4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3" name="Google Shape;483;p70"/>
          <p:cNvSpPr txBox="1"/>
          <p:nvPr>
            <p:ph type="ctrTitle"/>
          </p:nvPr>
        </p:nvSpPr>
        <p:spPr>
          <a:xfrm>
            <a:off x="311708" y="1354175"/>
            <a:ext cx="8520600" cy="2052600"/>
          </a:xfrm>
          <a:prstGeom prst="rect">
            <a:avLst/>
          </a:prstGeom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Q&amp;A</a:t>
            </a:r>
            <a:endParaRPr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487" name="Shape 4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8" name="Google Shape;488;p71"/>
          <p:cNvSpPr txBox="1"/>
          <p:nvPr>
            <p:ph idx="1" type="body"/>
          </p:nvPr>
        </p:nvSpPr>
        <p:spPr>
          <a:xfrm>
            <a:off x="628649" y="4651772"/>
            <a:ext cx="7567800" cy="4917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9" name="Google Shape;489;p71"/>
          <p:cNvSpPr txBox="1"/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0" name="Google Shape;490;p71"/>
          <p:cNvSpPr txBox="1"/>
          <p:nvPr>
            <p:ph idx="2" type="body"/>
          </p:nvPr>
        </p:nvSpPr>
        <p:spPr>
          <a:xfrm>
            <a:off x="628650" y="1167940"/>
            <a:ext cx="7886700" cy="34647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-361950" lvl="0" marL="457200" rtl="0" algn="l">
              <a:spcBef>
                <a:spcPts val="800"/>
              </a:spcBef>
              <a:spcAft>
                <a:spcPts val="0"/>
              </a:spcAft>
              <a:buSzPts val="2100"/>
              <a:buAutoNum type="arabicPeriod"/>
            </a:pPr>
            <a:r>
              <a:rPr lang="zh-TW"/>
              <a:t>COPD 血氧掉到多少要停？氧怎麼加？</a:t>
            </a:r>
            <a:endParaRPr/>
          </a:p>
          <a:p>
            <a:pPr indent="-361950" lvl="0" marL="457200" rtl="0" algn="l">
              <a:spcBef>
                <a:spcPts val="0"/>
              </a:spcBef>
              <a:spcAft>
                <a:spcPts val="0"/>
              </a:spcAft>
              <a:buSzPts val="2100"/>
              <a:buAutoNum type="arabicPeriod"/>
            </a:pPr>
            <a:r>
              <a:rPr lang="zh-TW"/>
              <a:t>HIIT 到底能不能做？誰可以做？</a:t>
            </a:r>
            <a:endParaRPr/>
          </a:p>
          <a:p>
            <a:pPr indent="-361950" lvl="0" marL="457200" rtl="0" algn="l">
              <a:spcBef>
                <a:spcPts val="0"/>
              </a:spcBef>
              <a:spcAft>
                <a:spcPts val="0"/>
              </a:spcAft>
              <a:buSzPts val="2100"/>
              <a:buAutoNum type="arabicPeriod"/>
            </a:pPr>
            <a:r>
              <a:rPr lang="zh-TW"/>
              <a:t>1RM 不方便測怎麼處方 RT？</a:t>
            </a:r>
            <a:endParaRPr/>
          </a:p>
          <a:p>
            <a:pPr indent="-361950" lvl="0" marL="457200" rtl="0" algn="l">
              <a:spcBef>
                <a:spcPts val="0"/>
              </a:spcBef>
              <a:spcAft>
                <a:spcPts val="0"/>
              </a:spcAft>
              <a:buSzPts val="2100"/>
              <a:buAutoNum type="arabicPeriod"/>
            </a:pPr>
            <a:r>
              <a:rPr lang="zh-TW"/>
              <a:t>RIR/RPE 病人會不會用？怎麼教？</a:t>
            </a:r>
            <a:endParaRPr/>
          </a:p>
          <a:p>
            <a:pPr indent="-361950" lvl="0" marL="457200" rtl="0" algn="l">
              <a:spcBef>
                <a:spcPts val="0"/>
              </a:spcBef>
              <a:spcAft>
                <a:spcPts val="0"/>
              </a:spcAft>
              <a:buSzPts val="2100"/>
              <a:buAutoNum type="arabicPeriod"/>
            </a:pPr>
            <a:r>
              <a:rPr lang="zh-TW"/>
              <a:t>8–12 週沒進步怎麼調？</a:t>
            </a:r>
            <a:endParaRPr/>
          </a:p>
          <a:p>
            <a:pPr indent="-361950" lvl="0" marL="457200" rtl="0" algn="l">
              <a:spcBef>
                <a:spcPts val="0"/>
              </a:spcBef>
              <a:spcAft>
                <a:spcPts val="0"/>
              </a:spcAft>
              <a:buSzPts val="2100"/>
              <a:buAutoNum type="arabicPeriod"/>
            </a:pPr>
            <a:r>
              <a:rPr lang="zh-TW"/>
              <a:t>什麼情況要回到醫療評估/重新測試？</a:t>
            </a:r>
            <a:endParaRPr/>
          </a:p>
          <a:p>
            <a:pPr indent="-361950" lvl="0" marL="457200" rtl="0" algn="l">
              <a:spcBef>
                <a:spcPts val="0"/>
              </a:spcBef>
              <a:spcAft>
                <a:spcPts val="0"/>
              </a:spcAft>
              <a:buSzPts val="2100"/>
              <a:buAutoNum type="arabicPeriod"/>
            </a:pPr>
            <a:r>
              <a:rPr lang="zh-TW"/>
              <a:t>β-blocker 下 HR 怎麼訂？</a:t>
            </a:r>
            <a:endParaRPr/>
          </a:p>
          <a:p>
            <a:pPr indent="-361950" lvl="0" marL="457200" rtl="0" algn="l">
              <a:spcBef>
                <a:spcPts val="0"/>
              </a:spcBef>
              <a:spcAft>
                <a:spcPts val="0"/>
              </a:spcAft>
              <a:buSzPts val="2100"/>
              <a:buAutoNum type="arabicPeriod"/>
            </a:pPr>
            <a:r>
              <a:rPr lang="zh-TW"/>
              <a:t>AF/起搏器 HR 不可靠怎麼辦？</a:t>
            </a:r>
            <a:endParaRPr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494" name="Shape 4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5" name="Google Shape;495;p72"/>
          <p:cNvSpPr txBox="1"/>
          <p:nvPr>
            <p:ph idx="1" type="body"/>
          </p:nvPr>
        </p:nvSpPr>
        <p:spPr>
          <a:xfrm>
            <a:off x="628649" y="4651772"/>
            <a:ext cx="7567800" cy="4917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6" name="Google Shape;496;p72"/>
          <p:cNvSpPr txBox="1"/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7" name="Google Shape;497;p72"/>
          <p:cNvSpPr txBox="1"/>
          <p:nvPr>
            <p:ph idx="2" type="body"/>
          </p:nvPr>
        </p:nvSpPr>
        <p:spPr>
          <a:xfrm>
            <a:off x="628650" y="1167940"/>
            <a:ext cx="7886700" cy="34647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zh-TW"/>
              <a:t>1. COPD 掉到多少要停？氧怎麼加？</a:t>
            </a:r>
            <a:endParaRPr/>
          </a:p>
          <a:p>
            <a:pPr indent="-361950" lvl="0" marL="457200" rtl="0" algn="l">
              <a:spcBef>
                <a:spcPts val="1200"/>
              </a:spcBef>
              <a:spcAft>
                <a:spcPts val="0"/>
              </a:spcAft>
              <a:buSzPts val="2100"/>
              <a:buChar char="●"/>
            </a:pPr>
            <a:r>
              <a:rPr lang="zh-TW"/>
              <a:t>終止標準： 在運動測試或訓練中，若血氧飽和度 (SpO</a:t>
            </a:r>
            <a:r>
              <a:rPr lang="zh-TW"/>
              <a:t>2</a:t>
            </a:r>
            <a:r>
              <a:rPr lang="zh-TW"/>
              <a:t> ) 降至 ≤80% 並伴隨低氧症狀（如呼吸困難加劇、發紺），應終止測試。部分實驗室會將停止門檻設為更保守的 85%。</a:t>
            </a:r>
            <a:endParaRPr/>
          </a:p>
          <a:p>
            <a:pPr indent="-361950" lvl="0" marL="457200" rtl="0" algn="l">
              <a:spcBef>
                <a:spcPts val="0"/>
              </a:spcBef>
              <a:spcAft>
                <a:spcPts val="0"/>
              </a:spcAft>
              <a:buSzPts val="2100"/>
              <a:buChar char="●"/>
            </a:pPr>
            <a:r>
              <a:rPr lang="zh-TW"/>
              <a:t>氧氣補充指標： 若患者在呼吸室內空氣時，靜止 PaO2 ≤55 mmHg 或 SpO2 ≤88%，則具備補氧指引。</a:t>
            </a:r>
            <a:endParaRPr/>
          </a:p>
          <a:p>
            <a:pPr indent="-361950" lvl="0" marL="457200" rtl="0" algn="l">
              <a:spcBef>
                <a:spcPts val="0"/>
              </a:spcBef>
              <a:spcAft>
                <a:spcPts val="0"/>
              </a:spcAft>
              <a:buSzPts val="2100"/>
              <a:buChar char="●"/>
            </a:pPr>
            <a:r>
              <a:rPr lang="zh-TW"/>
              <a:t>氧氣增加方式： 對於已在使用移動式氧氣的患者，運動時通常需要增加氧氣流量（Flow rates），以維持 SpO2 &gt;88%。</a:t>
            </a:r>
            <a:endParaRPr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501" name="Shape 5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2" name="Google Shape;502;p73"/>
          <p:cNvSpPr txBox="1"/>
          <p:nvPr>
            <p:ph idx="1" type="body"/>
          </p:nvPr>
        </p:nvSpPr>
        <p:spPr>
          <a:xfrm>
            <a:off x="628649" y="4651772"/>
            <a:ext cx="7567800" cy="4917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3" name="Google Shape;503;p73"/>
          <p:cNvSpPr txBox="1"/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4" name="Google Shape;504;p73"/>
          <p:cNvSpPr txBox="1"/>
          <p:nvPr>
            <p:ph idx="2" type="body"/>
          </p:nvPr>
        </p:nvSpPr>
        <p:spPr>
          <a:xfrm>
            <a:off x="628650" y="1167940"/>
            <a:ext cx="7886700" cy="34647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zh-TW"/>
              <a:t>2. HIIT 誰應該做？</a:t>
            </a:r>
            <a:endParaRPr/>
          </a:p>
          <a:p>
            <a:pPr indent="-361950" lvl="0" marL="457200" rtl="0" algn="l">
              <a:spcBef>
                <a:spcPts val="1200"/>
              </a:spcBef>
              <a:spcAft>
                <a:spcPts val="0"/>
              </a:spcAft>
              <a:buSzPts val="2100"/>
              <a:buChar char="●"/>
            </a:pPr>
            <a:r>
              <a:rPr lang="zh-TW"/>
              <a:t>可行性： HIIT 是可行的，且研究顯示其提升心肺適能（CRF）的效率優於傳統中強度連續運動。</a:t>
            </a:r>
            <a:endParaRPr/>
          </a:p>
          <a:p>
            <a:pPr indent="-361950" lvl="0" marL="457200" rtl="0" algn="l">
              <a:spcBef>
                <a:spcPts val="0"/>
              </a:spcBef>
              <a:spcAft>
                <a:spcPts val="0"/>
              </a:spcAft>
              <a:buSzPts val="2100"/>
              <a:buChar char="●"/>
            </a:pPr>
            <a:r>
              <a:rPr lang="zh-TW"/>
              <a:t>適用族群：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zh-TW"/>
              <a:t>穩定型冠心病 (CHD) 及 心臟衰竭 (HFrEF) 患者。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zh-TW"/>
              <a:t>穩定型心臟移植患者。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zh-TW"/>
              <a:t>穩定型帕金森氏症 (PD) 患者（HY 分級第 1-2 期）。</a:t>
            </a:r>
            <a:endParaRPr/>
          </a:p>
          <a:p>
            <a:pPr indent="-361950" lvl="0" marL="457200" rtl="0" algn="l">
              <a:spcBef>
                <a:spcPts val="0"/>
              </a:spcBef>
              <a:spcAft>
                <a:spcPts val="0"/>
              </a:spcAft>
              <a:buSzPts val="2100"/>
              <a:buChar char="●"/>
            </a:pPr>
            <a:r>
              <a:rPr lang="zh-TW"/>
              <a:t>注意事項： HIIT 在超過通氣閥值（VAT）時會產生不適感，對於久坐不動或缺乏運動經驗者需謹慎使用，避免誘發過度厭惡感而導致放棄。</a:t>
            </a:r>
            <a:endParaRPr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508" name="Shape 5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9" name="Google Shape;509;p74"/>
          <p:cNvSpPr txBox="1"/>
          <p:nvPr>
            <p:ph idx="1" type="body"/>
          </p:nvPr>
        </p:nvSpPr>
        <p:spPr>
          <a:xfrm>
            <a:off x="628649" y="4651772"/>
            <a:ext cx="7567800" cy="4917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0" name="Google Shape;510;p74"/>
          <p:cNvSpPr txBox="1"/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1" name="Google Shape;511;p74"/>
          <p:cNvSpPr txBox="1"/>
          <p:nvPr>
            <p:ph idx="2" type="body"/>
          </p:nvPr>
        </p:nvSpPr>
        <p:spPr>
          <a:xfrm>
            <a:off x="628650" y="1167940"/>
            <a:ext cx="7886700" cy="34647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zh-TW"/>
              <a:t>3. </a:t>
            </a:r>
            <a:r>
              <a:rPr lang="zh-TW"/>
              <a:t>1RM 不方便測怎麼處方 RT？</a:t>
            </a:r>
            <a:endParaRPr/>
          </a:p>
          <a:p>
            <a:pPr indent="-361950" lvl="0" marL="457200" rtl="0" algn="l">
              <a:spcBef>
                <a:spcPts val="1200"/>
              </a:spcBef>
              <a:spcAft>
                <a:spcPts val="0"/>
              </a:spcAft>
              <a:buSzPts val="2100"/>
              <a:buChar char="●"/>
            </a:pPr>
            <a:r>
              <a:rPr lang="zh-TW"/>
              <a:t>替代評估法： 使用 多組重複次數 (Multiple RM)，例如 5-RM 或 10-RM 來估計 1-RM。負荷越接近 1-RM，預測準確度越高。</a:t>
            </a:r>
            <a:endParaRPr/>
          </a:p>
          <a:p>
            <a:pPr indent="-361950" lvl="0" marL="457200" rtl="0" algn="l">
              <a:spcBef>
                <a:spcPts val="0"/>
              </a:spcBef>
              <a:spcAft>
                <a:spcPts val="0"/>
              </a:spcAft>
              <a:buSzPts val="2100"/>
              <a:buChar char="●"/>
            </a:pPr>
            <a:r>
              <a:rPr lang="zh-TW"/>
              <a:t>保守方案： 對於高風險患者（如心血管疾病），建議採用 10–15 RM 作為強度基準，這與訓練建議較為契合且更安全。</a:t>
            </a:r>
            <a:endParaRPr/>
          </a:p>
          <a:p>
            <a:pPr indent="-361950" lvl="0" marL="457200" rtl="0" algn="l">
              <a:spcBef>
                <a:spcPts val="0"/>
              </a:spcBef>
              <a:spcAft>
                <a:spcPts val="0"/>
              </a:spcAft>
              <a:buSzPts val="2100"/>
              <a:buChar char="●"/>
            </a:pPr>
            <a:r>
              <a:rPr lang="zh-TW"/>
              <a:t>直接追蹤法： 不一定要估算 1-RM，可以直接以 「力竭次數」 作為指標。例如：處方為 8-RM，若病人能以正確技術做到第 8 次即感到疲勞，則此重量即為合適強度。</a:t>
            </a:r>
            <a:endParaRPr/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515" name="Shape 5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6" name="Google Shape;516;p75"/>
          <p:cNvSpPr txBox="1"/>
          <p:nvPr>
            <p:ph idx="1" type="body"/>
          </p:nvPr>
        </p:nvSpPr>
        <p:spPr>
          <a:xfrm>
            <a:off x="628649" y="4651772"/>
            <a:ext cx="7567800" cy="4917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7" name="Google Shape;517;p75"/>
          <p:cNvSpPr txBox="1"/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8" name="Google Shape;518;p75"/>
          <p:cNvSpPr txBox="1"/>
          <p:nvPr>
            <p:ph idx="2" type="body"/>
          </p:nvPr>
        </p:nvSpPr>
        <p:spPr>
          <a:xfrm>
            <a:off x="628650" y="1167940"/>
            <a:ext cx="7886700" cy="34647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zh-TW"/>
              <a:t>4. RIR/RPE 病人會不會用？怎麼教？</a:t>
            </a:r>
            <a:endParaRPr/>
          </a:p>
          <a:p>
            <a:pPr indent="-361950" lvl="0" marL="457200" rtl="0" algn="l">
              <a:spcBef>
                <a:spcPts val="1200"/>
              </a:spcBef>
              <a:spcAft>
                <a:spcPts val="0"/>
              </a:spcAft>
              <a:buSzPts val="2100"/>
              <a:buChar char="●"/>
            </a:pPr>
            <a:r>
              <a:rPr lang="zh-TW"/>
              <a:t>應用性： 病人可以使用。研究顯示 RPE 與 1-RM 百分比具有相關性，適合用來調節強度。</a:t>
            </a:r>
            <a:endParaRPr/>
          </a:p>
          <a:p>
            <a:pPr indent="-361950" lvl="0" marL="457200" rtl="0" algn="l">
              <a:spcBef>
                <a:spcPts val="0"/>
              </a:spcBef>
              <a:spcAft>
                <a:spcPts val="0"/>
              </a:spcAft>
              <a:buSzPts val="2100"/>
              <a:buChar char="●"/>
            </a:pPr>
            <a:r>
              <a:rPr lang="zh-TW"/>
              <a:t>教學策略：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zh-TW"/>
              <a:t>校準感知： 教導病人將「自覺疲勞感」與「客觀工作量/心率」對齊。最好是在進行最大運動測試後，讓病人回憶最大努力時的感覺（RPE 18–19）。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zh-TW"/>
              <a:t>RIR (保留次數) 教導： 告知病人 0 RIR 代表「最大努力」，即在保持正確技術的情況下無法再多做一次。臨床常見處方為 1–2 RIR（預計力竭前 1–2 次停止）。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zh-TW"/>
              <a:t>特殊情況： 對於 PD 患者，應在測試前詳細解釋量表；對於多發性硬化症 (MS) 患者，可單獨評估肢體的 RPE 以區分局部疲勞。</a:t>
            </a:r>
            <a:endParaRPr/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522" name="Shape 5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3" name="Google Shape;523;p76"/>
          <p:cNvSpPr txBox="1"/>
          <p:nvPr>
            <p:ph idx="1" type="body"/>
          </p:nvPr>
        </p:nvSpPr>
        <p:spPr>
          <a:xfrm>
            <a:off x="628649" y="4651772"/>
            <a:ext cx="7567800" cy="4917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4" name="Google Shape;524;p76"/>
          <p:cNvSpPr txBox="1"/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5" name="Google Shape;525;p76"/>
          <p:cNvSpPr txBox="1"/>
          <p:nvPr>
            <p:ph idx="2" type="body"/>
          </p:nvPr>
        </p:nvSpPr>
        <p:spPr>
          <a:xfrm>
            <a:off x="628650" y="1167940"/>
            <a:ext cx="7886700" cy="34647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zh-TW" sz="1800"/>
              <a:t>5. 8–12 週沒進步怎麼調？</a:t>
            </a:r>
            <a:endParaRPr sz="1800"/>
          </a:p>
          <a:p>
            <a:pPr indent="-361950" lvl="0" marL="457200" rtl="0" algn="l">
              <a:spcBef>
                <a:spcPts val="1200"/>
              </a:spcBef>
              <a:spcAft>
                <a:spcPts val="0"/>
              </a:spcAft>
              <a:buSzPts val="2100"/>
              <a:buChar char="●"/>
            </a:pPr>
            <a:r>
              <a:rPr lang="zh-TW" sz="1800"/>
              <a:t>漸進超負荷 (Progressive Overload)：</a:t>
            </a:r>
            <a:endParaRPr sz="1800"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zh-TW" sz="1800"/>
              <a:t>調整重量： 每次訓練可嘗試增加 2.5%–5% 的重量。</a:t>
            </a:r>
            <a:endParaRPr sz="1800"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zh-TW" sz="1800"/>
              <a:t>2-for-2 原則： 若病人連續兩次訓練課中，最後一組能比處方次數多做 2 次，即可增加負荷。</a:t>
            </a:r>
            <a:endParaRPr sz="1800"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zh-TW" sz="1800"/>
              <a:t>改變變數： 若重量卡關，可嘗試調整動作速度（更快速、爆發性）、活動範圍 (ROM) 或組間休息時間。</a:t>
            </a:r>
            <a:endParaRPr sz="1800"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zh-TW" sz="1800"/>
              <a:t>減量期 (Deload)： 如果病人因累積疲勞導致平台期，可安排 1 週的減量（減少量或強度），讓身體恢復以利產生後續適應。</a:t>
            </a:r>
            <a:endParaRPr sz="1800"/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529" name="Shape 5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0" name="Google Shape;530;p77"/>
          <p:cNvSpPr txBox="1"/>
          <p:nvPr>
            <p:ph idx="1" type="body"/>
          </p:nvPr>
        </p:nvSpPr>
        <p:spPr>
          <a:xfrm>
            <a:off x="628649" y="4651772"/>
            <a:ext cx="7567800" cy="4917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1" name="Google Shape;531;p77"/>
          <p:cNvSpPr txBox="1"/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2" name="Google Shape;532;p77"/>
          <p:cNvSpPr txBox="1"/>
          <p:nvPr>
            <p:ph idx="2" type="body"/>
          </p:nvPr>
        </p:nvSpPr>
        <p:spPr>
          <a:xfrm>
            <a:off x="628650" y="1167940"/>
            <a:ext cx="7886700" cy="34647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zh-TW" sz="1800"/>
              <a:t>6. 什麼情況要回到醫療評估/重新測試？</a:t>
            </a:r>
            <a:endParaRPr sz="1800"/>
          </a:p>
          <a:p>
            <a:pPr indent="-361950" lvl="0" marL="457200" rtl="0" algn="l">
              <a:spcBef>
                <a:spcPts val="1200"/>
              </a:spcBef>
              <a:spcAft>
                <a:spcPts val="0"/>
              </a:spcAft>
              <a:buSzPts val="2100"/>
              <a:buChar char="●"/>
            </a:pPr>
            <a:r>
              <a:rPr lang="zh-TW" sz="1800"/>
              <a:t>症狀改變： 出現新的臨床徵兆（如胸痛、心律不整、頭暈、發紺）或自覺運動耐受力下降。</a:t>
            </a:r>
            <a:endParaRPr sz="1800"/>
          </a:p>
          <a:p>
            <a:pPr indent="-361950" lvl="0" marL="457200" rtl="0" algn="l">
              <a:spcBef>
                <a:spcPts val="0"/>
              </a:spcBef>
              <a:spcAft>
                <a:spcPts val="0"/>
              </a:spcAft>
              <a:buSzPts val="2100"/>
              <a:buChar char="●"/>
            </a:pPr>
            <a:r>
              <a:rPr lang="zh-TW" sz="1800"/>
              <a:t>藥物調整： β-受體阻斷劑 (β-blockers) 的劑量改變時，應重新進行運動測試，因為這會改變心率反應。</a:t>
            </a:r>
            <a:endParaRPr sz="1800"/>
          </a:p>
          <a:p>
            <a:pPr indent="-361950" lvl="0" marL="457200" rtl="0" algn="l">
              <a:spcBef>
                <a:spcPts val="0"/>
              </a:spcBef>
              <a:spcAft>
                <a:spcPts val="0"/>
              </a:spcAft>
              <a:buSzPts val="2100"/>
              <a:buChar char="●"/>
            </a:pPr>
            <a:r>
              <a:rPr lang="zh-TW" sz="1800"/>
              <a:t>異常生理反應： 運動中出現血壓不升反降 (Hypotensive response) 或 SBP &gt; 250 mmHg。</a:t>
            </a:r>
            <a:endParaRPr sz="1800"/>
          </a:p>
          <a:p>
            <a:pPr indent="-361950" lvl="0" marL="457200" rtl="0" algn="l">
              <a:spcBef>
                <a:spcPts val="0"/>
              </a:spcBef>
              <a:spcAft>
                <a:spcPts val="0"/>
              </a:spcAft>
              <a:buSzPts val="2100"/>
              <a:buChar char="●"/>
            </a:pPr>
            <a:r>
              <a:rPr lang="zh-TW" sz="1800"/>
              <a:t>病況波動： 慢性病患若發生急性惡化（如 COPD 惡化或心臟病發作）後，重新開始訓練前應再次評估。</a:t>
            </a:r>
            <a:endParaRPr sz="1800"/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536" name="Shape 5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7" name="Google Shape;537;p78"/>
          <p:cNvSpPr txBox="1"/>
          <p:nvPr>
            <p:ph idx="1" type="body"/>
          </p:nvPr>
        </p:nvSpPr>
        <p:spPr>
          <a:xfrm>
            <a:off x="628649" y="4651772"/>
            <a:ext cx="7567800" cy="4917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8" name="Google Shape;538;p78"/>
          <p:cNvSpPr txBox="1"/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9" name="Google Shape;539;p78"/>
          <p:cNvSpPr txBox="1"/>
          <p:nvPr>
            <p:ph idx="2" type="body"/>
          </p:nvPr>
        </p:nvSpPr>
        <p:spPr>
          <a:xfrm>
            <a:off x="628650" y="1167940"/>
            <a:ext cx="7886700" cy="34647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rmAutofit lnSpcReduction="20000"/>
          </a:bodyPr>
          <a:lstStyle/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zh-TW"/>
              <a:t>7.</a:t>
            </a:r>
            <a:r>
              <a:rPr lang="zh-TW"/>
              <a:t> β-blocker 使用者的心率訂定方法</a:t>
            </a:r>
            <a:endParaRPr/>
          </a:p>
          <a:p>
            <a:pPr indent="-361950" lvl="0" marL="457200" rtl="0" algn="l">
              <a:spcBef>
                <a:spcPts val="1200"/>
              </a:spcBef>
              <a:spcAft>
                <a:spcPts val="0"/>
              </a:spcAft>
              <a:buSzPts val="2100"/>
              <a:buChar char="●"/>
            </a:pPr>
            <a:r>
              <a:rPr lang="zh-TW"/>
              <a:t>首選：實測最大心率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zh-TW"/>
              <a:t>應在患者服用藥物劑量已達穩定狀態後，進行一次症狀限制下的最大運動測試（Symptom-limited Maximal Exercise Test），以測得藥物影響下的實際最大心率。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zh-TW"/>
              <a:t>以此實測值來計算目標心率（THR）範圍。</a:t>
            </a:r>
            <a:endParaRPr/>
          </a:p>
          <a:p>
            <a:pPr indent="-361950" lvl="0" marL="457200" rtl="0" algn="l">
              <a:spcBef>
                <a:spcPts val="0"/>
              </a:spcBef>
              <a:spcAft>
                <a:spcPts val="0"/>
              </a:spcAft>
              <a:buSzPts val="2100"/>
              <a:buChar char="●"/>
            </a:pPr>
            <a:r>
              <a:rPr lang="zh-TW"/>
              <a:t>次選：調整藥物後的重新評估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zh-TW"/>
              <a:t>若藥物劑量在測試後有所改變，建議重新進行運動測試。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zh-TW"/>
              <a:t>若無法重測，可測量患者在「劑量改變前」能達成之相同負載下的心率，並以該新心率值的 ±5 次/分 作為新的心率目標範圍。</a:t>
            </a:r>
            <a:endParaRPr/>
          </a:p>
          <a:p>
            <a:pPr indent="-361950" lvl="0" marL="457200" rtl="0" algn="l">
              <a:spcBef>
                <a:spcPts val="0"/>
              </a:spcBef>
              <a:spcAft>
                <a:spcPts val="0"/>
              </a:spcAft>
              <a:buSzPts val="2100"/>
              <a:buChar char="●"/>
            </a:pPr>
            <a:r>
              <a:rPr lang="zh-TW"/>
              <a:t>替代指標：RPE 與談話測試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zh-TW"/>
              <a:t>若無法獲得準確心率，應改用自覺用力係數（RPE，Borg 6–20 量表）或談話測試（Talk Test）來指導強度。</a:t>
            </a:r>
            <a:endParaRPr/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543" name="Shape 5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4" name="Google Shape;544;p79"/>
          <p:cNvSpPr txBox="1"/>
          <p:nvPr>
            <p:ph idx="1" type="body"/>
          </p:nvPr>
        </p:nvSpPr>
        <p:spPr>
          <a:xfrm>
            <a:off x="628649" y="4651772"/>
            <a:ext cx="7567800" cy="4917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5" name="Google Shape;545;p79"/>
          <p:cNvSpPr txBox="1"/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6" name="Google Shape;546;p79"/>
          <p:cNvSpPr txBox="1"/>
          <p:nvPr>
            <p:ph idx="2" type="body"/>
          </p:nvPr>
        </p:nvSpPr>
        <p:spPr>
          <a:xfrm>
            <a:off x="628650" y="1167940"/>
            <a:ext cx="7886700" cy="34647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zh-TW"/>
              <a:t>8.</a:t>
            </a:r>
            <a:r>
              <a:rPr lang="zh-TW" sz="1800"/>
              <a:t> AF 或起搏器使用者（HR 不可靠時）的應對</a:t>
            </a:r>
            <a:endParaRPr sz="1800"/>
          </a:p>
          <a:p>
            <a:pPr indent="-361950" lvl="0" marL="457200" rtl="0" algn="l">
              <a:spcBef>
                <a:spcPts val="1200"/>
              </a:spcBef>
              <a:spcAft>
                <a:spcPts val="0"/>
              </a:spcAft>
              <a:buSzPts val="2100"/>
              <a:buChar char="●"/>
            </a:pPr>
            <a:r>
              <a:rPr lang="zh-TW" sz="1800"/>
              <a:t>對於心房顫動（HR 反應不規則）或起搏器（HR 可能受程式限制）的患者，心率無法如實反映代謝需求。</a:t>
            </a:r>
            <a:endParaRPr sz="1800"/>
          </a:p>
          <a:p>
            <a:pPr indent="-361950" lvl="0" marL="457200" rtl="0" algn="l">
              <a:spcBef>
                <a:spcPts val="0"/>
              </a:spcBef>
              <a:spcAft>
                <a:spcPts val="0"/>
              </a:spcAft>
              <a:buSzPts val="2100"/>
              <a:buChar char="●"/>
            </a:pPr>
            <a:r>
              <a:rPr lang="zh-TW" sz="1800"/>
              <a:t>使用主觀強度指標（RPE 與 Talk Test）：</a:t>
            </a:r>
            <a:endParaRPr sz="1800"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b="1" lang="zh-TW" sz="1800"/>
              <a:t>RPE 指標</a:t>
            </a:r>
            <a:r>
              <a:rPr lang="zh-TW" sz="1800"/>
              <a:t>： 建議維持在 11–14 分（6–20 量表），即「輕微吃力」至「稍感吃力」的區間。</a:t>
            </a:r>
            <a:endParaRPr sz="1800"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b="1" lang="zh-TW" sz="1800"/>
              <a:t>談話測試</a:t>
            </a:r>
            <a:r>
              <a:rPr lang="zh-TW" sz="1800"/>
              <a:t>： 這是判斷強度是否在通氣閾值（VT）以下非常有效的工具。</a:t>
            </a:r>
            <a:endParaRPr sz="1800"/>
          </a:p>
          <a:p>
            <a:pPr indent="-323850" lvl="2" marL="1371600" rtl="0" algn="l">
              <a:spcBef>
                <a:spcPts val="0"/>
              </a:spcBef>
              <a:spcAft>
                <a:spcPts val="0"/>
              </a:spcAft>
              <a:buSzPts val="1500"/>
              <a:buChar char="■"/>
            </a:pPr>
            <a:r>
              <a:rPr lang="zh-TW" sz="1800"/>
              <a:t>舒適交談： 強度通常在 VT 以下。</a:t>
            </a:r>
            <a:endParaRPr sz="1800"/>
          </a:p>
          <a:p>
            <a:pPr indent="-323850" lvl="2" marL="1371600" rtl="0" algn="l">
              <a:spcBef>
                <a:spcPts val="0"/>
              </a:spcBef>
              <a:spcAft>
                <a:spcPts val="0"/>
              </a:spcAft>
              <a:buSzPts val="1500"/>
              <a:buChar char="■"/>
            </a:pPr>
            <a:r>
              <a:rPr lang="zh-TW" sz="1800"/>
              <a:t>交談困難（喘）： 可能已超過 VT。</a:t>
            </a:r>
            <a:endParaRPr sz="18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