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1" r:id="rId13"/>
    <p:sldId id="272" r:id="rId14"/>
    <p:sldId id="270" r:id="rId15"/>
    <p:sldId id="280" r:id="rId16"/>
    <p:sldId id="281" r:id="rId17"/>
    <p:sldId id="282" r:id="rId18"/>
    <p:sldId id="275" r:id="rId19"/>
    <p:sldId id="325" r:id="rId20"/>
    <p:sldId id="321" r:id="rId21"/>
    <p:sldId id="322" r:id="rId22"/>
    <p:sldId id="323" r:id="rId23"/>
    <p:sldId id="324" r:id="rId24"/>
    <p:sldId id="326" r:id="rId25"/>
    <p:sldId id="327" r:id="rId26"/>
    <p:sldId id="320" r:id="rId27"/>
    <p:sldId id="328" r:id="rId28"/>
    <p:sldId id="329" r:id="rId29"/>
    <p:sldId id="330" r:id="rId30"/>
    <p:sldId id="331" r:id="rId31"/>
    <p:sldId id="332" r:id="rId32"/>
    <p:sldId id="333" r:id="rId33"/>
    <p:sldId id="267" r:id="rId34"/>
    <p:sldId id="273" r:id="rId35"/>
    <p:sldId id="27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9144000" cy="5143500" type="screen16x9"/>
  <p:notesSz cx="6858000" cy="9144000"/>
  <p:embeddedFontLst>
    <p:embeddedFont>
      <p:font typeface="Helvetica Neue" panose="02020500000000000000" charset="0"/>
      <p:regular r:id="rId73"/>
      <p:bold r:id="rId74"/>
      <p:italic r:id="rId75"/>
      <p:boldItalic r:id="rId76"/>
    </p:embeddedFont>
    <p:embeddedFont>
      <p:font typeface="Calibri" panose="020F0502020204030204" pitchFamily="34" charset="0"/>
      <p:regular r:id="rId77"/>
      <p:bold r:id="rId78"/>
      <p:italic r:id="rId79"/>
      <p:boldItalic r:id="rId80"/>
    </p:embeddedFont>
    <p:embeddedFont>
      <p:font typeface="Oi" panose="02020500000000000000" charset="0"/>
      <p:regular r:id="rId8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82CE"/>
    <a:srgbClr val="E53E3E"/>
    <a:srgbClr val="547C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DDFD0E-D07E-4245-9B5E-44F62409D258}">
  <a:tblStyle styleId="{27DDFD0E-D07E-4245-9B5E-44F62409D2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14" y="5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2.fntdata"/><Relationship Id="rId79" Type="http://schemas.openxmlformats.org/officeDocument/2006/relationships/font" Target="fonts/font7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80" Type="http://schemas.openxmlformats.org/officeDocument/2006/relationships/font" Target="fonts/font8.fntdata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3.fntdata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1.fntdata"/><Relationship Id="rId78" Type="http://schemas.openxmlformats.org/officeDocument/2006/relationships/font" Target="fonts/font6.fntdata"/><Relationship Id="rId8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4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18a88295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g3a18a88295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b15dafc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b15dafc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a56086149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a56086149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18a88295b_0_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3a18a88295b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627de88a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627de88a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627de88a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627de88a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a51b2b46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a51b2b46d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a56086149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a56086149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a56086149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a56086149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a56086149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a56086149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a75865b9f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a75865b9f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a56086149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a56086149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a56086149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ba56086149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a56086149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a56086149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a5608614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ba5608614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43005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ba56086149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ba56086149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72409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a56086149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ba56086149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49911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a56086149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ba56086149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a56086149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ba56086149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52457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a75865b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a75865b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79529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ad2d932a1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bad2d932a1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02025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ad2d932a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bad2d932a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83349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627de88a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627de88a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20547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a56086149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ba56086149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6271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a56086149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ba56086149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66917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180470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713391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666396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56086149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a56086149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61466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a56086149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ba56086149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44322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a56086149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a56086149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37950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a75865b9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ba75865b9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ba75865b9f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ba75865b9f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ba51b2b46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ba51b2b46d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a51b2b46d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ba51b2b46d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bae045a8a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bae045a8a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ba51b2b46d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ba51b2b46d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ba75865b9f_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ba75865b9f_1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a51b2b46d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ba51b2b46d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ba51b2b46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ba51b2b46d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ba51b2b46d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ba51b2b46d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ba51b2b46d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ba51b2b46d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ba51b2b46d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ba51b2b46d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ba75865b9f_1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ba75865b9f_1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ba51b2b46d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ba51b2b46d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bae045a8a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bae045a8a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bacb15613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bacb15613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bacb15613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bacb15613a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acb15613a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bacb15613a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bacb15613a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bacb15613a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bacb15613a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bacb15613a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bae045a8ab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bae045a8ab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bae045a8ab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bae045a8ab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bae045a8ab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bae045a8ab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ae045a8a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bae045a8ab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ba56086149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ba56086149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ba51b2b46d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ba51b2b46d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ba51b2b46d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ba51b2b46d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ba5608614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ba5608614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ba5608614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ba5608614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ba56086149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ba56086149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ba5608614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ba5608614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ba5608614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ba5608614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ba56086149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ba56086149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ba5608614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ba5608614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ba56086149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ba56086149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ctrTitle"/>
          </p:nvPr>
        </p:nvSpPr>
        <p:spPr>
          <a:xfrm>
            <a:off x="311708" y="13541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Calibri"/>
              <a:buNone/>
              <a:defRPr sz="5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"/>
          </p:nvPr>
        </p:nvSpPr>
        <p:spPr>
          <a:xfrm>
            <a:off x="311700" y="340677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i"/>
              <a:buNone/>
              <a:defRPr sz="2400">
                <a:latin typeface="Oi"/>
                <a:ea typeface="Oi"/>
                <a:cs typeface="Oi"/>
                <a:sym typeface="O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lvl="0" indent="0" algn="r"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2"/>
          </p:nvPr>
        </p:nvSpPr>
        <p:spPr>
          <a:xfrm>
            <a:off x="2251650" y="960575"/>
            <a:ext cx="4640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i"/>
              <a:buNone/>
              <a:defRPr sz="1800" b="1">
                <a:solidFill>
                  <a:schemeClr val="accent2"/>
                </a:solidFill>
                <a:latin typeface="Oi"/>
                <a:ea typeface="Oi"/>
                <a:cs typeface="Oi"/>
                <a:sym typeface="Oi"/>
              </a:defRPr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3"/>
          </p:nvPr>
        </p:nvSpPr>
        <p:spPr>
          <a:xfrm>
            <a:off x="311700" y="4471325"/>
            <a:ext cx="34290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i"/>
              <a:buChar char="●"/>
              <a:defRPr sz="1400">
                <a:latin typeface="Oi"/>
                <a:ea typeface="Oi"/>
                <a:cs typeface="Oi"/>
                <a:sym typeface="Oi"/>
              </a:defRPr>
            </a:lvl1pPr>
            <a:lvl2pPr marL="914400" lvl="1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自訂版面配置">
  <p:cSld name="1_自訂版面配置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8" y="13541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Helvetica Neue"/>
              <a:buNone/>
              <a:defRPr sz="3000" b="1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None/>
              <a:defRPr sz="52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None/>
              <a:defRPr sz="52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None/>
              <a:defRPr sz="52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None/>
              <a:defRPr sz="52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None/>
              <a:defRPr sz="52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None/>
              <a:defRPr sz="52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None/>
              <a:defRPr sz="52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None/>
              <a:defRPr sz="52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自訂版面配置">
  <p:cSld name="自訂版面配置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628650" y="325560"/>
            <a:ext cx="7886700" cy="7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endParaRPr sz="27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>
            <a:off x="628650" y="1092085"/>
            <a:ext cx="7886700" cy="0"/>
          </a:xfrm>
          <a:prstGeom prst="straightConnector1">
            <a:avLst/>
          </a:prstGeom>
          <a:noFill/>
          <a:ln w="143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7" name="Google Shape;67;p15"/>
          <p:cNvCxnSpPr/>
          <p:nvPr/>
        </p:nvCxnSpPr>
        <p:spPr>
          <a:xfrm>
            <a:off x="628650" y="4651641"/>
            <a:ext cx="7886700" cy="0"/>
          </a:xfrm>
          <a:prstGeom prst="straightConnector1">
            <a:avLst/>
          </a:prstGeom>
          <a:noFill/>
          <a:ln w="143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8" name="Google Shape;68;p15"/>
          <p:cNvSpPr txBox="1"/>
          <p:nvPr/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57070"/>
              </a:buClr>
              <a:buSzPts val="1500"/>
              <a:buFont typeface="Arial"/>
              <a:buNone/>
              <a:defRPr sz="1500">
                <a:solidFill>
                  <a:srgbClr val="757070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elvetica Neue"/>
              <a:buNone/>
              <a:defRPr b="1" i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3.png"/><Relationship Id="rId4" Type="http://schemas.openxmlformats.org/officeDocument/2006/relationships/image" Target="../media/image21.jp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4.jp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ctrTitle"/>
          </p:nvPr>
        </p:nvSpPr>
        <p:spPr>
          <a:xfrm>
            <a:off x="691825" y="1761600"/>
            <a:ext cx="7653300" cy="11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>
              <a:lnSpc>
                <a:spcPct val="100000"/>
              </a:lnSpc>
              <a:buClr>
                <a:srgbClr val="262626"/>
              </a:buClr>
            </a:pPr>
            <a:r>
              <a:rPr lang="zh-TW" sz="3300" dirty="0">
                <a:solidFill>
                  <a:srgbClr val="2626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Physical Activity</a:t>
            </a:r>
            <a:r>
              <a:rPr lang="en-US" altLang="zh-TW" sz="3300" dirty="0">
                <a:solidFill>
                  <a:srgbClr val="2626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&amp; </a:t>
            </a:r>
            <a:r>
              <a:rPr lang="zh-TW" sz="3300" dirty="0">
                <a:solidFill>
                  <a:srgbClr val="2626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 Intensity</a:t>
            </a:r>
            <a:r>
              <a:rPr lang="en-US" altLang="zh-TW" sz="3300">
                <a:solidFill>
                  <a:srgbClr val="2626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Oxygen Consumption Kinematics</a:t>
            </a:r>
            <a:endParaRPr sz="3300" dirty="0">
              <a:solidFill>
                <a:srgbClr val="26262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subTitle" idx="1"/>
          </p:nvPr>
        </p:nvSpPr>
        <p:spPr>
          <a:xfrm>
            <a:off x="691832" y="2845676"/>
            <a:ext cx="4410600" cy="15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45E65"/>
              </a:buClr>
              <a:buSzPts val="1800"/>
              <a:buNone/>
            </a:pPr>
            <a:r>
              <a:rPr lang="zh-TW" sz="2700" b="1" dirty="0">
                <a:solidFill>
                  <a:srgbClr val="245E6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lang="en-US" altLang="zh-TW" sz="2700" b="1" dirty="0">
                <a:solidFill>
                  <a:srgbClr val="245E6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lang="zh-TW" sz="2700" b="1" dirty="0">
                <a:solidFill>
                  <a:srgbClr val="245E6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吳一宏, Yi-Hong Wu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45E65"/>
              </a:buClr>
              <a:buSzPts val="1800"/>
              <a:buNone/>
            </a:pPr>
            <a:endParaRPr lang="en-US" altLang="zh-TW" sz="1800" b="1" dirty="0">
              <a:solidFill>
                <a:srgbClr val="245E6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45E65"/>
              </a:buClr>
              <a:buSzPts val="1800"/>
              <a:buNone/>
            </a:pPr>
            <a:r>
              <a:rPr lang="zh-TW" sz="1800" b="1" dirty="0">
                <a:solidFill>
                  <a:srgbClr val="245E6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Date: </a:t>
            </a:r>
            <a:r>
              <a:rPr lang="en-US" altLang="zh-TW" sz="1800" b="1" dirty="0">
                <a:solidFill>
                  <a:srgbClr val="245E6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August </a:t>
            </a:r>
            <a:r>
              <a:rPr lang="zh-TW" sz="1800" b="1" dirty="0">
                <a:solidFill>
                  <a:srgbClr val="245E6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altLang="zh-TW" sz="1800" b="1" dirty="0">
                <a:solidFill>
                  <a:srgbClr val="245E6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lang="en-US" altLang="zh-TW" sz="1800" b="1" baseline="30000" dirty="0">
                <a:solidFill>
                  <a:srgbClr val="245E6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lang="zh-TW" sz="1800" b="1" dirty="0">
                <a:solidFill>
                  <a:srgbClr val="245E6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2026</a:t>
            </a:r>
            <a:endParaRPr sz="1800" b="1" dirty="0">
              <a:solidFill>
                <a:srgbClr val="245E6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524200" y="861300"/>
            <a:ext cx="35928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700" b="1" dirty="0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Doctor Seminar</a:t>
            </a:r>
            <a:endParaRPr sz="1400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16"/>
          <p:cNvCxnSpPr/>
          <p:nvPr/>
        </p:nvCxnSpPr>
        <p:spPr>
          <a:xfrm>
            <a:off x="813748" y="3500651"/>
            <a:ext cx="3592800" cy="0"/>
          </a:xfrm>
          <a:prstGeom prst="straightConnector1">
            <a:avLst/>
          </a:prstGeom>
          <a:noFill/>
          <a:ln w="14300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0" name="Google Shape;80;p16"/>
          <p:cNvSpPr txBox="1"/>
          <p:nvPr/>
        </p:nvSpPr>
        <p:spPr>
          <a:xfrm>
            <a:off x="8158025" y="1100850"/>
            <a:ext cx="985800" cy="484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ctrTitle"/>
          </p:nvPr>
        </p:nvSpPr>
        <p:spPr>
          <a:xfrm>
            <a:off x="311708" y="1354175"/>
            <a:ext cx="8520600" cy="20526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怎麼開立運動處方？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357" y="0"/>
            <a:ext cx="765528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ctrTitle"/>
          </p:nvPr>
        </p:nvSpPr>
        <p:spPr>
          <a:xfrm>
            <a:off x="311708" y="13541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536"/>
              </a:buClr>
              <a:buSzPts val="3900"/>
              <a:buFont typeface="Helvetica Neue"/>
              <a:buNone/>
            </a:pPr>
            <a:r>
              <a:rPr lang="zh-TW">
                <a:solidFill>
                  <a:schemeClr val="accent5"/>
                </a:solidFill>
              </a:rPr>
              <a:t>Outline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 dirty="0"/>
              <a:t>Physical </a:t>
            </a:r>
            <a:r>
              <a:rPr lang="en-US" altLang="zh-TW" dirty="0"/>
              <a:t>A</a:t>
            </a:r>
            <a:r>
              <a:rPr lang="zh-TW" dirty="0"/>
              <a:t>ctivity and </a:t>
            </a:r>
            <a:r>
              <a:rPr lang="en-US" altLang="zh-TW" dirty="0"/>
              <a:t>E</a:t>
            </a:r>
            <a:r>
              <a:rPr lang="zh-TW" dirty="0"/>
              <a:t>xercise </a:t>
            </a:r>
            <a:r>
              <a:rPr lang="en-US" altLang="zh-TW" dirty="0"/>
              <a:t>I</a:t>
            </a:r>
            <a:r>
              <a:rPr lang="zh-TW" dirty="0"/>
              <a:t>ntensity </a:t>
            </a:r>
            <a:r>
              <a:rPr lang="en-US" altLang="zh-TW" dirty="0"/>
              <a:t>T</a:t>
            </a:r>
            <a:r>
              <a:rPr lang="zh-TW" dirty="0"/>
              <a:t>erminology</a:t>
            </a:r>
            <a:endParaRPr dirty="0"/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TW" dirty="0"/>
              <a:t>Oxygen Consumption Kinematics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dirty="0">
                <a:solidFill>
                  <a:schemeClr val="bg2">
                    <a:lumMod val="20000"/>
                    <a:lumOff val="80000"/>
                  </a:schemeClr>
                </a:solidFill>
              </a:rPr>
              <a:t>ACSM GETP 11th vs. 12th</a:t>
            </a:r>
            <a:endParaRPr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ctrTitle"/>
          </p:nvPr>
        </p:nvSpPr>
        <p:spPr>
          <a:xfrm>
            <a:off x="311708" y="1354175"/>
            <a:ext cx="8520600" cy="20526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Physical Activity and Exercise Intensity Terminology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Introduction &amp; Problem Statement</a:t>
            </a:r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 dirty="0" smtClean="0"/>
              <a:t>儘管</a:t>
            </a:r>
            <a:r>
              <a:rPr lang="zh-TW" dirty="0"/>
              <a:t>運動對健康的益處證據確鑿，但不同領域（公共衛生、運動科學、競技體育）對「運動強度」的術語使用不一致，阻礙了研究整合、臨床指引的採用及運動處方的精確性。</a:t>
            </a:r>
            <a:endParaRPr dirty="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 dirty="0"/>
              <a:t>目前的指引（如 WHO、ACSM 舊版、英國首席醫療官指引）在術語上存在差異（例如：有些使用 Light/Moderate/Vigorous，有些使用 Zones，有些使用 Domains）。</a:t>
            </a:r>
            <a:endParaRPr dirty="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 dirty="0"/>
              <a:t>這種不一致性導致無法有效進行統合分析，也造成臨床醫師與大眾的溝通混淆。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Importance of Exercise Prescription</a:t>
            </a:r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Norton, K., Norton, L., &amp; Sadgrove, D. (2010). Position statement on physical activity and exercise intensity terminology. Journal of science and medicine in sport, 13(5), 496-502.</a:t>
            </a:r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body" idx="2"/>
          </p:nvPr>
        </p:nvSpPr>
        <p:spPr>
          <a:xfrm>
            <a:off x="628650" y="1167950"/>
            <a:ext cx="47232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 dirty="0"/>
              <a:t>運動應被視為一種「藥物」（Exercise is Medicine），其處方（FITT-VP 原則）決定了健康結果。</a:t>
            </a:r>
            <a:endParaRPr dirty="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 dirty="0"/>
              <a:t>強度（Intensity）是最關鍵但也最模糊的變項。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dirty="0"/>
              <a:t>絕對強度表示（例如固定功率、固定速度、固定阻力）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dirty="0"/>
              <a:t>相對強度表示（例如相對於個人最大能力的百分比）</a:t>
            </a:r>
            <a:endParaRPr dirty="0"/>
          </a:p>
        </p:txBody>
      </p:sp>
      <p:pic>
        <p:nvPicPr>
          <p:cNvPr id="123" name="Google Shape;123;p23" descr="美化這張投影片"/>
          <p:cNvPicPr preferRelativeResize="0"/>
          <p:nvPr/>
        </p:nvPicPr>
        <p:blipFill rotWithShape="1">
          <a:blip r:embed="rId3">
            <a:alphaModFix/>
          </a:blip>
          <a:srcRect l="36852" t="16721" r="5442" b="7135"/>
          <a:stretch/>
        </p:blipFill>
        <p:spPr>
          <a:xfrm>
            <a:off x="5454441" y="1538026"/>
            <a:ext cx="3060901" cy="225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Importance of Exercise Prescription</a:t>
            </a:r>
            <a:endParaRPr/>
          </a:p>
        </p:txBody>
      </p:sp>
      <p:sp>
        <p:nvSpPr>
          <p:cNvPr id="129" name="Google Shape;129;p24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32500" lnSpcReduction="20000"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/>
              <a:t>Wen, C. P., Wai, J. P. M., Tsai, M. K., Yang, Y. C., Cheng, T. Y. D., Lee, M. C., ... &amp; Wu, X. (2011). Minimum amount of physical activity for reduced mortality and extended life expectancy: a prospective cohort study. The lancet, 378(9798), 1244-1253. </a:t>
            </a: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/>
              <a:t>Lie, Ø. H., </a:t>
            </a:r>
            <a:r>
              <a:rPr lang="en-US" dirty="0" err="1"/>
              <a:t>Dejgaard</a:t>
            </a:r>
            <a:r>
              <a:rPr lang="en-US" dirty="0"/>
              <a:t>, L. A., </a:t>
            </a:r>
            <a:r>
              <a:rPr lang="en-US" dirty="0" err="1"/>
              <a:t>Saberniak</a:t>
            </a:r>
            <a:r>
              <a:rPr lang="en-US" dirty="0"/>
              <a:t>, J., </a:t>
            </a:r>
            <a:r>
              <a:rPr lang="en-US" dirty="0" err="1"/>
              <a:t>Rootwelt</a:t>
            </a:r>
            <a:r>
              <a:rPr lang="en-US" dirty="0"/>
              <a:t>, C., </a:t>
            </a:r>
            <a:r>
              <a:rPr lang="en-US" dirty="0" err="1"/>
              <a:t>Stokke</a:t>
            </a:r>
            <a:r>
              <a:rPr lang="en-US" dirty="0"/>
              <a:t>, M. K., </a:t>
            </a:r>
            <a:r>
              <a:rPr lang="en-US" dirty="0" err="1"/>
              <a:t>Edvardsen</a:t>
            </a:r>
            <a:r>
              <a:rPr lang="en-US" dirty="0"/>
              <a:t>, T., &amp; </a:t>
            </a:r>
            <a:r>
              <a:rPr lang="en-US" dirty="0" err="1"/>
              <a:t>Haugaa</a:t>
            </a:r>
            <a:r>
              <a:rPr lang="en-US" dirty="0"/>
              <a:t>, K. H. (2018). Harmful effects of exercise intensity and exercise duration in patients with arrhythmogenic cardiomyopathy. Clinical Electrophysiology, 4(6), 744-753.</a:t>
            </a:r>
          </a:p>
        </p:txBody>
      </p:sp>
      <p:sp>
        <p:nvSpPr>
          <p:cNvPr id="130" name="Google Shape;130;p24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368935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 dirty="0"/>
              <a:t>超負荷原則 (Overload Principle)：低於特定強度的運動無法充分刺激身體產生結構或生理適應。</a:t>
            </a:r>
            <a:endParaRPr lang="en-US" altLang="zh-TW" dirty="0"/>
          </a:p>
          <a:p>
            <a:r>
              <a:rPr lang="zh-TW" altLang="en-US" dirty="0"/>
              <a:t>劑量反應關係 </a:t>
            </a:r>
            <a:r>
              <a:rPr lang="en-US" altLang="zh-TW" dirty="0"/>
              <a:t>(Dose-Response)</a:t>
            </a:r>
            <a:r>
              <a:rPr lang="zh-TW" altLang="en-US" dirty="0"/>
              <a:t>：運動強度是全因死亡率降低及運動中不良事件風險的重要決定因素（</a:t>
            </a:r>
            <a:r>
              <a:rPr lang="en-US" altLang="zh-TW" dirty="0"/>
              <a:t>Wen et al., 2011; Lie et al., 2018</a:t>
            </a:r>
            <a:r>
              <a:rPr lang="zh-TW" altLang="en-US" dirty="0"/>
              <a:t>）。</a:t>
            </a:r>
            <a:endParaRPr lang="en-US" altLang="zh-TW" dirty="0"/>
          </a:p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endParaRPr dirty="0"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8000" y="1268044"/>
            <a:ext cx="4257964" cy="3025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40000" lnSpcReduction="20000"/>
          </a:bodyPr>
          <a:lstStyle/>
          <a:p>
            <a:pPr marL="0" indent="0"/>
            <a:r>
              <a:rPr lang="en-US" altLang="zh-TW" dirty="0" smtClean="0"/>
              <a:t>WHO</a:t>
            </a:r>
            <a:r>
              <a:rPr lang="en-US" altLang="zh-TW" dirty="0"/>
              <a:t>, 2020; Physical Activity Guidelines for Americans, </a:t>
            </a:r>
            <a:r>
              <a:rPr lang="en-US" altLang="zh-TW" dirty="0" smtClean="0"/>
              <a:t>2018</a:t>
            </a:r>
            <a:endParaRPr lang="en-US" altLang="zh-TW" dirty="0" smtClean="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 dirty="0" smtClean="0"/>
              <a:t>U</a:t>
            </a:r>
            <a:r>
              <a:rPr lang="zh-TW" dirty="0"/>
              <a:t>.S. Department of Health and Human </a:t>
            </a:r>
            <a:r>
              <a:rPr lang="zh-TW" dirty="0" smtClean="0"/>
              <a:t>Services</a:t>
            </a:r>
            <a:r>
              <a:rPr lang="en-US" altLang="zh-TW" dirty="0" smtClean="0"/>
              <a:t>. </a:t>
            </a:r>
            <a:r>
              <a:rPr lang="zh-TW" dirty="0" smtClean="0"/>
              <a:t>Physical </a:t>
            </a:r>
            <a:r>
              <a:rPr lang="zh-TW" dirty="0"/>
              <a:t>Activity Guidelines for Americans. Available at: https://odphp.health.gov/sites/default/files/2019-09/Physical_Activity_Guidelines_2nd_edition.pdf</a:t>
            </a:r>
            <a:endParaRPr dirty="0"/>
          </a:p>
        </p:txBody>
      </p:sp>
      <p:sp>
        <p:nvSpPr>
          <p:cNvPr id="153" name="Google Shape;153;p2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Current Terminology Inconsistencies</a:t>
            </a:r>
            <a:br>
              <a:rPr lang="zh-TW"/>
            </a:br>
            <a:r>
              <a:rPr lang="zh-TW"/>
              <a:t>心肺耐力運動 (Cardiorespiratory Exercise)</a:t>
            </a:r>
            <a:endParaRPr/>
          </a:p>
        </p:txBody>
      </p:sp>
      <p:sp>
        <p:nvSpPr>
          <p:cNvPr id="154" name="Google Shape;154;p28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 dirty="0" smtClean="0"/>
              <a:t>目前</a:t>
            </a:r>
            <a:r>
              <a:rPr lang="zh-TW" dirty="0"/>
              <a:t>存在多種分類系統，彼此無法對接。</a:t>
            </a:r>
            <a:endParaRPr dirty="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 dirty="0" smtClean="0"/>
              <a:t>運動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dirty="0"/>
              <a:t>公共衛生：Light, Moderate, Vigorous</a:t>
            </a:r>
            <a:r>
              <a:rPr lang="zh-TW" dirty="0" smtClean="0"/>
              <a:t>。</a:t>
            </a:r>
            <a:endParaRPr lang="en-US" altLang="zh-TW" dirty="0" smtClean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dirty="0" smtClean="0"/>
              <a:t>運動</a:t>
            </a:r>
            <a:r>
              <a:rPr lang="zh-TW" dirty="0"/>
              <a:t>生理學：基於生物能量學分為四個領域（Domains）——Moderate（&lt;MT1）、Heavy（MT1-MT2）、 Severe（&gt;MT2）、Extreme。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dirty="0"/>
              <a:t>競技體育：使用 Zones（如 Zone 1-5）或描述性術語（Easy, Tempo, Threshold）。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29"/>
          <p:cNvGrpSpPr/>
          <p:nvPr/>
        </p:nvGrpSpPr>
        <p:grpSpPr>
          <a:xfrm>
            <a:off x="125505" y="127012"/>
            <a:ext cx="8983151" cy="4321949"/>
            <a:chOff x="126675" y="308701"/>
            <a:chExt cx="9048299" cy="4353293"/>
          </a:xfrm>
        </p:grpSpPr>
        <p:pic>
          <p:nvPicPr>
            <p:cNvPr id="160" name="Google Shape;160;p29" descr="illustrative, white background, strict english output&#10;based on intensity descriptor, ESSA, ACSM together (with sedentary / very light; light ; moderate ; vigorous ; high / near max); Howley's intensity descriptor different largely from them ( very light ; light ; modereate ; hard ; very hard ; maximal)"/>
            <p:cNvPicPr preferRelativeResize="0"/>
            <p:nvPr/>
          </p:nvPicPr>
          <p:blipFill rotWithShape="1">
            <a:blip r:embed="rId3">
              <a:alphaModFix/>
            </a:blip>
            <a:srcRect l="1763" t="14468" b="9021"/>
            <a:stretch/>
          </p:blipFill>
          <p:spPr>
            <a:xfrm>
              <a:off x="126675" y="372150"/>
              <a:ext cx="9048299" cy="3935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29" descr="illustrative, white background, strict english output&#10;based on intensity descriptor, ESSA, ACSM together (with sedentary / very light; light ; moderate ; vigorous ; high / near max); Howley's intensity descriptor different largely from them ( very light ; light ; modereate ; hard ; very hard ; maximal)"/>
            <p:cNvPicPr preferRelativeResize="0"/>
            <p:nvPr/>
          </p:nvPicPr>
          <p:blipFill rotWithShape="1">
            <a:blip r:embed="rId3">
              <a:alphaModFix/>
            </a:blip>
            <a:srcRect l="27055" t="16822" r="25917" b="77092"/>
            <a:stretch/>
          </p:blipFill>
          <p:spPr>
            <a:xfrm>
              <a:off x="2335150" y="4348944"/>
              <a:ext cx="4331800" cy="313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29"/>
            <p:cNvPicPr preferRelativeResize="0"/>
            <p:nvPr/>
          </p:nvPicPr>
          <p:blipFill rotWithShape="1">
            <a:blip r:embed="rId4">
              <a:alphaModFix/>
            </a:blip>
            <a:srcRect t="-3338" b="29499"/>
            <a:stretch/>
          </p:blipFill>
          <p:spPr>
            <a:xfrm>
              <a:off x="2173350" y="308701"/>
              <a:ext cx="4949100" cy="733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29" descr="illustrative, white background, strict english output&#10;based on intensity descriptor, ESSA, ACSM together (with sedentary / very light; light ; moderate ; vigorous ; high / near max); Howley's intensity descriptor different largely from them ( very light ; light ; modereate ; hard ; very hard ; maximal)"/>
            <p:cNvPicPr preferRelativeResize="0"/>
            <p:nvPr/>
          </p:nvPicPr>
          <p:blipFill rotWithShape="1">
            <a:blip r:embed="rId3">
              <a:alphaModFix/>
            </a:blip>
            <a:srcRect l="61314" t="28100" r="18992" b="9471"/>
            <a:stretch/>
          </p:blipFill>
          <p:spPr>
            <a:xfrm>
              <a:off x="5548775" y="572650"/>
              <a:ext cx="1813874" cy="3776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29"/>
            <p:cNvPicPr preferRelativeResize="0"/>
            <p:nvPr/>
          </p:nvPicPr>
          <p:blipFill rotWithShape="1">
            <a:blip r:embed="rId4">
              <a:alphaModFix/>
            </a:blip>
            <a:srcRect r="63509" b="26161"/>
            <a:stretch/>
          </p:blipFill>
          <p:spPr>
            <a:xfrm>
              <a:off x="321400" y="2682475"/>
              <a:ext cx="978425" cy="3975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5" name="Google Shape;165;p29"/>
          <p:cNvPicPr preferRelativeResize="0"/>
          <p:nvPr/>
        </p:nvPicPr>
        <p:blipFill rotWithShape="1">
          <a:blip r:embed="rId4">
            <a:alphaModFix/>
          </a:blip>
          <a:srcRect t="-3338" b="29499"/>
          <a:stretch/>
        </p:blipFill>
        <p:spPr>
          <a:xfrm>
            <a:off x="3591402" y="1645182"/>
            <a:ext cx="1884087" cy="92776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9"/>
          <p:cNvSpPr txBox="1"/>
          <p:nvPr/>
        </p:nvSpPr>
        <p:spPr>
          <a:xfrm>
            <a:off x="270542" y="2373671"/>
            <a:ext cx="10854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75" tIns="90775" rIns="90775" bIns="907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91" b="1">
                <a:solidFill>
                  <a:srgbClr val="486F41"/>
                </a:solidFill>
              </a:rPr>
              <a:t>&amp;</a:t>
            </a:r>
            <a:endParaRPr sz="1191" b="1">
              <a:solidFill>
                <a:srgbClr val="486F4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91" b="1">
                <a:solidFill>
                  <a:srgbClr val="486F41"/>
                </a:solidFill>
              </a:rPr>
              <a:t>UK CMO (2019)</a:t>
            </a:r>
            <a:endParaRPr sz="1191" b="1">
              <a:solidFill>
                <a:srgbClr val="486F41"/>
              </a:solidFill>
            </a:endParaRPr>
          </a:p>
        </p:txBody>
      </p:sp>
      <p:sp>
        <p:nvSpPr>
          <p:cNvPr id="167" name="Google Shape;167;p29"/>
          <p:cNvSpPr txBox="1"/>
          <p:nvPr/>
        </p:nvSpPr>
        <p:spPr>
          <a:xfrm>
            <a:off x="2524650" y="4317650"/>
            <a:ext cx="109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1">
                <a:solidFill>
                  <a:srgbClr val="486F41"/>
                </a:solidFill>
              </a:rPr>
              <a:t>&amp; UK CMO</a:t>
            </a:r>
            <a:endParaRPr sz="1200" b="1">
              <a:solidFill>
                <a:srgbClr val="486F41"/>
              </a:solidFill>
            </a:endParaRPr>
          </a:p>
        </p:txBody>
      </p:sp>
      <p:sp>
        <p:nvSpPr>
          <p:cNvPr id="168" name="Google Shape;168;p29"/>
          <p:cNvSpPr txBox="1"/>
          <p:nvPr/>
        </p:nvSpPr>
        <p:spPr>
          <a:xfrm>
            <a:off x="-5237" y="4820400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i="1">
                <a:solidFill>
                  <a:schemeClr val="dk2"/>
                </a:solidFill>
              </a:rPr>
              <a:t>Howley ET. Type of activity: resistance, aerobic and leisure versus occupational physical activity. Med Sci Sports Exerc. 2001;33(6 Suppl):S364–9 discussion S419–20.</a:t>
            </a:r>
            <a:endParaRPr sz="900" i="1">
              <a:solidFill>
                <a:schemeClr val="dk2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70542" y="337381"/>
            <a:ext cx="9989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5250" lvl="0">
              <a:buSzPts val="2100"/>
            </a:pPr>
            <a:r>
              <a:rPr lang="zh-TW" altLang="en-US" b="1" dirty="0"/>
              <a:t>身體活動</a:t>
            </a:r>
            <a:endParaRPr lang="zh-TW" altLang="en-US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1"/>
          <p:cNvPicPr preferRelativeResize="0"/>
          <p:nvPr/>
        </p:nvPicPr>
        <p:blipFill rotWithShape="1">
          <a:blip r:embed="rId3">
            <a:alphaModFix/>
          </a:blip>
          <a:srcRect t="4278" b="46085"/>
          <a:stretch/>
        </p:blipFill>
        <p:spPr>
          <a:xfrm>
            <a:off x="56137" y="1156447"/>
            <a:ext cx="9031726" cy="309749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1"/>
          <p:cNvSpPr txBox="1"/>
          <p:nvPr/>
        </p:nvSpPr>
        <p:spPr>
          <a:xfrm>
            <a:off x="3215075" y="889575"/>
            <a:ext cx="5872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dirty="0">
                <a:solidFill>
                  <a:schemeClr val="dk2"/>
                </a:solidFill>
              </a:rPr>
              <a:t>Lactate </a:t>
            </a:r>
            <a:r>
              <a:rPr lang="en-US" altLang="zh-TW" sz="1500" dirty="0" smtClean="0">
                <a:solidFill>
                  <a:schemeClr val="dk2"/>
                </a:solidFill>
                <a:sym typeface="Wingdings" panose="05000000000000000000" pitchFamily="2" charset="2"/>
              </a:rPr>
              <a:t></a:t>
            </a:r>
            <a:r>
              <a:rPr lang="zh-TW" sz="1500" dirty="0" smtClean="0">
                <a:solidFill>
                  <a:schemeClr val="dk2"/>
                </a:solidFill>
              </a:rPr>
              <a:t> </a:t>
            </a:r>
            <a:r>
              <a:rPr lang="zh-TW" sz="1500" dirty="0">
                <a:solidFill>
                  <a:schemeClr val="dk2"/>
                </a:solidFill>
              </a:rPr>
              <a:t>CO2    CO2超過buffer</a:t>
            </a:r>
            <a:endParaRPr sz="1500" dirty="0">
              <a:solidFill>
                <a:schemeClr val="dk2"/>
              </a:solidFill>
            </a:endParaRPr>
          </a:p>
        </p:txBody>
      </p:sp>
      <p:sp>
        <p:nvSpPr>
          <p:cNvPr id="182" name="Google Shape;182;p31"/>
          <p:cNvSpPr txBox="1"/>
          <p:nvPr/>
        </p:nvSpPr>
        <p:spPr>
          <a:xfrm>
            <a:off x="0" y="4650900"/>
            <a:ext cx="9031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 i="1">
                <a:solidFill>
                  <a:srgbClr val="7F7F7F"/>
                </a:solidFill>
              </a:rPr>
              <a:t>Midgley, A.W. ∙ McNaughton, L.R. ∙ Jones, A.M. Training to enhance the physiological determinants of long-distance running performance: can valid recommendations be given to runners and coaches based on current scientific knowledge? Sports Med. 2007; 37:857-880</a:t>
            </a:r>
            <a:endParaRPr sz="1000" i="1"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2"/>
          <p:cNvPicPr preferRelativeResize="0"/>
          <p:nvPr/>
        </p:nvPicPr>
        <p:blipFill rotWithShape="1">
          <a:blip r:embed="rId3">
            <a:alphaModFix/>
          </a:blip>
          <a:srcRect t="41806"/>
          <a:stretch/>
        </p:blipFill>
        <p:spPr>
          <a:xfrm>
            <a:off x="56125" y="756012"/>
            <a:ext cx="9031752" cy="363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Previous descriptors / criteria for intensities</a:t>
            </a:r>
            <a:endParaRPr/>
          </a:p>
        </p:txBody>
      </p:sp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t="11770"/>
          <a:stretch/>
        </p:blipFill>
        <p:spPr>
          <a:xfrm>
            <a:off x="172750" y="1339500"/>
            <a:ext cx="8798499" cy="271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Katch, V. ∙ Weltman, A. ∙ Sady, S. Validity of the relative percent concept for equating training intensity. Eur J Appl Physiol. 1978; 39:219-227</a:t>
            </a:r>
            <a:endParaRPr/>
          </a:p>
        </p:txBody>
      </p:sp>
      <p:sp>
        <p:nvSpPr>
          <p:cNvPr id="259" name="Google Shape;259;p4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to Determine and Monitor Intensity</a:t>
            </a:r>
            <a:br>
              <a:rPr lang="zh-TW"/>
            </a:br>
            <a:r>
              <a:rPr lang="zh-TW"/>
              <a:t>%VO2max, %HRmax, %HRR —— 不建議作為首選</a:t>
            </a:r>
            <a:endParaRPr/>
          </a:p>
        </p:txBody>
      </p:sp>
      <p:sp>
        <p:nvSpPr>
          <p:cNvPr id="260" name="Google Shape;260;p40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核心論點：基於最大值的固定百分比（如 70% VO2max）無法在不同個體間產生一致的代謝壓力。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理論依據：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生理異質性：研究顯示，在固定 %VO2max 下，不同個體的血乳酸反應差異可達 40 倍。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Katch et al. (1978)：在 80% HRmax 時，約一半受試者高於 MT1，另一半低於 MT1，導致訓練刺激完全不同。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7826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1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4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to Determine and Monitor Intensity</a:t>
            </a:r>
            <a:br>
              <a:rPr lang="zh-TW"/>
            </a:br>
            <a:r>
              <a:rPr lang="zh-TW"/>
              <a:t>代謝當量 (METs) —— 不建議用於個體處方</a:t>
            </a:r>
            <a:endParaRPr/>
          </a:p>
        </p:txBody>
      </p:sp>
      <p:sp>
        <p:nvSpPr>
          <p:cNvPr id="267" name="Google Shape;267;p41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核心論點：固定的 METs 數值忽略了個體差異（年齡、體重、體適能）。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理論依據：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誤差過大：對於不同體適能的人，"Moderate" 強度的上限可能介於 3 到 18 METs 之間，使用固定數值會導致嚴重的強度歸類錯誤。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63415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4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to Determine and Monitor Intensity</a:t>
            </a:r>
            <a:br>
              <a:rPr lang="zh-TW"/>
            </a:br>
            <a:r>
              <a:rPr lang="zh-TW"/>
              <a:t>自覺 (RPE/Talk Test) —— 輔助工具</a:t>
            </a:r>
            <a:endParaRPr/>
          </a:p>
        </p:txBody>
      </p:sp>
      <p:sp>
        <p:nvSpPr>
          <p:cNvPr id="274" name="Google Shape;274;p42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核心論點：RPE 是有用的輔助工具，但需經過熟悉化（Familiarization）並最好與實驗室數據校正。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理論依據：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RPE：整合了周邊肌肉、心肺系統及中樞神經系統的信號。但在閾值處的 RPE 個體變異大</a:t>
            </a:r>
            <a:endParaRPr/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zh-TW"/>
              <a:t>MT1 約 RPE 7-14</a:t>
            </a:r>
            <a:endParaRPr/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zh-TW"/>
              <a:t>MT2 約 RPE 9-17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Talk Test：基於閾值附近的換氣變化會影響說話舒適度。</a:t>
            </a:r>
            <a:endParaRPr/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zh-TW"/>
              <a:t>在不活動者與接受心臟復健的患者中，「能舒適說話」可能在到達第一代謝閾值之前就終止；</a:t>
            </a:r>
            <a:endParaRPr/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zh-TW"/>
              <a:t>在訓練良好的運動員中，「能舒適說話」則可能持續到中等強度訓練類別的深處。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79437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5" descr="English, #FFFFFF background, illustrative, comparison, beautiful"/>
          <p:cNvPicPr preferRelativeResize="0"/>
          <p:nvPr/>
        </p:nvPicPr>
        <p:blipFill rotWithShape="1">
          <a:blip r:embed="rId3">
            <a:alphaModFix/>
          </a:blip>
          <a:srcRect t="25548" b="3935"/>
          <a:stretch/>
        </p:blipFill>
        <p:spPr>
          <a:xfrm>
            <a:off x="-35700" y="1555325"/>
            <a:ext cx="9210675" cy="36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5"/>
          <p:cNvSpPr txBox="1"/>
          <p:nvPr/>
        </p:nvSpPr>
        <p:spPr>
          <a:xfrm>
            <a:off x="2510125" y="2197450"/>
            <a:ext cx="18072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建議將運動強度統一分為五級</a:t>
            </a:r>
            <a:endParaRPr sz="1200"/>
          </a:p>
        </p:txBody>
      </p:sp>
      <p:sp>
        <p:nvSpPr>
          <p:cNvPr id="207" name="Google Shape;207;p35"/>
          <p:cNvSpPr txBox="1"/>
          <p:nvPr/>
        </p:nvSpPr>
        <p:spPr>
          <a:xfrm>
            <a:off x="2510125" y="2822575"/>
            <a:ext cx="1807200" cy="147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雖然生物能量學主要劃分四個領域（無 Moderate 以下的區分），但考量到從「不活動」到「活動」的健康效益最大，因此保留 Very Low 類別。</a:t>
            </a:r>
            <a:endParaRPr sz="1200"/>
          </a:p>
        </p:txBody>
      </p:sp>
      <p:sp>
        <p:nvSpPr>
          <p:cNvPr id="208" name="Google Shape;208;p35"/>
          <p:cNvSpPr txBox="1"/>
          <p:nvPr/>
        </p:nvSpPr>
        <p:spPr>
          <a:xfrm>
            <a:off x="2510125" y="4289820"/>
            <a:ext cx="1807200" cy="92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術語 "High" 在語言學上比 "Vigorous" 更能準確對應 "Moderate" 之上的層級。</a:t>
            </a:r>
            <a:endParaRPr sz="1200"/>
          </a:p>
        </p:txBody>
      </p:sp>
      <p:pic>
        <p:nvPicPr>
          <p:cNvPr id="209" name="Google Shape;20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1294" y="1629975"/>
            <a:ext cx="7212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9648" y="1629975"/>
            <a:ext cx="4636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5"/>
          <p:cNvSpPr txBox="1"/>
          <p:nvPr/>
        </p:nvSpPr>
        <p:spPr>
          <a:xfrm>
            <a:off x="7068048" y="2265488"/>
            <a:ext cx="1807200" cy="258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對應上述五級強度的描述詞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基於 Gunnar Borg 的先驅研究。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建議避免使用 "Light", "Heavy", "Strong", "Weak" 等詞彙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因為這些詞容易被誤解為描述「重量/負荷」而非「努力程度/強度」。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12" name="Google Shape;212;p3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Proposed Standardized Terminology</a:t>
            </a:r>
            <a:endParaRPr/>
          </a:p>
        </p:txBody>
      </p:sp>
      <p:sp>
        <p:nvSpPr>
          <p:cNvPr id="213" name="Google Shape;213;p35"/>
          <p:cNvSpPr txBox="1"/>
          <p:nvPr/>
        </p:nvSpPr>
        <p:spPr>
          <a:xfrm>
            <a:off x="782713" y="3669384"/>
            <a:ext cx="6144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MT1</a:t>
            </a:r>
            <a:endParaRPr sz="1200"/>
          </a:p>
        </p:txBody>
      </p:sp>
      <p:sp>
        <p:nvSpPr>
          <p:cNvPr id="214" name="Google Shape;214;p35"/>
          <p:cNvSpPr/>
          <p:nvPr/>
        </p:nvSpPr>
        <p:spPr>
          <a:xfrm>
            <a:off x="518600" y="2979510"/>
            <a:ext cx="789000" cy="276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5" name="Google Shape;215;p35"/>
          <p:cNvCxnSpPr>
            <a:endCxn id="213" idx="3"/>
          </p:cNvCxnSpPr>
          <p:nvPr/>
        </p:nvCxnSpPr>
        <p:spPr>
          <a:xfrm>
            <a:off x="1232713" y="3854034"/>
            <a:ext cx="164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6" name="Google Shape;216;p35"/>
          <p:cNvSpPr txBox="1"/>
          <p:nvPr/>
        </p:nvSpPr>
        <p:spPr>
          <a:xfrm>
            <a:off x="782713" y="3088784"/>
            <a:ext cx="6144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MT2</a:t>
            </a:r>
            <a:endParaRPr sz="1200"/>
          </a:p>
        </p:txBody>
      </p:sp>
      <p:cxnSp>
        <p:nvCxnSpPr>
          <p:cNvPr id="217" name="Google Shape;217;p35"/>
          <p:cNvCxnSpPr>
            <a:endCxn id="216" idx="3"/>
          </p:cNvCxnSpPr>
          <p:nvPr/>
        </p:nvCxnSpPr>
        <p:spPr>
          <a:xfrm>
            <a:off x="1232713" y="3273434"/>
            <a:ext cx="164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8" name="Google Shape;218;p35"/>
          <p:cNvSpPr/>
          <p:nvPr/>
        </p:nvSpPr>
        <p:spPr>
          <a:xfrm>
            <a:off x="352300" y="2345966"/>
            <a:ext cx="1044900" cy="415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35"/>
          <p:cNvSpPr txBox="1"/>
          <p:nvPr/>
        </p:nvSpPr>
        <p:spPr>
          <a:xfrm>
            <a:off x="451225" y="2453275"/>
            <a:ext cx="89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VO2max</a:t>
            </a:r>
            <a:endParaRPr sz="1200"/>
          </a:p>
        </p:txBody>
      </p:sp>
      <p:cxnSp>
        <p:nvCxnSpPr>
          <p:cNvPr id="220" name="Google Shape;220;p35"/>
          <p:cNvCxnSpPr/>
          <p:nvPr/>
        </p:nvCxnSpPr>
        <p:spPr>
          <a:xfrm>
            <a:off x="1191313" y="2637915"/>
            <a:ext cx="164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21" name="Google Shape;221;p35"/>
          <p:cNvPicPr preferRelativeResize="0"/>
          <p:nvPr/>
        </p:nvPicPr>
        <p:blipFill rotWithShape="1">
          <a:blip r:embed="rId5">
            <a:alphaModFix/>
          </a:blip>
          <a:srcRect l="10873" t="42463" b="46086"/>
          <a:stretch/>
        </p:blipFill>
        <p:spPr>
          <a:xfrm>
            <a:off x="233275" y="1151625"/>
            <a:ext cx="4677402" cy="41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5"/>
          <p:cNvSpPr/>
          <p:nvPr/>
        </p:nvSpPr>
        <p:spPr>
          <a:xfrm rot="5400000">
            <a:off x="4989400" y="1182500"/>
            <a:ext cx="231000" cy="415200"/>
          </a:xfrm>
          <a:prstGeom prst="bentArrow">
            <a:avLst>
              <a:gd name="adj1" fmla="val 25000"/>
              <a:gd name="adj2" fmla="val 25921"/>
              <a:gd name="adj3" fmla="val 25000"/>
              <a:gd name="adj4" fmla="val 43750"/>
            </a:avLst>
          </a:prstGeom>
          <a:solidFill>
            <a:srgbClr val="E9E0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3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to Determine and Monitor Intensity</a:t>
            </a:r>
            <a:br>
              <a:rPr lang="zh-TW"/>
            </a:br>
            <a:r>
              <a:rPr lang="zh-TW"/>
              <a:t>代謝閾值 (Metabolic Thresholds) —— 黃金標準</a:t>
            </a:r>
            <a:endParaRPr/>
          </a:p>
        </p:txBody>
      </p:sp>
      <p:sp>
        <p:nvSpPr>
          <p:cNvPr id="229" name="Google Shape;229;p36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核心論點：直接測量代謝閾值是定義運動強度的首選方法。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第一代謝閾值 (MT1)：Lactate Threshold (LT), Gas Exchange Threshold (GET), Ventilatory Threshold (VT)。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第二代謝閾值 (MT2)：Maximal Lactate Steady State (MLSS), Critical Power (CP)。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優點：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個體化生理反應：閾值能將不同運動能力的個體置於相似的生理壓力狀態下。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客觀性：許多閾值不受受試者動機影響（適合臨床族群）。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缺點：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需要昂貴設備與耗時的運動測試。需要專業能力來分析與解讀資料。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可能需要「全力」測試（例如用以決定臨界功率/臨界速度），以及／或需要侵入性採血（例如用以決定乳酸閾值與最大乳酸穩態）。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主要是用來界定「中等強度」運動類別的下界與上界。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335996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3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to Determine and Monitor Intensity</a:t>
            </a:r>
            <a:br>
              <a:rPr lang="zh-TW"/>
            </a:br>
            <a:r>
              <a:rPr lang="zh-TW"/>
              <a:t>代謝閾值 (Metabolic Thresholds) —— 黃金標準</a:t>
            </a:r>
            <a:endParaRPr/>
          </a:p>
        </p:txBody>
      </p:sp>
      <p:sp>
        <p:nvSpPr>
          <p:cNvPr id="236" name="Google Shape;236;p37"/>
          <p:cNvSpPr txBox="1">
            <a:spLocks noGrp="1"/>
          </p:cNvSpPr>
          <p:nvPr>
            <p:ph type="body" idx="2"/>
          </p:nvPr>
        </p:nvSpPr>
        <p:spPr>
          <a:xfrm>
            <a:off x="628650" y="1167950"/>
            <a:ext cx="34008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 dirty="0"/>
              <a:t>MT1</a:t>
            </a:r>
            <a:endParaRPr dirty="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 dirty="0"/>
              <a:t>乳酸閾值（LT）：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dirty="0"/>
              <a:t>血乳酸濃度首次高於基線的上升點</a:t>
            </a:r>
            <a:endParaRPr dirty="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 dirty="0"/>
              <a:t>氣體交換閾值：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dirty="0"/>
              <a:t>將二氧化碳排出量（VCO2）對氧氣攝取量（VO2）作圖時，VCO2出現非線性上升</a:t>
            </a:r>
            <a:endParaRPr dirty="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 dirty="0"/>
              <a:t>通氣閾值</a:t>
            </a:r>
            <a:r>
              <a:rPr lang="zh-TW" altLang="en-US" dirty="0"/>
              <a:t>（</a:t>
            </a:r>
            <a:r>
              <a:rPr lang="en-US" altLang="zh-TW" dirty="0"/>
              <a:t>VT</a:t>
            </a:r>
            <a:r>
              <a:rPr lang="zh-TW" altLang="en-US" dirty="0"/>
              <a:t>）</a:t>
            </a:r>
            <a:r>
              <a:rPr lang="zh-TW" dirty="0"/>
              <a:t>：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dirty="0"/>
              <a:t>分鐘通氣量出現非線性上升</a:t>
            </a:r>
            <a:endParaRPr dirty="0"/>
          </a:p>
        </p:txBody>
      </p:sp>
      <p:pic>
        <p:nvPicPr>
          <p:cNvPr id="237" name="Google Shape;23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9450" y="1167950"/>
            <a:ext cx="4485899" cy="38492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1223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3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to Determine and Monitor Intensity</a:t>
            </a:r>
            <a:br>
              <a:rPr lang="zh-TW"/>
            </a:br>
            <a:r>
              <a:rPr lang="zh-TW"/>
              <a:t>代謝閾值 (Metabolic Thresholds) —— 黃金標準</a:t>
            </a:r>
            <a:endParaRPr/>
          </a:p>
        </p:txBody>
      </p:sp>
      <p:sp>
        <p:nvSpPr>
          <p:cNvPr id="244" name="Google Shape;244;p38"/>
          <p:cNvSpPr txBox="1">
            <a:spLocks noGrp="1"/>
          </p:cNvSpPr>
          <p:nvPr>
            <p:ph type="body" idx="2"/>
          </p:nvPr>
        </p:nvSpPr>
        <p:spPr>
          <a:xfrm>
            <a:off x="628650" y="1167950"/>
            <a:ext cx="34008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92500" lnSpcReduction="10000"/>
          </a:bodyPr>
          <a:lstStyle/>
          <a:p>
            <a:pPr marL="457200" lvl="0" indent="-351949" algn="l" rtl="0">
              <a:spcBef>
                <a:spcPts val="800"/>
              </a:spcBef>
              <a:spcAft>
                <a:spcPts val="0"/>
              </a:spcAft>
              <a:buSzPct val="116667"/>
              <a:buChar char="●"/>
            </a:pPr>
            <a:r>
              <a:rPr lang="zh-TW" dirty="0"/>
              <a:t>MT2</a:t>
            </a:r>
            <a:endParaRPr dirty="0"/>
          </a:p>
          <a:p>
            <a:pPr marL="457200" lvl="0" indent="-351949" algn="l" rtl="0">
              <a:spcBef>
                <a:spcPts val="0"/>
              </a:spcBef>
              <a:spcAft>
                <a:spcPts val="0"/>
              </a:spcAft>
              <a:buSzPct val="116667"/>
              <a:buChar char="●"/>
            </a:pPr>
            <a:r>
              <a:rPr lang="zh-TW" dirty="0"/>
              <a:t>最大乳酸穩態（MLSS）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 dirty="0"/>
              <a:t>血液乳酸產生與排除平衡的最高強度。在此強度下，乳酸濃度能維持穩定而不持續上升。</a:t>
            </a:r>
            <a:endParaRPr dirty="0"/>
          </a:p>
          <a:p>
            <a:pPr marL="457200" lvl="0" indent="-351949" algn="l" rtl="0">
              <a:spcBef>
                <a:spcPts val="0"/>
              </a:spcBef>
              <a:spcAft>
                <a:spcPts val="0"/>
              </a:spcAft>
              <a:buSzPct val="116667"/>
              <a:buChar char="●"/>
            </a:pPr>
            <a:r>
              <a:rPr lang="zh-TW" dirty="0"/>
              <a:t>臨界功率／臨界速度（critical power/speed）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 dirty="0"/>
              <a:t>基於「功率與時間」數學模型的參數，代表純有氧代謝能支撐的最高功。超過此值後，無氧儲備（W'）會開始消耗。</a:t>
            </a:r>
            <a:endParaRPr dirty="0"/>
          </a:p>
          <a:p>
            <a:pPr marL="457200" lvl="0" indent="-351949" algn="l" rtl="0">
              <a:spcBef>
                <a:spcPts val="0"/>
              </a:spcBef>
              <a:spcAft>
                <a:spcPts val="0"/>
              </a:spcAft>
              <a:buSzPct val="116667"/>
              <a:buChar char="●"/>
            </a:pPr>
            <a:r>
              <a:rPr lang="zh-TW" dirty="0"/>
              <a:t>通氣閾值</a:t>
            </a:r>
            <a:r>
              <a:rPr lang="zh-TW" altLang="en-US" dirty="0"/>
              <a:t>（</a:t>
            </a:r>
            <a:r>
              <a:rPr lang="en-US" altLang="zh-TW" dirty="0"/>
              <a:t>RCP</a:t>
            </a:r>
            <a:r>
              <a:rPr lang="zh-TW" altLang="en-US" dirty="0"/>
              <a:t>）</a:t>
            </a:r>
            <a:r>
              <a:rPr lang="zh-TW" dirty="0"/>
              <a:t>：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 dirty="0"/>
              <a:t>分鐘通氣量/VCO2出現非線性上升</a:t>
            </a:r>
            <a:endParaRPr dirty="0"/>
          </a:p>
        </p:txBody>
      </p:sp>
      <p:pic>
        <p:nvPicPr>
          <p:cNvPr id="245" name="Google Shape;24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9450" y="1167950"/>
            <a:ext cx="4485899" cy="38492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8872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9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3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to Determine and Monitor Intensity</a:t>
            </a:r>
            <a:br>
              <a:rPr lang="zh-TW"/>
            </a:br>
            <a:r>
              <a:rPr lang="zh-TW"/>
              <a:t>代謝閾值 (Metabolic Thresholds) —— 黃金標準</a:t>
            </a:r>
            <a:endParaRPr/>
          </a:p>
        </p:txBody>
      </p:sp>
      <p:sp>
        <p:nvSpPr>
          <p:cNvPr id="252" name="Google Shape;252;p39"/>
          <p:cNvSpPr txBox="1">
            <a:spLocks noGrp="1"/>
          </p:cNvSpPr>
          <p:nvPr>
            <p:ph type="body" idx="2"/>
          </p:nvPr>
        </p:nvSpPr>
        <p:spPr>
          <a:xfrm>
            <a:off x="628650" y="1167950"/>
            <a:ext cx="34008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92500" lnSpcReduction="10000"/>
          </a:bodyPr>
          <a:lstStyle/>
          <a:p>
            <a:pPr marL="457200" lvl="0" indent="-351949" algn="l" rtl="0">
              <a:spcBef>
                <a:spcPts val="800"/>
              </a:spcBef>
              <a:spcAft>
                <a:spcPts val="0"/>
              </a:spcAft>
              <a:buSzPct val="116667"/>
              <a:buChar char="●"/>
            </a:pPr>
            <a:r>
              <a:rPr lang="zh-TW"/>
              <a:t>MLSS vs. CP</a:t>
            </a:r>
            <a:endParaRPr/>
          </a:p>
          <a:p>
            <a:pPr marL="457200" lvl="0" indent="-351949" algn="l" rtl="0">
              <a:spcBef>
                <a:spcPts val="0"/>
              </a:spcBef>
              <a:spcAft>
                <a:spcPts val="0"/>
              </a:spcAft>
              <a:buSzPct val="116667"/>
              <a:buChar char="●"/>
            </a:pPr>
            <a:r>
              <a:rPr lang="zh-TW"/>
              <a:t>強度位階： </a:t>
            </a:r>
            <a:endParaRPr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多數研究指出，CP/CS 通常略高於 MLSS。</a:t>
            </a:r>
            <a:endParaRPr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這意味著在臨界功率下運動時，乳酸可能已經開始緩慢累積，無法達成完全的穩態。</a:t>
            </a:r>
            <a:endParaRPr/>
          </a:p>
          <a:p>
            <a:pPr marL="457200" lvl="0" indent="-351949" algn="l" rtl="0">
              <a:spcBef>
                <a:spcPts val="0"/>
              </a:spcBef>
              <a:spcAft>
                <a:spcPts val="0"/>
              </a:spcAft>
              <a:buSzPct val="116667"/>
              <a:buChar char="●"/>
            </a:pPr>
            <a:r>
              <a:rPr lang="zh-TW"/>
              <a:t>界限標記： </a:t>
            </a:r>
            <a:endParaRPr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MLSS 被視為「重負荷（Heavy）」運動區間的上限</a:t>
            </a:r>
            <a:endParaRPr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 CP 則被視為進入「極重負荷（Severe）」區間的邊界</a:t>
            </a:r>
            <a:endParaRPr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一旦超過 CP，攝氧量與乳酸會持續攀升直到精疲力竭。</a:t>
            </a:r>
            <a:endParaRPr/>
          </a:p>
        </p:txBody>
      </p:sp>
      <p:pic>
        <p:nvPicPr>
          <p:cNvPr id="253" name="Google Shape;25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9450" y="1167950"/>
            <a:ext cx="4485899" cy="38492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5904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ctrTitle"/>
          </p:nvPr>
        </p:nvSpPr>
        <p:spPr>
          <a:xfrm>
            <a:off x="311708" y="1354175"/>
            <a:ext cx="8520600" cy="20526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Oxygen Consumption Kinematics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43795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3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Oxygen Debt </a:t>
            </a:r>
            <a:r>
              <a:rPr lang="zh-TW" altLang="en-US" dirty="0"/>
              <a:t>氧債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4956362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lvl="0"/>
            <a:r>
              <a:rPr lang="zh-TW" altLang="en-US" dirty="0"/>
              <a:t>又稱為</a:t>
            </a:r>
            <a:r>
              <a:rPr lang="zh-TW" altLang="en-US" b="1" dirty="0"/>
              <a:t>運動後過量氧耗（</a:t>
            </a:r>
            <a:r>
              <a:rPr lang="en-US" altLang="zh-TW" b="1" dirty="0"/>
              <a:t>EPOC, Excess Post-exercise Oxygen Consumption</a:t>
            </a:r>
            <a:r>
              <a:rPr lang="zh-TW" altLang="en-US" b="1" dirty="0"/>
              <a:t>）</a:t>
            </a:r>
            <a:endParaRPr lang="en-US" altLang="zh-TW" b="1" dirty="0"/>
          </a:p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 altLang="en-US" dirty="0" smtClean="0"/>
              <a:t>有</a:t>
            </a:r>
            <a:r>
              <a:rPr lang="zh-TW" altLang="en-US" dirty="0"/>
              <a:t>氧</a:t>
            </a:r>
            <a:r>
              <a:rPr lang="zh-TW" altLang="en-US" dirty="0" smtClean="0"/>
              <a:t>代謝</a:t>
            </a:r>
            <a:r>
              <a:rPr lang="zh-TW" altLang="en-US" dirty="0"/>
              <a:t> </a:t>
            </a:r>
            <a:r>
              <a:rPr lang="en-US" altLang="zh-TW" smtClean="0"/>
              <a:t>A</a:t>
            </a:r>
            <a:r>
              <a:rPr lang="en-US" altLang="zh-TW" smtClean="0"/>
              <a:t>TP </a:t>
            </a:r>
            <a:r>
              <a:rPr lang="zh-TW" altLang="en-US" dirty="0" smtClean="0"/>
              <a:t>產生</a:t>
            </a:r>
            <a:r>
              <a:rPr lang="zh-TW" altLang="en-US" dirty="0"/>
              <a:t>效率較慢</a:t>
            </a:r>
            <a:endParaRPr lang="en-US" altLang="zh-TW" dirty="0"/>
          </a:p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 altLang="en-US" dirty="0"/>
              <a:t>先拿無氧代謝的儲備 </a:t>
            </a:r>
            <a:r>
              <a:rPr lang="en-US" altLang="zh-TW" dirty="0"/>
              <a:t>ATP</a:t>
            </a:r>
            <a:r>
              <a:rPr lang="zh-TW" altLang="en-US" dirty="0"/>
              <a:t> 來使用</a:t>
            </a:r>
            <a:endParaRPr lang="en-US" altLang="zh-TW" dirty="0"/>
          </a:p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 altLang="en-US" dirty="0"/>
              <a:t>運動後要歸還儲備</a:t>
            </a:r>
            <a:endParaRPr dirty="0"/>
          </a:p>
        </p:txBody>
      </p:sp>
      <p:pic>
        <p:nvPicPr>
          <p:cNvPr id="1026" name="Picture 2" descr="Anaerobic respiration - The respiratory system in humans – WJEC - GCSE  Biology (Single Science) Revision - WJEC - BBC Bitesiz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882" y="1123878"/>
            <a:ext cx="2791198" cy="342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8450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Mean Response Time</a:t>
            </a:r>
            <a:r>
              <a:rPr lang="zh-TW" altLang="en-US" dirty="0"/>
              <a:t> 攝氧量平均反應時間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idx="2"/>
          </p:nvPr>
        </p:nvSpPr>
        <p:spPr>
          <a:xfrm>
            <a:off x="628650" y="1167940"/>
            <a:ext cx="5270126" cy="3464700"/>
          </a:xfrm>
        </p:spPr>
        <p:txBody>
          <a:bodyPr/>
          <a:lstStyle/>
          <a:p>
            <a:r>
              <a:rPr lang="zh-TW" altLang="en-US" dirty="0"/>
              <a:t>在固定功率的運動轉換過程中，</a:t>
            </a:r>
            <a:r>
              <a:rPr lang="en-US" altLang="zh-TW" dirty="0"/>
              <a:t>VO₂ MRT </a:t>
            </a:r>
            <a:r>
              <a:rPr lang="zh-TW" altLang="en-US" dirty="0"/>
              <a:t>是指攝氧量達到</a:t>
            </a:r>
            <a:r>
              <a:rPr lang="zh-TW" altLang="en-US" b="1" dirty="0"/>
              <a:t>新穩定狀態約 </a:t>
            </a:r>
            <a:r>
              <a:rPr lang="en-US" altLang="zh-TW" b="1" dirty="0"/>
              <a:t>63%</a:t>
            </a:r>
            <a:r>
              <a:rPr lang="zh-TW" altLang="en-US" dirty="0"/>
              <a:t> 所需的時間。</a:t>
            </a:r>
            <a:endParaRPr lang="en-US" altLang="zh-TW" dirty="0"/>
          </a:p>
          <a:p>
            <a:r>
              <a:rPr lang="zh-TW" altLang="en-US" b="1" dirty="0"/>
              <a:t>生理組成</a:t>
            </a:r>
            <a:r>
              <a:rPr lang="zh-TW" altLang="en-US" dirty="0"/>
              <a:t>：</a:t>
            </a:r>
            <a:r>
              <a:rPr lang="en-US" altLang="zh-TW" dirty="0"/>
              <a:t>MRT </a:t>
            </a:r>
            <a:r>
              <a:rPr lang="zh-TW" altLang="en-US" dirty="0"/>
              <a:t>包含了</a:t>
            </a:r>
            <a:r>
              <a:rPr lang="zh-TW" altLang="en-US" b="1" dirty="0"/>
              <a:t>血液從肌肉運送到肺部的延遲</a:t>
            </a:r>
            <a:r>
              <a:rPr lang="zh-TW" altLang="en-US" dirty="0"/>
              <a:t>，以及運動肌肉內部</a:t>
            </a:r>
            <a:r>
              <a:rPr lang="zh-TW" altLang="en-US" b="1" dirty="0"/>
              <a:t>細胞的攝氧動力學</a:t>
            </a:r>
            <a:r>
              <a:rPr lang="zh-TW" altLang="en-US" dirty="0"/>
              <a:t>反應。</a:t>
            </a:r>
          </a:p>
          <a:p>
            <a:r>
              <a:rPr lang="zh-TW" altLang="en-US" b="1" dirty="0"/>
              <a:t>健康成人：</a:t>
            </a:r>
            <a:r>
              <a:rPr lang="zh-TW" altLang="en-US" dirty="0"/>
              <a:t>正常數值通常在 </a:t>
            </a:r>
            <a:r>
              <a:rPr lang="en-US" altLang="zh-TW" dirty="0"/>
              <a:t>25 </a:t>
            </a:r>
            <a:r>
              <a:rPr lang="zh-TW" altLang="en-US" dirty="0"/>
              <a:t>至 </a:t>
            </a:r>
            <a:r>
              <a:rPr lang="en-US" altLang="zh-TW" dirty="0"/>
              <a:t>45 </a:t>
            </a:r>
            <a:r>
              <a:rPr lang="zh-TW" altLang="en-US" dirty="0"/>
              <a:t>秒之間，主要取決於個人的心肺適能。</a:t>
            </a:r>
            <a:endParaRPr lang="en-US" altLang="zh-TW" dirty="0"/>
          </a:p>
          <a:p>
            <a:r>
              <a:rPr lang="zh-TW" altLang="en-US" b="1" dirty="0"/>
              <a:t>耐力運動員：</a:t>
            </a:r>
            <a:r>
              <a:rPr lang="zh-TW" altLang="en-US" dirty="0"/>
              <a:t>長期有氧訓練會加速攝氧動力學，使 </a:t>
            </a:r>
            <a:r>
              <a:rPr lang="en-US" altLang="zh-TW" dirty="0"/>
              <a:t>MRT </a:t>
            </a:r>
            <a:r>
              <a:rPr lang="zh-TW" altLang="en-US" dirty="0"/>
              <a:t>縮短至 </a:t>
            </a:r>
            <a:r>
              <a:rPr lang="en-US" altLang="zh-TW" dirty="0"/>
              <a:t>30 </a:t>
            </a:r>
            <a:r>
              <a:rPr lang="zh-TW" altLang="en-US" dirty="0"/>
              <a:t>秒以下（反應更為敏捷）。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776" y="1632512"/>
            <a:ext cx="2876393" cy="265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579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3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Exercise &amp; Muscle Recruitment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4956362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endParaRPr dirty="0"/>
          </a:p>
        </p:txBody>
      </p:sp>
      <p:pic>
        <p:nvPicPr>
          <p:cNvPr id="1028" name="Picture 4" descr="Slow vs Fast Twitch | BioNinj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885" y="1167940"/>
            <a:ext cx="7522229" cy="3411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1497106" y="3584393"/>
            <a:ext cx="1537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Early recruitment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6562164" y="3584393"/>
            <a:ext cx="14766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Late recruitment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86129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VO2 Drift / Delay = Slow component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098" name="Picture 2" descr="Sports Performance Bulletin - Training - The 'slow component' of VO2 –  understand it to go faster!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3" t="5079" r="3817" b="29226"/>
          <a:stretch/>
        </p:blipFill>
        <p:spPr bwMode="auto">
          <a:xfrm>
            <a:off x="515462" y="1261887"/>
            <a:ext cx="6103052" cy="3276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raw.githubusercontent.com/patrickwoolf/my-online-drive/main/assets/Note_CPET/1780934098046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8" t="27886" r="68110" b="16647"/>
          <a:stretch/>
        </p:blipFill>
        <p:spPr bwMode="auto">
          <a:xfrm>
            <a:off x="6837961" y="478971"/>
            <a:ext cx="2201039" cy="417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3389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VO2 Drift / Delay = Slow component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122" name="Picture 2" descr="https://raw.githubusercontent.com/patrickwoolf/my-online-drive/main/assets/Note_CPET/1778905910414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66" t="5575" r="4501" b="51533"/>
          <a:stretch/>
        </p:blipFill>
        <p:spPr bwMode="auto">
          <a:xfrm>
            <a:off x="1611086" y="1268044"/>
            <a:ext cx="5921828" cy="2970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9609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VO2 Drift / Delay = Slow component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122" name="Picture 2" descr="https://raw.githubusercontent.com/patrickwoolf/my-online-drive/main/assets/Note_CPET/1778905910414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66" t="48439" r="4501" b="4925"/>
          <a:stretch/>
        </p:blipFill>
        <p:spPr bwMode="auto">
          <a:xfrm>
            <a:off x="1611086" y="1262743"/>
            <a:ext cx="5921828" cy="3229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7447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VO2 Drift / Delay = Slow component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122" name="Picture 2" descr="https://raw.githubusercontent.com/patrickwoolf/my-online-drive/main/assets/Note_CPET/1778905910414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66" t="48439" r="4501" b="4925"/>
          <a:stretch/>
        </p:blipFill>
        <p:spPr bwMode="auto">
          <a:xfrm>
            <a:off x="1611086" y="1262743"/>
            <a:ext cx="5921828" cy="3229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線接點 5"/>
          <p:cNvCxnSpPr/>
          <p:nvPr/>
        </p:nvCxnSpPr>
        <p:spPr>
          <a:xfrm flipH="1">
            <a:off x="4513943" y="1857829"/>
            <a:ext cx="1727201" cy="2670628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>
            <a:off x="4325257" y="2394857"/>
            <a:ext cx="1509486" cy="1901372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8040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02B4C3E3-EBB7-37E8-3B6A-C50F3ECA1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D3A93799-6305-1912-3CD8-8590009B4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Our study</a:t>
            </a: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DA90F20-B92D-AE9F-B700-6B30E0ED8B8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8D822FC-5B32-C0F9-E485-DDEF933699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04"/>
          <a:stretch/>
        </p:blipFill>
        <p:spPr bwMode="auto">
          <a:xfrm>
            <a:off x="1131455" y="1148808"/>
            <a:ext cx="6479454" cy="3483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A4398FA-E8E5-A1C5-791A-D822D34A3379}"/>
              </a:ext>
            </a:extLst>
          </p:cNvPr>
          <p:cNvSpPr txBox="1"/>
          <p:nvPr/>
        </p:nvSpPr>
        <p:spPr>
          <a:xfrm>
            <a:off x="3134517" y="742082"/>
            <a:ext cx="1877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E53E3E"/>
                </a:solidFill>
              </a:rPr>
              <a:t>Ramp</a:t>
            </a:r>
            <a:r>
              <a:rPr lang="zh-TW" altLang="en-US" dirty="0">
                <a:solidFill>
                  <a:srgbClr val="E53E3E"/>
                </a:solidFill>
              </a:rPr>
              <a:t>訂的</a:t>
            </a:r>
            <a:r>
              <a:rPr lang="en-US" altLang="zh-TW" dirty="0">
                <a:solidFill>
                  <a:srgbClr val="E53E3E"/>
                </a:solidFill>
              </a:rPr>
              <a:t>VT1</a:t>
            </a:r>
            <a:r>
              <a:rPr lang="zh-TW" altLang="en-US" dirty="0">
                <a:solidFill>
                  <a:srgbClr val="E53E3E"/>
                </a:solidFill>
              </a:rPr>
              <a:t> </a:t>
            </a:r>
            <a:r>
              <a:rPr lang="en-US" altLang="zh-TW" dirty="0">
                <a:solidFill>
                  <a:srgbClr val="E53E3E"/>
                </a:solidFill>
              </a:rPr>
              <a:t>(</a:t>
            </a:r>
            <a:r>
              <a:rPr lang="zh-TW" altLang="en-US" dirty="0">
                <a:solidFill>
                  <a:srgbClr val="E53E3E"/>
                </a:solidFill>
              </a:rPr>
              <a:t>太高</a:t>
            </a:r>
            <a:r>
              <a:rPr lang="en-US" altLang="zh-TW" dirty="0">
                <a:solidFill>
                  <a:srgbClr val="E53E3E"/>
                </a:solidFill>
              </a:rPr>
              <a:t>)</a:t>
            </a:r>
            <a:endParaRPr lang="zh-TW" altLang="en-US" dirty="0">
              <a:solidFill>
                <a:srgbClr val="E53E3E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6D76C1D-E5C7-EFF3-99CB-D43F06024ABA}"/>
              </a:ext>
            </a:extLst>
          </p:cNvPr>
          <p:cNvSpPr txBox="1"/>
          <p:nvPr/>
        </p:nvSpPr>
        <p:spPr>
          <a:xfrm>
            <a:off x="5418272" y="742081"/>
            <a:ext cx="22365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3182CE"/>
                </a:solidFill>
              </a:rPr>
              <a:t>Ramp</a:t>
            </a:r>
            <a:r>
              <a:rPr lang="zh-TW" altLang="en-US" dirty="0">
                <a:solidFill>
                  <a:srgbClr val="3182CE"/>
                </a:solidFill>
              </a:rPr>
              <a:t>訂的</a:t>
            </a:r>
            <a:r>
              <a:rPr lang="en-US" altLang="zh-TW" dirty="0">
                <a:solidFill>
                  <a:srgbClr val="3182CE"/>
                </a:solidFill>
              </a:rPr>
              <a:t>VT2</a:t>
            </a:r>
            <a:r>
              <a:rPr lang="zh-TW" altLang="en-US" dirty="0">
                <a:solidFill>
                  <a:srgbClr val="3182CE"/>
                </a:solidFill>
              </a:rPr>
              <a:t> </a:t>
            </a:r>
            <a:r>
              <a:rPr lang="en-US" altLang="zh-TW" dirty="0">
                <a:solidFill>
                  <a:srgbClr val="3182CE"/>
                </a:solidFill>
              </a:rPr>
              <a:t>(</a:t>
            </a:r>
            <a:r>
              <a:rPr lang="zh-TW" altLang="en-US" dirty="0">
                <a:solidFill>
                  <a:srgbClr val="3182CE"/>
                </a:solidFill>
              </a:rPr>
              <a:t>還是太高</a:t>
            </a:r>
            <a:r>
              <a:rPr lang="en-US" altLang="zh-TW" dirty="0">
                <a:solidFill>
                  <a:srgbClr val="3182CE"/>
                </a:solidFill>
              </a:rPr>
              <a:t>)</a:t>
            </a:r>
            <a:endParaRPr lang="zh-TW" altLang="en-US" dirty="0">
              <a:solidFill>
                <a:srgbClr val="3182CE"/>
              </a:solidFill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ADB03C02-9075-B584-FE1D-C2E1D93E1115}"/>
              </a:ext>
            </a:extLst>
          </p:cNvPr>
          <p:cNvCxnSpPr/>
          <p:nvPr/>
        </p:nvCxnSpPr>
        <p:spPr>
          <a:xfrm flipH="1">
            <a:off x="3722255" y="2743200"/>
            <a:ext cx="350981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37A5DBDD-A026-38AA-2434-8C14AD149B1D}"/>
              </a:ext>
            </a:extLst>
          </p:cNvPr>
          <p:cNvCxnSpPr>
            <a:cxnSpLocks/>
          </p:cNvCxnSpPr>
          <p:nvPr/>
        </p:nvCxnSpPr>
        <p:spPr>
          <a:xfrm flipH="1">
            <a:off x="5380182" y="1685636"/>
            <a:ext cx="909781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6E3FE8E-944A-F1CB-DE74-33AA235EAE8B}"/>
              </a:ext>
            </a:extLst>
          </p:cNvPr>
          <p:cNvSpPr txBox="1"/>
          <p:nvPr/>
        </p:nvSpPr>
        <p:spPr>
          <a:xfrm>
            <a:off x="5518598" y="1736281"/>
            <a:ext cx="771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3182CE"/>
                </a:solidFill>
              </a:rPr>
              <a:t>1.4 min</a:t>
            </a:r>
            <a:endParaRPr lang="zh-TW" altLang="en-US" dirty="0">
              <a:solidFill>
                <a:srgbClr val="3182CE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71892A0-2EB3-AA94-5EF4-5BE5F65D0BEB}"/>
              </a:ext>
            </a:extLst>
          </p:cNvPr>
          <p:cNvSpPr txBox="1"/>
          <p:nvPr/>
        </p:nvSpPr>
        <p:spPr>
          <a:xfrm>
            <a:off x="3410462" y="2371126"/>
            <a:ext cx="771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chemeClr val="accent4">
                    <a:lumMod val="75000"/>
                  </a:schemeClr>
                </a:solidFill>
              </a:rPr>
              <a:t>0.8 </a:t>
            </a:r>
            <a:r>
              <a:rPr lang="en-US" altLang="zh-TW" dirty="0">
                <a:solidFill>
                  <a:schemeClr val="accent4">
                    <a:lumMod val="75000"/>
                  </a:schemeClr>
                </a:solidFill>
              </a:rPr>
              <a:t>min</a:t>
            </a:r>
            <a:endParaRPr lang="zh-TW" alt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5491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8295776-32CB-DDA1-DE55-27E868752A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Thank you very much!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77245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6063" y="152400"/>
            <a:ext cx="6031875" cy="48989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778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3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Current Terminology Inconsistencies</a:t>
            </a:r>
            <a:br>
              <a:rPr lang="zh-TW"/>
            </a:br>
            <a:r>
              <a:rPr lang="zh-TW"/>
              <a:t>阻力運動 (Resistance Exercise)</a:t>
            </a:r>
            <a:endParaRPr/>
          </a:p>
        </p:txBody>
      </p:sp>
      <p:sp>
        <p:nvSpPr>
          <p:cNvPr id="194" name="Google Shape;194;p33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核心論點：阻力運動的強度常被錯誤地與「負荷（Load，即重量）」混淆，而非「努力程度（Effort）」。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現行指引常以 %1RM 來定義強度（如 &lt;30% 為 Very Light）。然而，強度不僅取決於重量，還取決於力竭的接近程度（Proximity to failure）。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舉例而言，50% 1RM 的重量若做到力竭，其生理與感知壓力屬於高強度，而非低強度。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7034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4"/>
          <p:cNvPicPr preferRelativeResize="0"/>
          <p:nvPr/>
        </p:nvPicPr>
        <p:blipFill rotWithShape="1">
          <a:blip r:embed="rId3">
            <a:alphaModFix/>
          </a:blip>
          <a:srcRect t="6033"/>
          <a:stretch/>
        </p:blipFill>
        <p:spPr>
          <a:xfrm>
            <a:off x="152400" y="108525"/>
            <a:ext cx="8839199" cy="4489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4"/>
          <p:cNvSpPr txBox="1"/>
          <p:nvPr/>
        </p:nvSpPr>
        <p:spPr>
          <a:xfrm>
            <a:off x="0" y="4681800"/>
            <a:ext cx="899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i="1">
                <a:solidFill>
                  <a:srgbClr val="7F7F7F"/>
                </a:solidFill>
              </a:rPr>
              <a:t>Williams, M.A. ∙ Haskell, W.L. ∙ Ades, P.A. .Resistance exercise in individuals with and without cardiovascular disease: 2007 update: a scientific statement from the American Heart Association Council on Clinical Cardiology and Council on Nutrition, Physical Activity, and Metabolism Circulation. 2007; 116:572-584</a:t>
            </a:r>
            <a:endParaRPr sz="900" i="1">
              <a:solidFill>
                <a:srgbClr val="7F7F7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616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5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4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to Determine and Monitor Intensity</a:t>
            </a:r>
            <a:br>
              <a:rPr lang="zh-TW"/>
            </a:br>
            <a:r>
              <a:rPr lang="zh-TW"/>
              <a:t>阻力運動強度的測量：Reps in Reserve, RIR</a:t>
            </a:r>
            <a:endParaRPr/>
          </a:p>
        </p:txBody>
      </p:sp>
      <p:sp>
        <p:nvSpPr>
          <p:cNvPr id="297" name="Google Shape;297;p45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4328832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 dirty="0"/>
              <a:t>核心論點：不應僅用 %1RM 處方強度。建議使用 RIR（在力竭前還能做幾下）作為強度的主要指標。</a:t>
            </a:r>
            <a:endParaRPr dirty="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 dirty="0"/>
              <a:t>理論依據：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dirty="0"/>
              <a:t>神經肌肉疲勞：研究支持「接近力竭的程度」與「神經肌肉疲勞」之間存在線性關係。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dirty="0"/>
              <a:t>負荷與強度的區分：無論重量輕重，當 RIR 接近 0 時，強度皆屬於 High/Very High。</a:t>
            </a:r>
            <a:endParaRPr dirty="0"/>
          </a:p>
        </p:txBody>
      </p:sp>
      <p:pic>
        <p:nvPicPr>
          <p:cNvPr id="5" name="Google Shape;29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0835" y="1501223"/>
            <a:ext cx="3174271" cy="2898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6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4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Summary</a:t>
            </a:r>
            <a:endParaRPr/>
          </a:p>
        </p:txBody>
      </p:sp>
      <p:graphicFrame>
        <p:nvGraphicFramePr>
          <p:cNvPr id="304" name="Google Shape;304;p46"/>
          <p:cNvGraphicFramePr/>
          <p:nvPr/>
        </p:nvGraphicFramePr>
        <p:xfrm>
          <a:off x="960725" y="1330950"/>
          <a:ext cx="6903650" cy="3030201"/>
        </p:xfrm>
        <a:graphic>
          <a:graphicData uri="http://schemas.openxmlformats.org/drawingml/2006/table">
            <a:tbl>
              <a:tblPr>
                <a:noFill/>
                <a:tableStyleId>{27DDFD0E-D07E-4245-9B5E-44F62409D258}</a:tableStyleId>
              </a:tblPr>
              <a:tblGrid>
                <a:gridCol w="78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0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/>
                        <a:t>類別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/>
                        <a:t>生理參考</a:t>
                      </a:r>
                      <a:endParaRPr b="1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/>
                        <a:t>（心肺耐力運動）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/>
                        <a:t>RIR</a:t>
                      </a:r>
                      <a:endParaRPr b="1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/>
                        <a:t>（保留次數；阻力運動）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/>
                        <a:t>RPE10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/>
                        <a:t>RPE20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不活動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不活動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不活動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6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非常低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目前無測量指標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&gt;8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&lt;2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≤9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低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&lt; MT1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7–8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2–3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10–11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中等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&gt; MT1 且 &lt; MT2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4–6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4–5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12–14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高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&gt; MT2 且 &lt; Wmax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2–3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6–7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15–16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非常高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&gt; Wmax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&lt;2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8–10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≥17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7"/>
          <p:cNvSpPr txBox="1">
            <a:spLocks noGrp="1"/>
          </p:cNvSpPr>
          <p:nvPr>
            <p:ph type="ctrTitle"/>
          </p:nvPr>
        </p:nvSpPr>
        <p:spPr>
          <a:xfrm>
            <a:off x="311708" y="1354175"/>
            <a:ext cx="8520600" cy="20526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ACSM GETP 11th vs. 12th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8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4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阻力訓練 (Chapter 5)</a:t>
            </a:r>
            <a:endParaRPr/>
          </a:p>
        </p:txBody>
      </p:sp>
      <p:sp>
        <p:nvSpPr>
          <p:cNvPr id="316" name="Google Shape;316;p48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317" name="Google Shape;317;p48"/>
          <p:cNvGraphicFramePr/>
          <p:nvPr/>
        </p:nvGraphicFramePr>
        <p:xfrm>
          <a:off x="4763" y="1593250"/>
          <a:ext cx="9134475" cy="213345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{27DDFD0E-D07E-4245-9B5E-44F62409D258}</a:tableStyleId>
              </a:tblPr>
              <a:tblGrid>
                <a:gridCol w="157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19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/>
                        <a:t>比較項目</a:t>
                      </a:r>
                      <a:endParaRPr sz="1000" b="1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/>
                        <a:t>第 11 版 (2021)</a:t>
                      </a:r>
                      <a:endParaRPr sz="1000" b="1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/>
                        <a:t>第 12 版 (2025/2026)</a:t>
                      </a:r>
                      <a:endParaRPr sz="1000" b="1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/>
                        <a:t>臨床意義與更新重點</a:t>
                      </a:r>
                      <a:endParaRPr sz="1000" b="1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/>
                        <a:t>Chapter 5: 一般原則</a:t>
                      </a:r>
                      <a:endParaRPr sz="1000" b="1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性別差異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內容較分散，未獨立成節。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新增獨立小節 (Sex Differences)。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強調男女在心臟結構、代謝路徑（脂肪vs醣類）與疲勞抗性上的生理差異，指導更精確的個人化處方。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阻力訓練 (RT)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介紹基礎 FITT 原則。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內容大幅擴充。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詳述休息時間、動作順序（大肌群優先）、進階法則 (2-for-2 rule) 與 RIR 的應用。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運動強度指標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強調 %HRR, %HRmax, RPE。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延續舊有指標，但更強調客觀測試 (CPET) 為黃金標準。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在缺乏測試時，強調結合 RPE 與談話測試的重要性。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9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阻力訓練 (Chapter 5)</a:t>
            </a:r>
            <a:endParaRPr/>
          </a:p>
        </p:txBody>
      </p:sp>
      <p:sp>
        <p:nvSpPr>
          <p:cNvPr id="324" name="Google Shape;324;p49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7F7F7F"/>
                </a:solidFill>
              </a:rPr>
              <a:t>基礎原則 → </a:t>
            </a:r>
            <a:endParaRPr>
              <a:solidFill>
                <a:srgbClr val="7F7F7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擴充為完整訓練系統，包含休息時間、動作順序、進階模型（如 2-for-2 法）。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0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5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阻力訓練 (Chapter 5)</a:t>
            </a:r>
            <a:endParaRPr/>
          </a:p>
        </p:txBody>
      </p:sp>
      <p:sp>
        <p:nvSpPr>
          <p:cNvPr id="331" name="Google Shape;331;p50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100"/>
              <a:buChar char="●"/>
            </a:pPr>
            <a:r>
              <a:rPr lang="zh-TW">
                <a:solidFill>
                  <a:srgbClr val="262626"/>
                </a:solidFill>
              </a:rPr>
              <a:t>強度與適應：</a:t>
            </a:r>
            <a:endParaRPr>
              <a:solidFill>
                <a:srgbClr val="262626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>
                <a:solidFill>
                  <a:srgbClr val="262626"/>
                </a:solidFill>
              </a:rPr>
              <a:t>新手建議 60%-70% 1-RM，</a:t>
            </a:r>
            <a:endParaRPr>
              <a:solidFill>
                <a:srgbClr val="262626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>
                <a:solidFill>
                  <a:srgbClr val="262626"/>
                </a:solidFill>
              </a:rPr>
              <a:t>經驗豐富者可涵蓋 80%-100% 1-RM。</a:t>
            </a:r>
            <a:endParaRPr>
              <a:solidFill>
                <a:srgbClr val="262626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Char char="●"/>
            </a:pPr>
            <a:r>
              <a:rPr lang="zh-TW">
                <a:solidFill>
                  <a:srgbClr val="262626"/>
                </a:solidFill>
              </a:rPr>
              <a:t>休息時間： 指南細分了休息時間：</a:t>
            </a:r>
            <a:endParaRPr>
              <a:solidFill>
                <a:srgbClr val="262626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>
                <a:solidFill>
                  <a:srgbClr val="262626"/>
                </a:solidFill>
              </a:rPr>
              <a:t>肌耐力 30-60 秒；</a:t>
            </a:r>
            <a:endParaRPr>
              <a:solidFill>
                <a:srgbClr val="262626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>
                <a:solidFill>
                  <a:srgbClr val="262626"/>
                </a:solidFill>
              </a:rPr>
              <a:t>肌肥大與強度耐力 90 秒至 3 分鐘；</a:t>
            </a:r>
            <a:endParaRPr>
              <a:solidFill>
                <a:srgbClr val="262626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>
                <a:solidFill>
                  <a:srgbClr val="262626"/>
                </a:solidFill>
              </a:rPr>
              <a:t>最大力量與爆發力 2-5 分鐘。</a:t>
            </a:r>
            <a:endParaRPr>
              <a:solidFill>
                <a:srgbClr val="262626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Char char="●"/>
            </a:pPr>
            <a:r>
              <a:rPr lang="zh-TW">
                <a:solidFill>
                  <a:srgbClr val="262626"/>
                </a:solidFill>
              </a:rPr>
              <a:t>執行順序： </a:t>
            </a:r>
            <a:endParaRPr>
              <a:solidFill>
                <a:srgbClr val="262626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>
                <a:solidFill>
                  <a:srgbClr val="262626"/>
                </a:solidFill>
              </a:rPr>
              <a:t>建議順序為「大肌群多關節動作 → 小肌群多關節動作 ↔ 大肌群單關節動作 → 小肌群單關節動作 ↔ 核心穩定」。</a:t>
            </a:r>
            <a:endParaRPr>
              <a:solidFill>
                <a:srgbClr val="26262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1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5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阻力訓練 (Chapter 5)</a:t>
            </a:r>
            <a:endParaRPr/>
          </a:p>
        </p:txBody>
      </p:sp>
      <p:sp>
        <p:nvSpPr>
          <p:cNvPr id="338" name="Google Shape;338;p51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100"/>
              <a:buChar char="●"/>
            </a:pPr>
            <a:r>
              <a:rPr lang="zh-TW">
                <a:solidFill>
                  <a:srgbClr val="262626"/>
                </a:solidFill>
              </a:rPr>
              <a:t>進階模型：2-for-2</a:t>
            </a:r>
            <a:endParaRPr>
              <a:solidFill>
                <a:srgbClr val="262626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>
                <a:solidFill>
                  <a:srgbClr val="262626"/>
                </a:solidFill>
              </a:rPr>
              <a:t>設定目標：例如，某動作目標是 3 組，每組 10 次。</a:t>
            </a:r>
            <a:endParaRPr>
              <a:solidFill>
                <a:srgbClr val="262626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>
                <a:solidFill>
                  <a:srgbClr val="262626"/>
                </a:solidFill>
              </a:rPr>
              <a:t>達成目標：在第一次訓練中，你完成 3 組，每組 10 次，最後一組你多做了 2 次 (12次)。</a:t>
            </a:r>
            <a:endParaRPr>
              <a:solidFill>
                <a:srgbClr val="262626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>
                <a:solidFill>
                  <a:srgbClr val="262626"/>
                </a:solidFill>
              </a:rPr>
              <a:t>連續達成：在第二次訓練中，你再次完成 3 組，每組 10 次，但最後一組仍多做了 2 次 (12次)。</a:t>
            </a:r>
            <a:endParaRPr>
              <a:solidFill>
                <a:srgbClr val="262626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>
                <a:solidFill>
                  <a:srgbClr val="262626"/>
                </a:solidFill>
              </a:rPr>
              <a:t>增加重量：由於你連續兩次都比目標多做 2 次，下次訓練時就應該增加重量。 </a:t>
            </a:r>
            <a:endParaRPr>
              <a:solidFill>
                <a:srgbClr val="26262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2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5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有氧運動運動門檻 (Chapter 5)</a:t>
            </a:r>
            <a:endParaRPr/>
          </a:p>
        </p:txBody>
      </p:sp>
      <p:sp>
        <p:nvSpPr>
          <p:cNvPr id="345" name="Google Shape;345;p52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2100"/>
              <a:buChar char="●"/>
            </a:pPr>
            <a:r>
              <a:rPr lang="zh-TW">
                <a:solidFill>
                  <a:srgbClr val="7F7F7F"/>
                </a:solidFill>
              </a:rPr>
              <a:t>建議單次 &gt;10 分鐘 →</a:t>
            </a:r>
            <a:endParaRPr>
              <a:solidFill>
                <a:srgbClr val="7F7F7F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移除了過去「每次運動必須持續至少 10 分鐘才能獲得健康效益」的限制，強調</a:t>
            </a:r>
            <a:r>
              <a:rPr lang="zh-TW" b="1"/>
              <a:t>短時間活動（Micro-exercise）</a:t>
            </a:r>
            <a:r>
              <a:rPr lang="zh-TW"/>
              <a:t>同樣有益。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3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5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性別生理 (Chapter 6)</a:t>
            </a:r>
            <a:endParaRPr/>
          </a:p>
        </p:txBody>
      </p:sp>
      <p:sp>
        <p:nvSpPr>
          <p:cNvPr id="352" name="Google Shape;352;p53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7F7F7F"/>
                </a:solidFill>
              </a:rPr>
              <a:t>較少討論 →</a:t>
            </a:r>
            <a:endParaRPr>
              <a:solidFill>
                <a:srgbClr val="7F7F7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建立專門部分討論性別生理差異對  V˙O2max 與代謝的影響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4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性別生理 (Chapter 6)</a:t>
            </a:r>
            <a:endParaRPr/>
          </a:p>
        </p:txBody>
      </p:sp>
      <p:sp>
        <p:nvSpPr>
          <p:cNvPr id="359" name="Google Shape;359;p54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1200"/>
              </a:spcAft>
              <a:buNone/>
            </a:pPr>
            <a:endParaRPr>
              <a:solidFill>
                <a:srgbClr val="262626"/>
              </a:solidFill>
            </a:endParaRPr>
          </a:p>
        </p:txBody>
      </p:sp>
      <p:pic>
        <p:nvPicPr>
          <p:cNvPr id="360" name="Google Shape;360;p54" descr="English, #FFFFFF background, illustrative, comparison, beautiful"/>
          <p:cNvPicPr preferRelativeResize="0"/>
          <p:nvPr/>
        </p:nvPicPr>
        <p:blipFill rotWithShape="1">
          <a:blip r:embed="rId3">
            <a:alphaModFix/>
          </a:blip>
          <a:srcRect t="12542"/>
          <a:stretch/>
        </p:blipFill>
        <p:spPr>
          <a:xfrm>
            <a:off x="510425" y="1167950"/>
            <a:ext cx="8118424" cy="396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54" descr="English, #FFFFFF background, illustrative, comparison, beautiful"/>
          <p:cNvPicPr preferRelativeResize="0"/>
          <p:nvPr/>
        </p:nvPicPr>
        <p:blipFill rotWithShape="1">
          <a:blip r:embed="rId3">
            <a:alphaModFix/>
          </a:blip>
          <a:srcRect l="22509" t="24713" r="22858" b="70064"/>
          <a:stretch/>
        </p:blipFill>
        <p:spPr>
          <a:xfrm>
            <a:off x="1309800" y="1765925"/>
            <a:ext cx="2792725" cy="14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54" descr="English, #FFFFFF background, illustrative, comparison, beautiful"/>
          <p:cNvPicPr preferRelativeResize="0"/>
          <p:nvPr/>
        </p:nvPicPr>
        <p:blipFill rotWithShape="1">
          <a:blip r:embed="rId3">
            <a:alphaModFix/>
          </a:blip>
          <a:srcRect l="22509" t="24713" r="22858" b="70064"/>
          <a:stretch/>
        </p:blipFill>
        <p:spPr>
          <a:xfrm>
            <a:off x="5081700" y="1765925"/>
            <a:ext cx="2792725" cy="14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5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5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性別生理 (Chapter 6)</a:t>
            </a:r>
            <a:endParaRPr/>
          </a:p>
        </p:txBody>
      </p:sp>
      <p:sp>
        <p:nvSpPr>
          <p:cNvPr id="369" name="Google Shape;369;p55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1200"/>
              </a:spcAft>
              <a:buNone/>
            </a:pPr>
            <a:endParaRPr>
              <a:solidFill>
                <a:srgbClr val="262626"/>
              </a:solidFill>
            </a:endParaRPr>
          </a:p>
        </p:txBody>
      </p:sp>
      <p:pic>
        <p:nvPicPr>
          <p:cNvPr id="370" name="Google Shape;370;p55" descr="English, #FFFFFF background, illustrative, comparison, beautiful"/>
          <p:cNvPicPr preferRelativeResize="0"/>
          <p:nvPr/>
        </p:nvPicPr>
        <p:blipFill rotWithShape="1">
          <a:blip r:embed="rId3">
            <a:alphaModFix/>
          </a:blip>
          <a:srcRect t="13285"/>
          <a:stretch/>
        </p:blipFill>
        <p:spPr>
          <a:xfrm>
            <a:off x="415000" y="1119750"/>
            <a:ext cx="8309274" cy="4023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55" descr="English, #FFFFFF background, illustrative, comparison, beautiful"/>
          <p:cNvPicPr preferRelativeResize="0"/>
          <p:nvPr/>
        </p:nvPicPr>
        <p:blipFill rotWithShape="1">
          <a:blip r:embed="rId4">
            <a:alphaModFix/>
          </a:blip>
          <a:srcRect l="22509" t="24713" r="22858" b="70064"/>
          <a:stretch/>
        </p:blipFill>
        <p:spPr>
          <a:xfrm>
            <a:off x="1210075" y="1709100"/>
            <a:ext cx="2755126" cy="147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55" descr="English, #FFFFFF background, illustrative, comparison, beautiful"/>
          <p:cNvPicPr preferRelativeResize="0"/>
          <p:nvPr/>
        </p:nvPicPr>
        <p:blipFill rotWithShape="1">
          <a:blip r:embed="rId4">
            <a:alphaModFix/>
          </a:blip>
          <a:srcRect l="22509" t="24713" r="22858" b="70064"/>
          <a:stretch/>
        </p:blipFill>
        <p:spPr>
          <a:xfrm>
            <a:off x="5159600" y="1709100"/>
            <a:ext cx="2755126" cy="147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2068" y="2941000"/>
            <a:ext cx="515300" cy="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79468" y="2928500"/>
            <a:ext cx="515300" cy="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6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5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性別生理 (Chapter 6)</a:t>
            </a:r>
            <a:endParaRPr/>
          </a:p>
        </p:txBody>
      </p:sp>
      <p:sp>
        <p:nvSpPr>
          <p:cNvPr id="381" name="Google Shape;381;p56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100"/>
              <a:buChar char="●"/>
            </a:pPr>
            <a:r>
              <a:rPr lang="zh-TW">
                <a:solidFill>
                  <a:srgbClr val="262626"/>
                </a:solidFill>
              </a:rPr>
              <a:t>對</a:t>
            </a:r>
            <a:r>
              <a:rPr lang="zh-TW" b="1">
                <a:solidFill>
                  <a:srgbClr val="262626"/>
                </a:solidFill>
              </a:rPr>
              <a:t>最大攝氧量 ( V˙O 2 max) </a:t>
            </a:r>
            <a:r>
              <a:rPr lang="zh-TW">
                <a:solidFill>
                  <a:srgbClr val="262626"/>
                </a:solidFill>
              </a:rPr>
              <a:t>的影響</a:t>
            </a:r>
            <a:endParaRPr>
              <a:solidFill>
                <a:srgbClr val="262626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Char char="●"/>
            </a:pPr>
            <a:r>
              <a:rPr lang="zh-TW">
                <a:solidFill>
                  <a:srgbClr val="262626"/>
                </a:solidFill>
              </a:rPr>
              <a:t>在相同年齡與訓練狀態下，男性的 VO2max 通常比女性高出 10%–30%。這種差異主要源於以下生理基礎：</a:t>
            </a:r>
            <a:endParaRPr>
              <a:solidFill>
                <a:srgbClr val="262626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 b="1">
                <a:solidFill>
                  <a:srgbClr val="262626"/>
                </a:solidFill>
              </a:rPr>
              <a:t>心血管因素</a:t>
            </a:r>
            <a:r>
              <a:rPr lang="zh-TW">
                <a:solidFill>
                  <a:srgbClr val="262626"/>
                </a:solidFill>
              </a:rPr>
              <a:t>： 男性擁有較大的心臟質量（左心室質量）與心室容積，這使得男性在運動時具備較大的每搏輸出量（Stroke Volume）與心輸出量。相較之下，女性對長期耐力訓練的心血管反應較為遲鈍，心搏量通常在訓練 9 個月後達到平台期，而男性則持續增加。</a:t>
            </a:r>
            <a:endParaRPr>
              <a:solidFill>
                <a:srgbClr val="262626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 b="1">
                <a:solidFill>
                  <a:srgbClr val="262626"/>
                </a:solidFill>
              </a:rPr>
              <a:t>血液含氧能力</a:t>
            </a:r>
            <a:r>
              <a:rPr lang="zh-TW">
                <a:solidFill>
                  <a:srgbClr val="262626"/>
                </a:solidFill>
              </a:rPr>
              <a:t>： 男性血端的血紅素（Hemoglobin）濃度與總量較高，因此具備較強的血液攜氧能力。</a:t>
            </a:r>
            <a:endParaRPr>
              <a:solidFill>
                <a:srgbClr val="262626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 b="1">
                <a:solidFill>
                  <a:srgbClr val="262626"/>
                </a:solidFill>
              </a:rPr>
              <a:t>呼吸系統</a:t>
            </a:r>
            <a:r>
              <a:rPr lang="zh-TW">
                <a:solidFill>
                  <a:srgbClr val="262626"/>
                </a:solidFill>
              </a:rPr>
              <a:t>： 男性的肺容量較大，有利於氣體交換。</a:t>
            </a:r>
            <a:endParaRPr>
              <a:solidFill>
                <a:srgbClr val="262626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 b="1">
                <a:solidFill>
                  <a:srgbClr val="262626"/>
                </a:solidFill>
              </a:rPr>
              <a:t>訓練適應性</a:t>
            </a:r>
            <a:r>
              <a:rPr lang="zh-TW">
                <a:solidFill>
                  <a:srgbClr val="262626"/>
                </a:solidFill>
              </a:rPr>
              <a:t>： 雖然短期訓練（~12 週）男女在攝氧量提升的「百分比」上相似，但長期來看，女性的適應反應可能較早進入平台期（約 3 個月），而男性的心臟結構重塑與攝氧量增加可持續更久。</a:t>
            </a:r>
            <a:endParaRPr>
              <a:solidFill>
                <a:srgbClr val="26262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7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5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性別生理 (Chapter 6)</a:t>
            </a:r>
            <a:endParaRPr/>
          </a:p>
        </p:txBody>
      </p:sp>
      <p:sp>
        <p:nvSpPr>
          <p:cNvPr id="388" name="Google Shape;388;p57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92500"/>
          </a:bodyPr>
          <a:lstStyle/>
          <a:p>
            <a:pPr marL="457200" lvl="0" indent="-351949" algn="l" rtl="0"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ct val="116667"/>
              <a:buChar char="●"/>
            </a:pPr>
            <a:r>
              <a:rPr lang="zh-TW">
                <a:solidFill>
                  <a:srgbClr val="262626"/>
                </a:solidFill>
              </a:rPr>
              <a:t>持續進步的項目： 在為期一年的有氧訓練研究中，男性的絕對最大攝氧量進步程度大於女性。這種進步的差異源於男性擁有更顯著的左右心室肥大重塑反應（Hypertrophic remodeling），其</a:t>
            </a:r>
            <a:r>
              <a:rPr lang="zh-TW" b="1">
                <a:solidFill>
                  <a:srgbClr val="262626"/>
                </a:solidFill>
              </a:rPr>
              <a:t>心搏量（Stroke volume）</a:t>
            </a:r>
            <a:r>
              <a:rPr lang="zh-TW">
                <a:solidFill>
                  <a:srgbClr val="262626"/>
                </a:solidFill>
              </a:rPr>
              <a:t>在長達一年的訓練中持續增加，而女性的心搏量在訓練 9 個月後就趨於穩定。</a:t>
            </a:r>
            <a:endParaRPr>
              <a:solidFill>
                <a:srgbClr val="262626"/>
              </a:solidFill>
            </a:endParaRPr>
          </a:p>
          <a:p>
            <a:pPr marL="457200" lvl="0" indent="-351949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16667"/>
              <a:buChar char="●"/>
            </a:pPr>
            <a:r>
              <a:rPr lang="zh-TW">
                <a:solidFill>
                  <a:srgbClr val="262626"/>
                </a:solidFill>
              </a:rPr>
              <a:t>平台期的差異： 女性在開始訓練後約 3 個月就會進入平台期，而男性的進步則可持續長達 9 個月。</a:t>
            </a:r>
            <a:endParaRPr>
              <a:solidFill>
                <a:srgbClr val="262626"/>
              </a:solidFill>
            </a:endParaRPr>
          </a:p>
          <a:p>
            <a:pPr marL="457200" lvl="0" indent="-351949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16667"/>
              <a:buChar char="●"/>
            </a:pPr>
            <a:r>
              <a:rPr lang="zh-TW">
                <a:solidFill>
                  <a:srgbClr val="262626"/>
                </a:solidFill>
              </a:rPr>
              <a:t>容易展現此特徵的族群： 這種長期進步的特徵主要出現在接受長期（達一年）且密集監督的有氧耐力訓練者。來源提到這可能與男性體內較高濃度的</a:t>
            </a:r>
            <a:r>
              <a:rPr lang="zh-TW" b="1">
                <a:solidFill>
                  <a:srgbClr val="262626"/>
                </a:solidFill>
              </a:rPr>
              <a:t>睪固酮（Testosterone）</a:t>
            </a:r>
            <a:r>
              <a:rPr lang="zh-TW">
                <a:solidFill>
                  <a:srgbClr val="262626"/>
                </a:solidFill>
              </a:rPr>
              <a:t>有關，該荷爾蒙參與了心血管的適應過程。</a:t>
            </a:r>
            <a:endParaRPr>
              <a:solidFill>
                <a:srgbClr val="262626"/>
              </a:solidFill>
            </a:endParaRPr>
          </a:p>
          <a:p>
            <a:pPr marL="457200" lvl="0" indent="-351949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16667"/>
              <a:buChar char="●"/>
            </a:pPr>
            <a:r>
              <a:rPr lang="zh-TW">
                <a:solidFill>
                  <a:srgbClr val="262626"/>
                </a:solidFill>
              </a:rPr>
              <a:t>來源中的具體文獻引用 (Reference)： 此項關於男女長期進步差異的結論，主要是基於來源中引用的 Howden et al. (2015) 研究。</a:t>
            </a:r>
            <a:endParaRPr>
              <a:solidFill>
                <a:srgbClr val="26262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8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5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性別生理 (Chapter 6)</a:t>
            </a:r>
            <a:endParaRPr/>
          </a:p>
        </p:txBody>
      </p:sp>
      <p:sp>
        <p:nvSpPr>
          <p:cNvPr id="395" name="Google Shape;395;p58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100"/>
              <a:buChar char="●"/>
            </a:pPr>
            <a:r>
              <a:rPr lang="zh-TW">
                <a:solidFill>
                  <a:srgbClr val="262626"/>
                </a:solidFill>
              </a:rPr>
              <a:t>對</a:t>
            </a:r>
            <a:r>
              <a:rPr lang="zh-TW" b="1">
                <a:solidFill>
                  <a:srgbClr val="262626"/>
                </a:solidFill>
              </a:rPr>
              <a:t>代謝（Fuel Metabolism）</a:t>
            </a:r>
            <a:r>
              <a:rPr lang="zh-TW">
                <a:solidFill>
                  <a:srgbClr val="262626"/>
                </a:solidFill>
              </a:rPr>
              <a:t>的影響</a:t>
            </a:r>
            <a:endParaRPr>
              <a:solidFill>
                <a:srgbClr val="262626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Char char="●"/>
            </a:pPr>
            <a:r>
              <a:rPr lang="zh-TW">
                <a:solidFill>
                  <a:srgbClr val="262626"/>
                </a:solidFill>
              </a:rPr>
              <a:t>男女在運動期間的能量利用存在明顯差異：</a:t>
            </a:r>
            <a:endParaRPr>
              <a:solidFill>
                <a:srgbClr val="262626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 b="1">
                <a:solidFill>
                  <a:srgbClr val="262626"/>
                </a:solidFill>
              </a:rPr>
              <a:t>氧化偏好</a:t>
            </a:r>
            <a:r>
              <a:rPr lang="zh-TW">
                <a:solidFill>
                  <a:srgbClr val="262626"/>
                </a:solidFill>
              </a:rPr>
              <a:t>： 在相同運動強度下，女性氧化脂肪的比例較高，而氧化碳水化合物與蛋白質的比例較低。</a:t>
            </a:r>
            <a:endParaRPr>
              <a:solidFill>
                <a:srgbClr val="262626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 b="1">
                <a:solidFill>
                  <a:srgbClr val="262626"/>
                </a:solidFill>
              </a:rPr>
              <a:t>代謝轉換點（Crossover）</a:t>
            </a:r>
            <a:r>
              <a:rPr lang="zh-TW">
                <a:solidFill>
                  <a:srgbClr val="262626"/>
                </a:solidFill>
              </a:rPr>
              <a:t>： 在運動強度增加的過程中，男性比女性更早從脂肪代謝轉換為碳水化合物代謝。</a:t>
            </a:r>
            <a:endParaRPr>
              <a:solidFill>
                <a:srgbClr val="262626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 b="1">
                <a:solidFill>
                  <a:srgbClr val="262626"/>
                </a:solidFill>
              </a:rPr>
              <a:t>肌肉纖維特性</a:t>
            </a:r>
            <a:r>
              <a:rPr lang="zh-TW">
                <a:solidFill>
                  <a:srgbClr val="262626"/>
                </a:solidFill>
              </a:rPr>
              <a:t>： 這種代謝差異可能與肌肉纖維類型有關。男性擁有較大比例的快速收縮纖維（Type II fibers）面積，具備更強的糖解能力（Glycolytic capacity）；而女性的肌肉特性則使其在慢速動態縮收或靜態收縮中較不易疲勞（Less fatigable）。</a:t>
            </a:r>
            <a:endParaRPr>
              <a:solidFill>
                <a:srgbClr val="262626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 b="1">
                <a:solidFill>
                  <a:srgbClr val="262626"/>
                </a:solidFill>
              </a:rPr>
              <a:t>體重與能量平衡反應</a:t>
            </a:r>
            <a:r>
              <a:rPr lang="zh-TW">
                <a:solidFill>
                  <a:srgbClr val="262626"/>
                </a:solidFill>
              </a:rPr>
              <a:t>： 進行有氧訓練時，男性通常比女性表現出更顯著的體重減輕效果。這是因為女性在面對運動導致的能量消耗時，生理補償反應（如食慾調節）較強，以維持能量平衡。</a:t>
            </a:r>
            <a:endParaRPr>
              <a:solidFill>
                <a:srgbClr val="26262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9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5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心臟復健 (Chapter 8)</a:t>
            </a:r>
            <a:endParaRPr/>
          </a:p>
        </p:txBody>
      </p:sp>
      <p:pic>
        <p:nvPicPr>
          <p:cNvPr id="402" name="Google Shape;40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2068" y="2941000"/>
            <a:ext cx="515300" cy="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9468" y="2928500"/>
            <a:ext cx="515300" cy="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9" descr="english, illustrative, #FFFFFF, beautif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5425" y="1146325"/>
            <a:ext cx="7033151" cy="392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ACSM 11th vs 12th</a:t>
            </a:r>
            <a:endParaRPr/>
          </a:p>
        </p:txBody>
      </p:sp>
      <p:graphicFrame>
        <p:nvGraphicFramePr>
          <p:cNvPr id="410" name="Google Shape;410;p60"/>
          <p:cNvGraphicFramePr/>
          <p:nvPr/>
        </p:nvGraphicFramePr>
        <p:xfrm>
          <a:off x="4750" y="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{27DDFD0E-D07E-4245-9B5E-44F62409D258}</a:tableStyleId>
              </a:tblPr>
              <a:tblGrid>
                <a:gridCol w="157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19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/>
                        <a:t>比較項目</a:t>
                      </a:r>
                      <a:endParaRPr sz="1000" b="1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/>
                        <a:t>第 11 版 (2021)</a:t>
                      </a:r>
                      <a:endParaRPr sz="1000" b="1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/>
                        <a:t>第 12 版 (2025/2026)</a:t>
                      </a:r>
                      <a:endParaRPr sz="1000" b="1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/>
                        <a:t>臨床意義與更新重點</a:t>
                      </a:r>
                      <a:endParaRPr sz="1000" b="1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/>
                        <a:t>Chapter 8: 心血管/肺部</a:t>
                      </a:r>
                      <a:endParaRPr sz="1000" b="1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SCAD (自發性冠狀動脈夾層)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未獨立討論 (歸類於 ACS/MI)。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新增獨立章節。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針對此特殊病理（血管脆弱）提供指引：避免高強度、避免 Valsalva 動作、避免頸部劇烈活動。建議維持中等強度運動（RPE 12-14）。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POTS (姿勢性心搏過速)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未獨立討論。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新增獨立章節。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提供具體的「臥式 -&gt; 直立」漸進式運動方案，強調非直立式有氧運動的重要性。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小兒心臟復健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較少提及。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新增獨立章節。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針對兒童先天性心臟病的特殊運動需求提供指引。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肺部復健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聚焦於 COPD, 氣喘等傳統運動。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新增呼吸肌訓練 (RMT)。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加入呼吸肌肌力測試 (MIP/MEP) 與訓練處方，作為傳統全身性運動的輔助。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心臟衰竭 (HF)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討論 HFrEF/HFpEF。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更新關於 LVAD (左心室輔助器) 的內容。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更新 LVAD 患者的運動強度監控（心率可能線性增加）。</a:t>
                      </a:r>
                      <a:br>
                        <a:rPr lang="zh-TW" sz="1000"/>
                      </a:br>
                      <a:r>
                        <a:rPr lang="zh-TW" sz="1000"/>
                        <a:t>建議使用 RPE (11-13) 或 Talk Test 指導強度。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</a:rPr>
                        <a:t>Chapter 9: 代謝疾病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</a:rPr>
                        <a:t>糖尿病、血脂異常、高血壓、代謝症候群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1. 新增「代謝功能障礙相關脂肪性肝病 (MASLD)」,（舊稱 NAFLD）</a:t>
                      </a:r>
                      <a:endParaRPr sz="10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2. 更新糖尿病與減重。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即使體重未顯著減輕，規律運動（150分鐘中強度有氧/週）也能改善肝臟脂肪與發炎。</a:t>
                      </a:r>
                      <a:endParaRPr sz="10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</a:rPr>
                        <a:t>重點在於血糖監控與避免低血糖。阻力訓練降低糖化血色素（A1C），但有氧運動對提升 CRF（心肺適能）更佳，建議合併進行。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/>
                        <a:t>Chapter 10: 其他慢性疾病</a:t>
                      </a:r>
                      <a:endParaRPr sz="1000" b="1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</a:rPr>
                        <a:t>關節炎、癌症、愛滋病、腎臟病、多發性硬化症。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</a:rPr>
                        <a:t>新增「肌痛性腦脊髓炎/慢性疲勞症候群 (ME/CFS)」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針對長新冠 (Long COVID) 相關或類似症狀的疲勞症候群提供謹慎的運動建議。</a:t>
                      </a:r>
                      <a:endParaRPr sz="10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強烈反對對重症者使用標準有氧處方。建議從橫膈呼吸與被動關節運動開始，並使用心率生理回饋確保強度低於通氣閥值（VT）。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1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ME/CFS, myalgic encephalomyelitis / chronic fatigue syndrome</a:t>
            </a:r>
            <a:endParaRPr/>
          </a:p>
        </p:txBody>
      </p:sp>
      <p:sp>
        <p:nvSpPr>
          <p:cNvPr id="416" name="Google Shape;416;p6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臨床特殊情況之處方調整 (Chapters 8, 9, 10)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ME/CFS</a:t>
            </a:r>
            <a:endParaRPr/>
          </a:p>
        </p:txBody>
      </p:sp>
      <p:sp>
        <p:nvSpPr>
          <p:cNvPr id="417" name="Google Shape;417;p61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18" name="Google Shape;418;p61"/>
          <p:cNvPicPr preferRelativeResize="0"/>
          <p:nvPr/>
        </p:nvPicPr>
        <p:blipFill rotWithShape="1">
          <a:blip r:embed="rId3">
            <a:alphaModFix/>
          </a:blip>
          <a:srcRect t="39830" b="625"/>
          <a:stretch/>
        </p:blipFill>
        <p:spPr>
          <a:xfrm>
            <a:off x="2811838" y="1167950"/>
            <a:ext cx="3520327" cy="346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2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ME/CFS, myalgic encephalomyelitis / chronic fatigue syndrome</a:t>
            </a:r>
            <a:endParaRPr/>
          </a:p>
        </p:txBody>
      </p:sp>
      <p:sp>
        <p:nvSpPr>
          <p:cNvPr id="424" name="Google Shape;424;p6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臨床特殊情況之處方調整 (Chapters 8, 9, 10)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ME/CFS</a:t>
            </a:r>
            <a:endParaRPr/>
          </a:p>
        </p:txBody>
      </p:sp>
      <p:sp>
        <p:nvSpPr>
          <p:cNvPr id="425" name="Google Shape;425;p62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運動後不適 (Post-Exertional Malaise, PEM) 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ME/CFS 的診斷標誌，指在身體或認知勞累後出現症狀惡化或體能崩潰的現象。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在勞累後出現不成比例的體力或腦力喪失，且恢復時間呈現病理性的延長（通常超過 24 小時，甚至需數週才能恢復）。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常見症狀： 極度疲勞、認知功能障礙（腦霧）、頭暈、全身疼痛、心悸、睡眠障礙，以及病毒活化症狀（如淋巴結腫大、喉嚨痛）。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生理機制： 透過「兩日心肺運動測試 (2-day CPET)」證實，患者在第一天測試後，第二天會出現代謝、心臟與通氣功能的顯著受損（如  VO2 下降、Chronotropic incompetence），這證明了其身體無法像一般人一樣從勞累中正常恢復。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3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ME/CFS, myalgic encephalomyelitis / chronic fatigue syndrome</a:t>
            </a:r>
            <a:endParaRPr/>
          </a:p>
        </p:txBody>
      </p:sp>
      <p:sp>
        <p:nvSpPr>
          <p:cNvPr id="431" name="Google Shape;431;p6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臨床特殊情況之處方調整 (Chapters 8, 9, 10)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ME/CFS</a:t>
            </a:r>
            <a:endParaRPr/>
          </a:p>
        </p:txBody>
      </p:sp>
      <p:sp>
        <p:nvSpPr>
          <p:cNvPr id="432" name="Google Shape;432;p63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管理策略：配速 (Pacing)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症狀管理策略，目的是在不誘發 PEM 的前提下平衡活動與休息。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能量信封 (Energy Envelope)： 指導患者將日常生活活動 (ADLs) 的強度控制在其當下可用的「能量儲備」範圍內。這通常需要透過記錄日誌來識別誘發 PEM 的活動或觸發因子。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心率生物回饋 (Heart Rate Biofeedback)： 這是 ACSM 強調的具體配速工具。</a:t>
            </a:r>
            <a:endParaRPr/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zh-TW"/>
              <a:t>原理： 通氣閥值 (VT) 被視為可持續與不可持續活動的分界線。研究顯示 ME/CFS 患者即便在輕度日常活動中也常超過 VAT，導致系統崩潰。</a:t>
            </a:r>
            <a:endParaRPr/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zh-TW"/>
              <a:t>執行： 建議以低於 VT 的心率作為活動強度的上限。若曾進行過 CPET，應使用測試測得的 VT 心率作為閾值；若無數據，則需極度保守。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4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ME/CFS, myalgic encephalomyelitis / chronic fatigue syndrome</a:t>
            </a:r>
            <a:endParaRPr/>
          </a:p>
        </p:txBody>
      </p:sp>
      <p:sp>
        <p:nvSpPr>
          <p:cNvPr id="438" name="Google Shape;438;p6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臨床特殊情況之處方調整 (Chapters 8, 9, 10)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ME/CFS</a:t>
            </a:r>
            <a:endParaRPr/>
          </a:p>
        </p:txBody>
      </p:sp>
      <p:sp>
        <p:nvSpPr>
          <p:cNvPr id="439" name="Google Shape;439;p64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457200" lvl="0" indent="-331946" algn="l" rtl="0">
              <a:spcBef>
                <a:spcPts val="800"/>
              </a:spcBef>
              <a:spcAft>
                <a:spcPts val="0"/>
              </a:spcAft>
              <a:buSzPct val="116667"/>
              <a:buChar char="●"/>
            </a:pPr>
            <a:r>
              <a:rPr lang="zh-TW"/>
              <a:t>運動處方 (Ex Rx) 與 FITT 調整</a:t>
            </a:r>
            <a:endParaRPr/>
          </a:p>
          <a:p>
            <a:pPr marL="914400" lvl="1" indent="-317182" algn="l" rtl="0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對於 ME/CFS，標準的 FITT 原則（漸進式超負荷）通常不適用，因為患者無法適應固定的增量。運動目標是維持功能而非改善體適能。</a:t>
            </a:r>
            <a:endParaRPr/>
          </a:p>
          <a:p>
            <a:pPr marL="457200" lvl="0" indent="-331946" algn="l" rtl="0">
              <a:spcBef>
                <a:spcPts val="0"/>
              </a:spcBef>
              <a:spcAft>
                <a:spcPts val="0"/>
              </a:spcAft>
              <a:buSzPct val="116667"/>
              <a:buChar char="●"/>
            </a:pPr>
            <a:r>
              <a:rPr lang="zh-TW"/>
              <a:t>頻率 (Frequency)：</a:t>
            </a:r>
            <a:endParaRPr/>
          </a:p>
          <a:p>
            <a:pPr marL="914400" lvl="1" indent="-317182" algn="l" rtl="0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初期建議每 1–2 週進行一次，以觀察是否有延遲性的 PEM 反應。</a:t>
            </a:r>
            <a:endParaRPr/>
          </a:p>
          <a:p>
            <a:pPr marL="914400" lvl="1" indent="-317182" algn="l" rtl="0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輕度患者可從每週 1 次開始，最多進展至每週 3 次。</a:t>
            </a:r>
            <a:endParaRPr/>
          </a:p>
          <a:p>
            <a:pPr marL="457200" lvl="0" indent="-331946" algn="l" rtl="0">
              <a:spcBef>
                <a:spcPts val="0"/>
              </a:spcBef>
              <a:spcAft>
                <a:spcPts val="0"/>
              </a:spcAft>
              <a:buSzPct val="116667"/>
              <a:buChar char="●"/>
            </a:pPr>
            <a:r>
              <a:rPr lang="zh-TW"/>
              <a:t>• 強度 (Intensity)：</a:t>
            </a:r>
            <a:endParaRPr/>
          </a:p>
          <a:p>
            <a:pPr marL="914400" lvl="1" indent="-317182" algn="l" rtl="0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必須全程監測心率，確保低於 VAT 心率。</a:t>
            </a:r>
            <a:endParaRPr/>
          </a:p>
          <a:p>
            <a:pPr marL="914400" lvl="1" indent="-317182" algn="l" rtl="0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若無監測設備，應以 RPE 極低或被動關節活動為主。</a:t>
            </a:r>
            <a:endParaRPr/>
          </a:p>
          <a:p>
            <a:pPr marL="457200" lvl="0" indent="-331946" algn="l" rtl="0">
              <a:spcBef>
                <a:spcPts val="0"/>
              </a:spcBef>
              <a:spcAft>
                <a:spcPts val="0"/>
              </a:spcAft>
              <a:buSzPct val="116667"/>
              <a:buChar char="●"/>
            </a:pPr>
            <a:r>
              <a:rPr lang="zh-TW"/>
              <a:t>• 時間 (Time)：</a:t>
            </a:r>
            <a:endParaRPr/>
          </a:p>
          <a:p>
            <a:pPr marL="914400" lvl="1" indent="-317182" algn="l" rtl="0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單次運動持續時間不應超過 90 秒。</a:t>
            </a:r>
            <a:endParaRPr/>
          </a:p>
          <a:p>
            <a:pPr marL="914400" lvl="1" indent="-317182" algn="l" rtl="0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組間休息比例應大於 1:3（例如動 1 分鐘，休 3 分鐘以上），確保完全恢復。</a:t>
            </a:r>
            <a:endParaRPr/>
          </a:p>
          <a:p>
            <a:pPr marL="457200" lvl="0" indent="-331946" algn="l" rtl="0">
              <a:spcBef>
                <a:spcPts val="0"/>
              </a:spcBef>
              <a:spcAft>
                <a:spcPts val="0"/>
              </a:spcAft>
              <a:buSzPct val="116667"/>
              <a:buChar char="●"/>
            </a:pPr>
            <a:r>
              <a:rPr lang="zh-TW"/>
              <a:t>• 類型 (Type)：</a:t>
            </a:r>
            <a:endParaRPr/>
          </a:p>
          <a:p>
            <a:pPr marL="914400" lvl="1" indent="-317182" algn="l" rtl="0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優先選擇仰臥姿 (Supine) 或消除重力的肢體運動，以減少直立不耐症（Dysautonomia）對心血管的壓力。</a:t>
            </a:r>
            <a:endParaRPr/>
          </a:p>
          <a:p>
            <a:pPr marL="914400" lvl="1" indent="-317182" algn="l" rtl="0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包括橫膈膜呼吸、被動關節活動度 (ROM) 運動。</a:t>
            </a:r>
            <a:endParaRPr/>
          </a:p>
        </p:txBody>
      </p:sp>
      <p:pic>
        <p:nvPicPr>
          <p:cNvPr id="440" name="Google Shape;440;p64" descr="illustrative, #FFFFFF, beautify, less words"/>
          <p:cNvPicPr preferRelativeResize="0"/>
          <p:nvPr/>
        </p:nvPicPr>
        <p:blipFill rotWithShape="1">
          <a:blip r:embed="rId3">
            <a:alphaModFix/>
          </a:blip>
          <a:srcRect l="11274" t="20735" r="5156" b="5289"/>
          <a:stretch/>
        </p:blipFill>
        <p:spPr>
          <a:xfrm>
            <a:off x="661225" y="1167950"/>
            <a:ext cx="7697076" cy="380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5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6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臨床特殊情況之處方調整 (Chapters 8, 9, 10)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POTS</a:t>
            </a:r>
            <a:endParaRPr/>
          </a:p>
        </p:txBody>
      </p:sp>
      <p:sp>
        <p:nvSpPr>
          <p:cNvPr id="447" name="Google Shape;447;p65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92500"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姿勢性直立性心動過速症候群 (POTS)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這是本版更新中最具臨床操作性的新章節之一，提供了具體的運動處方表格。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評估重點：</a:t>
            </a:r>
            <a:endParaRPr/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zh-TW"/>
              <a:t>10 分鐘站立測試 (10-minute stand test)： 用於診斷與評估。先平躺 10 分鐘測量基礎 BP 與 HR，再安靜站立 10 分鐘，分別於第 1、3、5、10 分鐘測量。</a:t>
            </a:r>
            <a:endParaRPr/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zh-TW"/>
              <a:t>鑑別診斷： 需先排除缺鐵性貧血（Ferritin &lt; 50 ng/mL）、藥物副作用（如 SNRI）等可能模擬 POTS 症狀的因素。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運動處方 (Ex Rx) 核心原則：</a:t>
            </a:r>
            <a:endParaRPr/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zh-TW"/>
              <a:t>非直立式開始： 由於患者直立時心率會異常飆升，訓練初期強烈建議使用臥式腳踏車 (Recumbent bike) 或 划船機 (Rowing)。</a:t>
            </a:r>
            <a:endParaRPr/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zh-TW"/>
              <a:t>心率區間： 建議使用「心率儲備值 (HRR)」來設定強度，而非單純的最大心率。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生活型態建議： 增加鹽分攝取（7,000–10,000 mg/day）與水分（2–3 L/day）以擴充血漿容積。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6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6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臨床特殊情況之處方調整 (Chapters 8, 9, 10)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POTS</a:t>
            </a:r>
            <a:endParaRPr/>
          </a:p>
        </p:txBody>
      </p:sp>
      <p:pic>
        <p:nvPicPr>
          <p:cNvPr id="454" name="Google Shape;45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5525" y="1122175"/>
            <a:ext cx="4254050" cy="396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7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6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臨床特殊情況之處方調整 (Chapters 8, 9, 10)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Pulmonary</a:t>
            </a:r>
            <a:endParaRPr/>
          </a:p>
        </p:txBody>
      </p:sp>
      <p:sp>
        <p:nvSpPr>
          <p:cNvPr id="461" name="Google Shape;461;p67"/>
          <p:cNvSpPr txBox="1">
            <a:spLocks noGrp="1"/>
          </p:cNvSpPr>
          <p:nvPr>
            <p:ph type="body" idx="2"/>
          </p:nvPr>
        </p:nvSpPr>
        <p:spPr>
          <a:xfrm>
            <a:off x="628650" y="1167950"/>
            <a:ext cx="4910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 b="1"/>
              <a:t>呼吸肌測試與訓練 (RMT)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強調呼吸肌（MIP/MEP）的獨立評估與強化，作為改善呼吸困難的輔助手段。</a:t>
            </a:r>
            <a:endParaRPr/>
          </a:p>
        </p:txBody>
      </p:sp>
      <p:pic>
        <p:nvPicPr>
          <p:cNvPr id="462" name="Google Shape;462;p67" descr="english, #FFFFFF, beautify, illustrative"/>
          <p:cNvPicPr preferRelativeResize="0"/>
          <p:nvPr/>
        </p:nvPicPr>
        <p:blipFill rotWithShape="1">
          <a:blip r:embed="rId3">
            <a:alphaModFix/>
          </a:blip>
          <a:srcRect l="4644" t="71656" r="42040" b="2177"/>
          <a:stretch/>
        </p:blipFill>
        <p:spPr>
          <a:xfrm>
            <a:off x="722850" y="2359712"/>
            <a:ext cx="4910699" cy="134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67" descr="english, #FFFFFF, beautify, illustrative"/>
          <p:cNvPicPr preferRelativeResize="0"/>
          <p:nvPr/>
        </p:nvPicPr>
        <p:blipFill rotWithShape="1">
          <a:blip r:embed="rId3">
            <a:alphaModFix/>
          </a:blip>
          <a:srcRect l="59538" t="13520" r="4006" b="10226"/>
          <a:stretch/>
        </p:blipFill>
        <p:spPr>
          <a:xfrm>
            <a:off x="5691750" y="1123925"/>
            <a:ext cx="3357675" cy="392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8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6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68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471" name="Google Shape;471;p68"/>
          <p:cNvGraphicFramePr/>
          <p:nvPr/>
        </p:nvGraphicFramePr>
        <p:xfrm>
          <a:off x="4750" y="157142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{27DDFD0E-D07E-4245-9B5E-44F62409D258}</a:tableStyleId>
              </a:tblPr>
              <a:tblGrid>
                <a:gridCol w="157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19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/>
                        <a:t>比較項目</a:t>
                      </a:r>
                      <a:endParaRPr sz="1000" b="1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/>
                        <a:t>第 11 版 (2021)</a:t>
                      </a:r>
                      <a:endParaRPr sz="10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/>
                        <a:t>第 12 版 (2025/2026)</a:t>
                      </a:r>
                      <a:endParaRPr sz="10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/>
                        <a:t>臨床意義與更新重點</a:t>
                      </a:r>
                      <a:endParaRPr sz="1000" b="1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/>
                        <a:t>Chapter 11: 神經系統疾病</a:t>
                      </a:r>
                      <a:endParaRPr sz="1000" b="1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</a:rPr>
                        <a:t>「大腦健康 (Brain Health)」。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</a:rPr>
                        <a:t>涵蓋帕金森、阿茲海默、失智、焦慮憂鬱。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</a:rPr>
                        <a:t>標題改為「神經系統疾病 (Neurologic Diseases)」。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</a:rPr>
                        <a:t>涵蓋腦性麻痺、唐氏症、帕金森氏症、失智症等。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結構調整，更聚焦於神經病理學下的運動反應與處方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/>
                        <a:t>Chapter 12: </a:t>
                      </a:r>
                      <a:r>
                        <a:rPr lang="zh-TW" sz="1000" b="1">
                          <a:solidFill>
                            <a:schemeClr val="dk1"/>
                          </a:solidFill>
                        </a:rPr>
                        <a:t>行為理論</a:t>
                      </a:r>
                      <a:endParaRPr sz="1000" b="1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基礎理論介紹。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內容改寫與擴充。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強調「以客戶為中心的對話 (Client-Centered Conversations)」與「動機式晤談 (Motivational Interviewing)」的實務應用技巧。</a:t>
                      </a:r>
                      <a:endParaRPr sz="1000"/>
                    </a:p>
                  </a:txBody>
                  <a:tcPr marL="91425" marR="91425" marT="91425" marB="91425">
                    <a:lnL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DD2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9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6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Importance of Exercise Prescription</a:t>
            </a:r>
            <a:endParaRPr/>
          </a:p>
        </p:txBody>
      </p:sp>
      <p:sp>
        <p:nvSpPr>
          <p:cNvPr id="478" name="Google Shape;478;p69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FITT-VP 的「I」最容易出錯：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HR lag / drift、β-blocker、atrial fibrillation、CI（chronotropic incompetence）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COPD：通氣限制使HR不是最好proxy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0"/>
          <p:cNvSpPr txBox="1">
            <a:spLocks noGrp="1"/>
          </p:cNvSpPr>
          <p:nvPr>
            <p:ph type="ctrTitle"/>
          </p:nvPr>
        </p:nvSpPr>
        <p:spPr>
          <a:xfrm>
            <a:off x="311708" y="1354175"/>
            <a:ext cx="8520600" cy="20526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Q&amp;A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1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7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71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AutoNum type="arabicPeriod"/>
            </a:pPr>
            <a:r>
              <a:rPr lang="zh-TW"/>
              <a:t>COPD 血氧掉到多少要停？氧怎麼加？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zh-TW"/>
              <a:t>HIIT 到底能不能做？誰可以做？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zh-TW"/>
              <a:t>1RM 不方便測怎麼處方 RT？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zh-TW"/>
              <a:t>RIR/RPE 病人會不會用？怎麼教？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zh-TW"/>
              <a:t>8–12 週沒進步怎麼調？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zh-TW"/>
              <a:t>什麼情況要回到醫療評估/重新測試？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zh-TW"/>
              <a:t>β-blocker 下 HR 怎麼訂？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zh-TW"/>
              <a:t>AF/起搏器 HR 不可靠怎麼辦？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72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7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72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1. COPD 掉到多少要停？氧怎麼加？</a:t>
            </a:r>
            <a:endParaRPr/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終止標準： 在運動測試或訓練中，若血氧飽和度 (SpO2 ) 降至 ≤80% 並伴隨低氧症狀（如呼吸困難加劇、發紺），應終止測試。部分實驗室會將停止門檻設為更保守的 85%。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氧氣補充指標： 若患者在呼吸室內空氣時，靜止 PaO2 ≤55 mmHg 或 SpO2 ≤88%，則具備補氧指引。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氧氣增加方式： 對於已在使用移動式氧氣的患者，運動時通常需要增加氧氣流量（Flow rates），以維持 SpO2 &gt;88%。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3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7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73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2. HIIT 誰應該做？</a:t>
            </a:r>
            <a:endParaRPr/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可行性： HIIT 是可行的，且研究顯示其提升心肺適能（CRF）的效率優於傳統中強度連續運動。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適用族群：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穩定型冠心病 (CHD) 及 心臟衰竭 (HFrEF) 患者。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穩定型心臟移植患者。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穩定型帕金森氏症 (PD) 患者（HY 分級第 1-2 期）。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注意事項： HIIT 在超過通氣閥值（VAT）時會產生不適感，對於久坐不動或缺乏運動經驗者需謹慎使用，避免誘發過度厭惡感而導致放棄。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4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7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74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3. 1RM 不方便測怎麼處方 RT？</a:t>
            </a:r>
            <a:endParaRPr/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替代評估法： 使用 多組重複次數 (Multiple RM)，例如 5-RM 或 10-RM 來估計 1-RM。負荷越接近 1-RM，預測準確度越高。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保守方案： 對於高風險患者（如心血管疾病），建議採用 10–15 RM 作為強度基準，這與訓練建議較為契合且更安全。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直接追蹤法： 不一定要估算 1-RM，可以直接以 「力竭次數」 作為指標。例如：處方為 8-RM，若病人能以正確技術做到第 8 次即感到疲勞，則此重量即為合適強度。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75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7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75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4. RIR/RPE 病人會不會用？怎麼教？</a:t>
            </a:r>
            <a:endParaRPr/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應用性： 病人可以使用。研究顯示 RPE 與 1-RM 百分比具有相關性，適合用來調節強度。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教學策略：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校準感知： 教導病人將「自覺疲勞感」與「客觀工作量/心率」對齊。最好是在進行最大運動測試後，讓病人回憶最大努力時的感覺（RPE 18–19）。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RIR (保留次數) 教導： 告知病人 0 RIR 代表「最大努力」，即在保持正確技術的情況下無法再多做一次。臨床常見處方為 1–2 RIR（預計力竭前 1–2 次停止）。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特殊情況： 對於 PD 患者，應在測試前詳細解釋量表；對於多發性硬化症 (MS) 患者，可單獨評估肢體的 RPE 以區分局部疲勞。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76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7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76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 sz="1800"/>
              <a:t>5. 8–12 週沒進步怎麼調？</a:t>
            </a:r>
            <a:endParaRPr sz="1800"/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zh-TW" sz="1800"/>
              <a:t>漸進超負荷 (Progressive Overload)：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調整重量： 每次訓練可嘗試增加 2.5%–5% 的重量。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2-for-2 原則： 若病人連續兩次訓練課中，最後一組能比處方次數多做 2 次，即可增加負荷。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改變變數： 若重量卡關，可嘗試調整動作速度（更快速、爆發性）、活動範圍 (ROM) 或組間休息時間。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減量期 (Deload)： 如果病人因累積疲勞導致平台期，可安排 1 週的減量（減少量或強度），讓身體恢復以利產生後續適應。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77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7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77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 sz="1800"/>
              <a:t>6. 什麼情況要回到醫療評估/重新測試？</a:t>
            </a:r>
            <a:endParaRPr sz="1800"/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zh-TW" sz="1800"/>
              <a:t>症狀改變： 出現新的臨床徵兆（如胸痛、心律不整、頭暈、發紺）或自覺運動耐受力下降。</a:t>
            </a:r>
            <a:endParaRPr sz="18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 sz="1800"/>
              <a:t>藥物調整： β-受體阻斷劑 (β-blockers) 的劑量改變時，應重新進行運動測試，因為這會改變心率反應。</a:t>
            </a:r>
            <a:endParaRPr sz="18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 sz="1800"/>
              <a:t>異常生理反應： 運動中出現血壓不升反降 (Hypotensive response) 或 SBP &gt; 250 mmHg。</a:t>
            </a:r>
            <a:endParaRPr sz="18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 sz="1800"/>
              <a:t>病況波動： 慢性病患若發生急性惡化（如 COPD 惡化或心臟病發作）後，重新開始訓練前應再次評估。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8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7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78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7. β-blocker 使用者的心率訂定方法</a:t>
            </a:r>
            <a:endParaRPr/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首選：實測最大心率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應在患者服用藥物劑量已達穩定狀態後，進行一次症狀限制下的最大運動測試（Symptom-limited Maximal Exercise Test），以測得藥物影響下的實際最大心率。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以此實測值來計算目標心率（THR）範圍。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次選：調整藥物後的重新評估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若藥物劑量在測試後有所改變，建議重新進行運動測試。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若無法重測，可測量患者在「劑量改變前」能達成之相同負載下的心率，並以該新心率值的 ±5 次/分 作為新的心率目標範圍。</a:t>
            </a:r>
            <a:endParaRPr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替代指標：RPE 與談話測試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若無法獲得準確心率，應改用自覺用力係數（RPE，Borg 6–20 量表）或談話測試（Talk Test）來指導強度。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9"/>
          <p:cNvSpPr txBox="1">
            <a:spLocks noGrp="1"/>
          </p:cNvSpPr>
          <p:nvPr>
            <p:ph type="body" idx="1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7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79"/>
          <p:cNvSpPr txBox="1">
            <a:spLocks noGrp="1"/>
          </p:cNvSpPr>
          <p:nvPr>
            <p:ph type="body" idx="2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8.</a:t>
            </a:r>
            <a:r>
              <a:rPr lang="zh-TW" sz="1800"/>
              <a:t> AF 或起搏器使用者（HR 不可靠時）的應對</a:t>
            </a:r>
            <a:endParaRPr sz="1800"/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zh-TW" sz="1800"/>
              <a:t>對於心房顫動（HR 反應不規則）或起搏器（HR 可能受程式限制）的患者，心率無法如實反映代謝需求。</a:t>
            </a:r>
            <a:endParaRPr sz="18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 sz="1800"/>
              <a:t>使用主觀強度指標（RPE 與 Talk Test）：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 b="1"/>
              <a:t>RPE 指標</a:t>
            </a:r>
            <a:r>
              <a:rPr lang="zh-TW" sz="1800"/>
              <a:t>： 建議維持在 11–14 分（6–20 量表），即「輕微吃力」至「稍感吃力」的區間。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 b="1"/>
              <a:t>談話測試</a:t>
            </a:r>
            <a:r>
              <a:rPr lang="zh-TW" sz="1800"/>
              <a:t>： 這是判斷強度是否在通氣閾值（VT）以下非常有效的工具。</a:t>
            </a:r>
            <a:endParaRPr sz="1800"/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zh-TW" sz="1800"/>
              <a:t>舒適交談： 強度通常在 VT 以下。</a:t>
            </a:r>
            <a:endParaRPr sz="1800"/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zh-TW" sz="1800"/>
              <a:t>交談困難（喘）： 可能已超過 VT。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6846</Words>
  <Application>Microsoft Office PowerPoint</Application>
  <PresentationFormat>如螢幕大小 (16:9)</PresentationFormat>
  <Paragraphs>417</Paragraphs>
  <Slides>70</Slides>
  <Notes>66</Notes>
  <HiddenSlides>38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70</vt:i4>
      </vt:variant>
    </vt:vector>
  </HeadingPairs>
  <TitlesOfParts>
    <vt:vector size="76" baseType="lpstr">
      <vt:lpstr>Helvetica Neue</vt:lpstr>
      <vt:lpstr>Wingdings</vt:lpstr>
      <vt:lpstr>Arial</vt:lpstr>
      <vt:lpstr>Calibri</vt:lpstr>
      <vt:lpstr>Oi</vt:lpstr>
      <vt:lpstr>Simple Light</vt:lpstr>
      <vt:lpstr>Physical Activity &amp; Exercise Intensity, Oxygen Consumption Kinematics</vt:lpstr>
      <vt:lpstr>怎麼開立運動處方？</vt:lpstr>
      <vt:lpstr>PowerPoint 簡報</vt:lpstr>
      <vt:lpstr>Outline</vt:lpstr>
      <vt:lpstr>Outline</vt:lpstr>
      <vt:lpstr>Physical Activity and Exercise Intensity Terminology</vt:lpstr>
      <vt:lpstr>Introduction &amp; Problem Statement</vt:lpstr>
      <vt:lpstr>Importance of Exercise Prescription</vt:lpstr>
      <vt:lpstr>Importance of Exercise Prescription</vt:lpstr>
      <vt:lpstr>Current Terminology Inconsistencies 心肺耐力運動 (Cardiorespiratory Exercise)</vt:lpstr>
      <vt:lpstr>PowerPoint 簡報</vt:lpstr>
      <vt:lpstr>PowerPoint 簡報</vt:lpstr>
      <vt:lpstr>PowerPoint 簡報</vt:lpstr>
      <vt:lpstr>Previous descriptors / criteria for intensities</vt:lpstr>
      <vt:lpstr>How to Determine and Monitor Intensity %VO2max, %HRmax, %HRR —— 不建議作為首選</vt:lpstr>
      <vt:lpstr>How to Determine and Monitor Intensity 代謝當量 (METs) —— 不建議用於個體處方</vt:lpstr>
      <vt:lpstr>How to Determine and Monitor Intensity 自覺 (RPE/Talk Test) —— 輔助工具</vt:lpstr>
      <vt:lpstr>Proposed Standardized Terminology</vt:lpstr>
      <vt:lpstr>How to Determine and Monitor Intensity 代謝閾值 (Metabolic Thresholds) —— 黃金標準</vt:lpstr>
      <vt:lpstr>How to Determine and Monitor Intensity 代謝閾值 (Metabolic Thresholds) —— 黃金標準</vt:lpstr>
      <vt:lpstr>How to Determine and Monitor Intensity 代謝閾值 (Metabolic Thresholds) —— 黃金標準</vt:lpstr>
      <vt:lpstr>How to Determine and Monitor Intensity 代謝閾值 (Metabolic Thresholds) —— 黃金標準</vt:lpstr>
      <vt:lpstr>Oxygen Consumption Kinematics</vt:lpstr>
      <vt:lpstr>Oxygen Debt 氧債</vt:lpstr>
      <vt:lpstr>Mean Response Time 攝氧量平均反應時間</vt:lpstr>
      <vt:lpstr>Exercise &amp; Muscle Recruitment</vt:lpstr>
      <vt:lpstr>VO2 Drift / Delay = Slow component</vt:lpstr>
      <vt:lpstr>VO2 Drift / Delay = Slow component</vt:lpstr>
      <vt:lpstr>VO2 Drift / Delay = Slow component</vt:lpstr>
      <vt:lpstr>VO2 Drift / Delay = Slow component</vt:lpstr>
      <vt:lpstr>Our study</vt:lpstr>
      <vt:lpstr>Thank you very much!</vt:lpstr>
      <vt:lpstr>PowerPoint 簡報</vt:lpstr>
      <vt:lpstr>Current Terminology Inconsistencies 阻力運動 (Resistance Exercise)</vt:lpstr>
      <vt:lpstr>PowerPoint 簡報</vt:lpstr>
      <vt:lpstr>How to Determine and Monitor Intensity 阻力運動強度的測量：Reps in Reserve, RIR</vt:lpstr>
      <vt:lpstr>Summary</vt:lpstr>
      <vt:lpstr>ACSM GETP 11th vs. 12th</vt:lpstr>
      <vt:lpstr>阻力訓練 (Chapter 5)</vt:lpstr>
      <vt:lpstr>阻力訓練 (Chapter 5)</vt:lpstr>
      <vt:lpstr>阻力訓練 (Chapter 5)</vt:lpstr>
      <vt:lpstr>阻力訓練 (Chapter 5)</vt:lpstr>
      <vt:lpstr>有氧運動運動門檻 (Chapter 5)</vt:lpstr>
      <vt:lpstr>性別生理 (Chapter 6)</vt:lpstr>
      <vt:lpstr>性別生理 (Chapter 6)</vt:lpstr>
      <vt:lpstr>性別生理 (Chapter 6)</vt:lpstr>
      <vt:lpstr>性別生理 (Chapter 6)</vt:lpstr>
      <vt:lpstr>性別生理 (Chapter 6)</vt:lpstr>
      <vt:lpstr>性別生理 (Chapter 6)</vt:lpstr>
      <vt:lpstr>心臟復健 (Chapter 8)</vt:lpstr>
      <vt:lpstr>ACSM 11th vs 12th</vt:lpstr>
      <vt:lpstr>臨床特殊情況之處方調整 (Chapters 8, 9, 10) ME/CFS</vt:lpstr>
      <vt:lpstr>臨床特殊情況之處方調整 (Chapters 8, 9, 10) ME/CFS</vt:lpstr>
      <vt:lpstr>臨床特殊情況之處方調整 (Chapters 8, 9, 10) ME/CFS</vt:lpstr>
      <vt:lpstr>臨床特殊情況之處方調整 (Chapters 8, 9, 10) ME/CFS</vt:lpstr>
      <vt:lpstr>臨床特殊情況之處方調整 (Chapters 8, 9, 10) POTS</vt:lpstr>
      <vt:lpstr>臨床特殊情況之處方調整 (Chapters 8, 9, 10) POTS</vt:lpstr>
      <vt:lpstr>臨床特殊情況之處方調整 (Chapters 8, 9, 10) Pulmonary</vt:lpstr>
      <vt:lpstr>PowerPoint 簡報</vt:lpstr>
      <vt:lpstr>Importance of Exercise Prescription</vt:lpstr>
      <vt:lpstr>Q&amp;A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Physical Activity and Exercise Intensity Terminology</dc:title>
  <cp:lastModifiedBy>吳一宏</cp:lastModifiedBy>
  <cp:revision>64</cp:revision>
  <dcterms:modified xsi:type="dcterms:W3CDTF">2026-08-25T04:45:19Z</dcterms:modified>
</cp:coreProperties>
</file>