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9" r:id="rId4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0" roundtripDataSignature="AMtx7mhN9iZIVSwuNOaJN+jBhiCd7R63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50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52" name="Google Shape;5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59" name="Google Shape;5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60" name="Google Shape;6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68" name="Google Shape;6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75" name="Google Shape;7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76" name="Google Shape;7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83" name="Google Shape;8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84" name="Google Shape;8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91" name="Google Shape;9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巴克球</a:t>
            </a:r>
            <a:endParaRPr sz="1000"/>
          </a:p>
        </p:txBody>
      </p:sp>
      <p:sp>
        <p:nvSpPr>
          <p:cNvPr id="92" name="Google Shape;9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00" name="Google Shape;10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101" name="Google Shape;10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09" name="Google Shape;10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110" name="Google Shape;11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8" name="Google Shape;11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119" name="Google Shape;11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6" name="Google Shape;12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127" name="Google Shape;12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35" name="Google Shape;13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136" name="Google Shape;13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3" name="Google Shape;14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144" name="Google Shape;144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51" name="Google Shape;15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152" name="Google Shape;152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60" name="Google Shape;16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161" name="Google Shape;161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68" name="Google Shape;16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169" name="Google Shape;16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8" name="Google Shape;17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179" name="Google Shape;179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6" name="Google Shape;18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187" name="Google Shape;187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94" name="Google Shape;19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195" name="Google Shape;195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02" name="Google Shape;20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203" name="Google Shape;203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10" name="Google Shape;21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211" name="Google Shape;211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18" name="Google Shape;218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219" name="Google Shape;219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26" name="Google Shape;22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227" name="Google Shape;227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34" name="Google Shape;234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235" name="Google Shape;235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2" name="Google Shape;242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243" name="Google Shape;243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50" name="Google Shape;250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251" name="Google Shape;251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58" name="Google Shape;258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259" name="Google Shape;259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66" name="Google Shape;26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267" name="Google Shape;267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74" name="Google Shape;27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275" name="Google Shape;275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82" name="Google Shape;28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283" name="Google Shape;283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90" name="Google Shape;290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291" name="Google Shape;291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98" name="Google Shape;298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299" name="Google Shape;299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06" name="Google Shape;306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307" name="Google Shape;307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14" name="Google Shape;314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315" name="Google Shape;315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22" name="Google Shape;322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323" name="Google Shape;323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30" name="Google Shape;330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331" name="Google Shape;331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39" name="Google Shape;339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340" name="Google Shape;340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37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48" name="Google Shape;348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349" name="Google Shape;349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38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57" name="Google Shape;357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358" name="Google Shape;358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66" name="Google Shape;366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367" name="Google Shape;367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75" name="Google Shape;375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376" name="Google Shape;376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41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84" name="Google Shape;384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385" name="Google Shape;385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42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标题幻灯片">
  <p:cSld name="标题幻灯片">
    <p:bg>
      <p:bgPr>
        <a:solidFill>
          <a:schemeClr val="accen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7"/>
          <p:cNvSpPr txBox="1">
            <a:spLocks noGrp="1"/>
          </p:cNvSpPr>
          <p:nvPr>
            <p:ph type="subTitle" idx="1"/>
          </p:nvPr>
        </p:nvSpPr>
        <p:spPr>
          <a:xfrm>
            <a:off x="6434051" y="3222176"/>
            <a:ext cx="5086438" cy="55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p47"/>
          <p:cNvSpPr txBox="1">
            <a:spLocks noGrp="1"/>
          </p:cNvSpPr>
          <p:nvPr>
            <p:ph type="ctrTitle"/>
          </p:nvPr>
        </p:nvSpPr>
        <p:spPr>
          <a:xfrm>
            <a:off x="6434051" y="1667466"/>
            <a:ext cx="5086437" cy="155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7"/>
          <p:cNvSpPr txBox="1">
            <a:spLocks noGrp="1"/>
          </p:cNvSpPr>
          <p:nvPr>
            <p:ph type="body" idx="2"/>
          </p:nvPr>
        </p:nvSpPr>
        <p:spPr>
          <a:xfrm>
            <a:off x="6503437" y="4964210"/>
            <a:ext cx="501705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500"/>
              <a:buNone/>
              <a:defRPr sz="1500" b="0">
                <a:solidFill>
                  <a:srgbClr val="F2F2F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47"/>
          <p:cNvSpPr txBox="1">
            <a:spLocks noGrp="1"/>
          </p:cNvSpPr>
          <p:nvPr>
            <p:ph type="body" idx="3"/>
          </p:nvPr>
        </p:nvSpPr>
        <p:spPr>
          <a:xfrm>
            <a:off x="6503437" y="5335685"/>
            <a:ext cx="501705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Arial"/>
              <a:buNone/>
              <a:defRPr sz="1500" b="0">
                <a:solidFill>
                  <a:srgbClr val="F2F2F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48"/>
          <p:cNvCxnSpPr/>
          <p:nvPr/>
        </p:nvCxnSpPr>
        <p:spPr>
          <a:xfrm>
            <a:off x="669925" y="6240463"/>
            <a:ext cx="10850563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6" name="Google Shape;26;p48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8"/>
          <p:cNvSpPr txBox="1">
            <a:spLocks noGrp="1"/>
          </p:cNvSpPr>
          <p:nvPr>
            <p:ph type="dt" idx="10"/>
          </p:nvPr>
        </p:nvSpPr>
        <p:spPr>
          <a:xfrm>
            <a:off x="5402263" y="6253163"/>
            <a:ext cx="1387475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8"/>
          <p:cNvSpPr txBox="1">
            <a:spLocks noGrp="1"/>
          </p:cNvSpPr>
          <p:nvPr>
            <p:ph type="ftr" idx="11"/>
          </p:nvPr>
        </p:nvSpPr>
        <p:spPr>
          <a:xfrm>
            <a:off x="669925" y="6253163"/>
            <a:ext cx="4140200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8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末尾幻灯片">
  <p:cSld name="末尾幻灯片">
    <p:bg>
      <p:bgPr>
        <a:solidFill>
          <a:schemeClr val="accent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9"/>
          <p:cNvSpPr txBox="1">
            <a:spLocks noGrp="1"/>
          </p:cNvSpPr>
          <p:nvPr>
            <p:ph type="ctrTitle"/>
          </p:nvPr>
        </p:nvSpPr>
        <p:spPr>
          <a:xfrm>
            <a:off x="669925" y="1968759"/>
            <a:ext cx="4163332" cy="1449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Arial"/>
              <a:buNone/>
              <a:defRPr sz="3200">
                <a:solidFill>
                  <a:srgbClr val="F2F2F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9"/>
          <p:cNvSpPr txBox="1">
            <a:spLocks noGrp="1"/>
          </p:cNvSpPr>
          <p:nvPr>
            <p:ph type="body" idx="1"/>
          </p:nvPr>
        </p:nvSpPr>
        <p:spPr>
          <a:xfrm>
            <a:off x="669925" y="3445986"/>
            <a:ext cx="4163332" cy="310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500"/>
              <a:buNone/>
              <a:defRPr sz="1500">
                <a:solidFill>
                  <a:srgbClr val="F2F2F2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49"/>
          <p:cNvSpPr txBox="1">
            <a:spLocks noGrp="1"/>
          </p:cNvSpPr>
          <p:nvPr>
            <p:ph type="body" idx="2"/>
          </p:nvPr>
        </p:nvSpPr>
        <p:spPr>
          <a:xfrm>
            <a:off x="669925" y="3761620"/>
            <a:ext cx="4163332" cy="310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500"/>
              <a:buNone/>
              <a:defRPr sz="1500">
                <a:solidFill>
                  <a:srgbClr val="F2F2F2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节标题">
  <p:cSld name="节标题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0"/>
          <p:cNvSpPr txBox="1">
            <a:spLocks noGrp="1"/>
          </p:cNvSpPr>
          <p:nvPr>
            <p:ph type="title"/>
          </p:nvPr>
        </p:nvSpPr>
        <p:spPr>
          <a:xfrm>
            <a:off x="669925" y="3953415"/>
            <a:ext cx="6806247" cy="65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chemeClr val="dk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0"/>
          <p:cNvSpPr txBox="1">
            <a:spLocks noGrp="1"/>
          </p:cNvSpPr>
          <p:nvPr>
            <p:ph type="body" idx="1"/>
          </p:nvPr>
        </p:nvSpPr>
        <p:spPr>
          <a:xfrm>
            <a:off x="669925" y="4739571"/>
            <a:ext cx="6806247" cy="1015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1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1"/>
          <p:cNvSpPr txBox="1">
            <a:spLocks noGrp="1"/>
          </p:cNvSpPr>
          <p:nvPr>
            <p:ph type="body" idx="1"/>
          </p:nvPr>
        </p:nvSpPr>
        <p:spPr>
          <a:xfrm>
            <a:off x="669925" y="1123950"/>
            <a:ext cx="10850563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空白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6"/>
          <p:cNvSpPr txBox="1">
            <a:spLocks noGrp="1"/>
          </p:cNvSpPr>
          <p:nvPr>
            <p:ph type="body" idx="1"/>
          </p:nvPr>
        </p:nvSpPr>
        <p:spPr>
          <a:xfrm>
            <a:off x="669925" y="1123950"/>
            <a:ext cx="10850563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2" name="Google Shape;12;p46"/>
          <p:cNvGrpSpPr/>
          <p:nvPr/>
        </p:nvGrpSpPr>
        <p:grpSpPr>
          <a:xfrm>
            <a:off x="695325" y="1016000"/>
            <a:ext cx="10810875" cy="109538"/>
            <a:chOff x="628642" y="0"/>
            <a:chExt cx="27229910" cy="6858000"/>
          </a:xfrm>
        </p:grpSpPr>
        <p:sp>
          <p:nvSpPr>
            <p:cNvPr id="13" name="Google Shape;13;p46"/>
            <p:cNvSpPr/>
            <p:nvPr/>
          </p:nvSpPr>
          <p:spPr>
            <a:xfrm flipH="1">
              <a:off x="628642" y="0"/>
              <a:ext cx="27229910" cy="6858000"/>
            </a:xfrm>
            <a:prstGeom prst="parallelogram">
              <a:avLst>
                <a:gd name="adj" fmla="val 42371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46"/>
            <p:cNvSpPr/>
            <p:nvPr/>
          </p:nvSpPr>
          <p:spPr>
            <a:xfrm flipH="1">
              <a:off x="876550" y="0"/>
              <a:ext cx="7185339" cy="6858000"/>
            </a:xfrm>
            <a:prstGeom prst="parallelogram">
              <a:avLst>
                <a:gd name="adj" fmla="val 3876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46"/>
            <p:cNvSpPr/>
            <p:nvPr/>
          </p:nvSpPr>
          <p:spPr>
            <a:xfrm flipH="1">
              <a:off x="1508316" y="0"/>
              <a:ext cx="6241688" cy="6858000"/>
            </a:xfrm>
            <a:custGeom>
              <a:avLst/>
              <a:gdLst/>
              <a:ahLst/>
              <a:cxnLst/>
              <a:rect l="l" t="t" r="r" b="b"/>
              <a:pathLst>
                <a:path w="6240991" h="6858000" extrusionOk="0">
                  <a:moveTo>
                    <a:pt x="0" y="6858000"/>
                  </a:moveTo>
                  <a:lnTo>
                    <a:pt x="2886624" y="0"/>
                  </a:lnTo>
                  <a:lnTo>
                    <a:pt x="6240991" y="9525"/>
                  </a:lnTo>
                  <a:lnTo>
                    <a:pt x="389729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lt1">
                <a:alpha val="25098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46"/>
          <p:cNvSpPr txBox="1">
            <a:spLocks noGrp="1"/>
          </p:cNvSpPr>
          <p:nvPr>
            <p:ph type="dt" idx="10"/>
          </p:nvPr>
        </p:nvSpPr>
        <p:spPr>
          <a:xfrm>
            <a:off x="5402263" y="6253163"/>
            <a:ext cx="1387475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46"/>
          <p:cNvSpPr txBox="1">
            <a:spLocks noGrp="1"/>
          </p:cNvSpPr>
          <p:nvPr>
            <p:ph type="ftr" idx="11"/>
          </p:nvPr>
        </p:nvSpPr>
        <p:spPr>
          <a:xfrm>
            <a:off x="669925" y="6253163"/>
            <a:ext cx="4140200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46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>
            <a:spLocks noGrp="1"/>
          </p:cNvSpPr>
          <p:nvPr>
            <p:ph type="ctrTitle"/>
          </p:nvPr>
        </p:nvSpPr>
        <p:spPr>
          <a:xfrm>
            <a:off x="2817125" y="4007432"/>
            <a:ext cx="92895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zh-TW" sz="4800">
                <a:solidFill>
                  <a:srgbClr val="FF0000"/>
                </a:solidFill>
              </a:rPr>
            </a:br>
            <a:r>
              <a:rPr lang="zh-TW" sz="4800"/>
              <a:t>Biotensegrity Medicine</a:t>
            </a:r>
            <a:endParaRPr sz="4800"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/>
              <a:t>in Pain Control</a:t>
            </a:r>
            <a:br>
              <a:rPr lang="zh-TW" sz="4800"/>
            </a:br>
            <a:br>
              <a:rPr lang="zh-TW" sz="4800">
                <a:solidFill>
                  <a:srgbClr val="FF0000"/>
                </a:solidFill>
              </a:rPr>
            </a:br>
            <a:endParaRPr sz="4800">
              <a:solidFill>
                <a:srgbClr val="FF0000"/>
              </a:solidFill>
            </a:endParaRPr>
          </a:p>
        </p:txBody>
      </p:sp>
      <p:sp>
        <p:nvSpPr>
          <p:cNvPr id="47" name="Google Shape;47;p1"/>
          <p:cNvSpPr txBox="1">
            <a:spLocks noGrp="1"/>
          </p:cNvSpPr>
          <p:nvPr>
            <p:ph type="body" idx="2"/>
          </p:nvPr>
        </p:nvSpPr>
        <p:spPr>
          <a:xfrm>
            <a:off x="5932714" y="5837254"/>
            <a:ext cx="608916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None/>
            </a:pPr>
            <a:r>
              <a:rPr lang="zh-TW" sz="3200"/>
              <a:t>包栢嘉 醫師</a:t>
            </a:r>
            <a:endParaRPr sz="3200"/>
          </a:p>
        </p:txBody>
      </p:sp>
      <p:pic>
        <p:nvPicPr>
          <p:cNvPr id="48" name="Google Shape;48;p1"/>
          <p:cNvPicPr preferRelativeResize="0"/>
          <p:nvPr/>
        </p:nvPicPr>
        <p:blipFill rotWithShape="1">
          <a:blip r:embed="rId3">
            <a:alphaModFix/>
          </a:blip>
          <a:srcRect l="20824" t="10201" b="42604"/>
          <a:stretch/>
        </p:blipFill>
        <p:spPr>
          <a:xfrm>
            <a:off x="1" y="0"/>
            <a:ext cx="3975234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小提醒</a:t>
            </a:r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69924" y="1171583"/>
            <a:ext cx="10850563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zh-TW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可以拍照或是寫下筆記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zh-TW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請勿錄音、錄影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經歷</a:t>
            </a:r>
            <a:endParaRPr/>
          </a:p>
        </p:txBody>
      </p:sp>
      <p:sp>
        <p:nvSpPr>
          <p:cNvPr id="63" name="Google Shape;63;p3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69924" y="1171583"/>
            <a:ext cx="10850563" cy="2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zh-TW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第110期中國醫藥大學針灸研習班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zh-TW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吳宏乾醫師暑期針灸班進修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zh-TW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李東煌醫師脊椎動態矯正術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zh-TW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藍海學苑 肌能系貼紮 課程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zh-TW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NASM CES 矯正動作專家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zh-TW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國泰/台大復健科住院醫師第四年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關於我</a:t>
            </a:r>
            <a:endParaRPr/>
          </a:p>
        </p:txBody>
      </p:sp>
      <p:sp>
        <p:nvSpPr>
          <p:cNvPr id="71" name="Google Shape;71;p4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669924" y="1171583"/>
            <a:ext cx="10850563" cy="535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•"/>
            </a:pPr>
            <a:r>
              <a:rPr lang="zh-TW" sz="18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第110期中國醫藥大學針灸研習班</a:t>
            </a:r>
            <a:endParaRPr sz="18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•"/>
            </a:pPr>
            <a:r>
              <a:rPr lang="zh-TW" sz="18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吳宏乾醫師暑期針灸班進修</a:t>
            </a:r>
            <a:endParaRPr sz="18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•"/>
            </a:pPr>
            <a:r>
              <a:rPr lang="zh-TW" sz="18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李東煌醫師脊椎動態矯正術</a:t>
            </a:r>
            <a:endParaRPr sz="18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•"/>
            </a:pPr>
            <a:r>
              <a:rPr lang="zh-TW" sz="18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藍海學苑 肌能系貼紮 課程</a:t>
            </a:r>
            <a:endParaRPr sz="18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•"/>
            </a:pPr>
            <a:r>
              <a:rPr lang="zh-TW" sz="18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NASM CES 矯正動作專家</a:t>
            </a:r>
            <a:endParaRPr sz="18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•"/>
            </a:pPr>
            <a:r>
              <a:rPr lang="zh-TW" sz="18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國泰/台大復健科住院醫師第四年</a:t>
            </a:r>
            <a:endParaRPr sz="18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zh-TW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Myofascial pain 患者</a:t>
            </a:r>
            <a:endParaRPr sz="2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71550" marR="0" lvl="1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zh-TW" sz="2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Modality (熱療、短波、超音波、雷射、震波…)</a:t>
            </a:r>
            <a:endParaRPr/>
          </a:p>
          <a:p>
            <a:pPr marL="971550" marR="0" lvl="1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zh-TW" sz="2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針灸、中藥</a:t>
            </a:r>
            <a:endParaRPr sz="2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71550" marR="0" lvl="1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zh-TW" sz="2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藥物 (Tofranil、Diclofenac、Celebrex、Acetaminophen、Solaxin)</a:t>
            </a:r>
            <a:endParaRPr/>
          </a:p>
          <a:p>
            <a:pPr marL="971550" marR="0" lvl="1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zh-TW" sz="2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注射(Facet joint、1</a:t>
            </a:r>
            <a:r>
              <a:rPr lang="zh-TW" sz="2600" b="1" i="0" u="none" strike="noStrike" cap="none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lang="zh-TW" sz="2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costovetebral joint、Dorsal scapulae nerve、trigger point injection)</a:t>
            </a:r>
            <a:endParaRPr/>
          </a:p>
          <a:p>
            <a:pPr marL="971550" marR="0" lvl="1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zh-TW" sz="2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手法 ( 中醫傷科、傳統整復、PT 手法)</a:t>
            </a:r>
            <a:endParaRPr/>
          </a:p>
          <a:p>
            <a:pPr marL="971550" marR="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endParaRPr sz="2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臨床上的困境</a:t>
            </a:r>
            <a:endParaRPr/>
          </a:p>
        </p:txBody>
      </p:sp>
      <p:sp>
        <p:nvSpPr>
          <p:cNvPr id="79" name="Google Shape;79;p6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669924" y="1171583"/>
            <a:ext cx="10850563" cy="4555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面對有</a:t>
            </a: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多部位疼痛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或是</a:t>
            </a: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痛點不斷轉移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的病患，很難藉由單一打針來完全改善病人的問題 ?</a:t>
            </a:r>
            <a:endParaRPr/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影像學(包含超音波) 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無法完全解釋該病人的疼痛的部位 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不確定病人多個疼痛點的</a:t>
            </a: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先後時間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順序 ?</a:t>
            </a:r>
            <a:endParaRPr/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醫師無法單由超音波影像，了解</a:t>
            </a: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注射治療的預後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?</a:t>
            </a:r>
            <a:b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有些病人打了效果很好，有些很不好，但醫師不確定其背後的原因。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給予病人治療後，不曉得要衛教病人甚麼</a:t>
            </a: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運動處方 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?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張力醫學只是回歸初心…</a:t>
            </a:r>
            <a:endParaRPr/>
          </a:p>
        </p:txBody>
      </p:sp>
      <p:sp>
        <p:nvSpPr>
          <p:cNvPr id="87" name="Google Shape;87;p7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669924" y="1171583"/>
            <a:ext cx="10850563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超音波已經是復健科醫師很重要的診斷與治療利器，但是還是有其盲點。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現行醫學處理的是「</a:t>
            </a: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結構 (Structure)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」，但病人主訴往往來自「</a:t>
            </a: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功能 (Function)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」與「</a:t>
            </a: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張力網路 (Biotensegrity)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」。</a:t>
            </a:r>
            <a:endParaRPr sz="2400" b="1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回歸</a:t>
            </a: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視、(聽)、(扣)、觸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Biotensegrity 起源&amp;定義</a:t>
            </a:r>
            <a:endParaRPr/>
          </a:p>
        </p:txBody>
      </p:sp>
      <p:sp>
        <p:nvSpPr>
          <p:cNvPr id="95" name="Google Shape;95;p8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</a:t>
            </a:fld>
            <a:endParaRPr/>
          </a:p>
        </p:txBody>
      </p:sp>
      <p:sp>
        <p:nvSpPr>
          <p:cNvPr id="96" name="Google Shape;96;p8"/>
          <p:cNvSpPr/>
          <p:nvPr/>
        </p:nvSpPr>
        <p:spPr>
          <a:xfrm>
            <a:off x="669924" y="1171583"/>
            <a:ext cx="1085056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Tensegrity (張力整合)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起源：由建築大師 R. Buckminster Fuller 與藝術家 Kenneth Snelson 於 1960 年代確立</a:t>
            </a:r>
            <a:endParaRPr sz="2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97" name="Google Shape;97;p8" descr="https://upload.wikimedia.org/wikipedia/commons/thumb/3/3b/Buckminsterfullerene_animated.gif/250px-Buckminsterfullerene_animated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4450" y="2943225"/>
            <a:ext cx="238125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Biotensegrity 起源&amp;定義</a:t>
            </a:r>
            <a:endParaRPr/>
          </a:p>
        </p:txBody>
      </p:sp>
      <p:sp>
        <p:nvSpPr>
          <p:cNvPr id="104" name="Google Shape;104;p9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8</a:t>
            </a:fld>
            <a:endParaRPr/>
          </a:p>
        </p:txBody>
      </p:sp>
      <p:sp>
        <p:nvSpPr>
          <p:cNvPr id="105" name="Google Shape;105;p9"/>
          <p:cNvSpPr/>
          <p:nvPr/>
        </p:nvSpPr>
        <p:spPr>
          <a:xfrm>
            <a:off x="669924" y="1171583"/>
            <a:ext cx="10850563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Biotensegrity (生物張力整合)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由骨科醫師 </a:t>
            </a: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Dr. Stephen M. Levin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於 1970 年代末至 1980 年代初提出。</a:t>
            </a:r>
            <a:endParaRPr sz="2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動機：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Levin 醫師發現傳統的牛頓力學「槓桿與支點模型」(Lever system) 無法完美解釋生物體（如恐龍或人類）如何承受巨大的力量而不崩塌，亦無法解釋脊椎在複雜動作下的負載機制。</a:t>
            </a:r>
            <a:endParaRPr sz="2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定義核心：</a:t>
            </a:r>
            <a:endParaRPr sz="2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714500" marR="0" lvl="3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骨骼 (Bones) 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 不連續的壓縮元件 (Discontinuous Compression)，如同島嶼般懸浮。</a:t>
            </a:r>
            <a:endParaRPr sz="2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714500" marR="0" lvl="3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肌筋膜/軟組織 (Myofascia) 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 連續的張力元件 (Continuous Tension)，如同海洋般包覆。</a:t>
            </a:r>
            <a:endParaRPr sz="2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714500" marR="0" lvl="3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自我應力 (Pre-stress) = 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生物體在靜止狀態下內部即存有張力，使其能隨時對外力做出整體反應。</a:t>
            </a:r>
            <a:endParaRPr/>
          </a:p>
        </p:txBody>
      </p:sp>
      <p:sp>
        <p:nvSpPr>
          <p:cNvPr id="106" name="Google Shape;106;p9"/>
          <p:cNvSpPr/>
          <p:nvPr/>
        </p:nvSpPr>
        <p:spPr>
          <a:xfrm>
            <a:off x="584199" y="6253163"/>
            <a:ext cx="1140142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Levin, S. M. (2002). The Tensegrity-Truss as a Model for Spine Mechanics: Biotensegrity. Journal of Mechanics in Medicine and Biology.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疼痛來源</a:t>
            </a:r>
            <a:endParaRPr/>
          </a:p>
        </p:txBody>
      </p:sp>
      <p:sp>
        <p:nvSpPr>
          <p:cNvPr id="113" name="Google Shape;113;p10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9</a:t>
            </a:fld>
            <a:endParaRPr/>
          </a:p>
        </p:txBody>
      </p:sp>
      <p:sp>
        <p:nvSpPr>
          <p:cNvPr id="114" name="Google Shape;114;p10"/>
          <p:cNvSpPr/>
          <p:nvPr/>
        </p:nvSpPr>
        <p:spPr>
          <a:xfrm>
            <a:off x="584199" y="6253163"/>
            <a:ext cx="1140142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Raja, S. N., et al. (2020). The revised IASP definition of pain: concepts, challenges, and compromises. </a:t>
            </a:r>
            <a:r>
              <a:rPr lang="zh-TW" sz="14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</a:t>
            </a: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669925" y="1151453"/>
            <a:ext cx="11401425" cy="4555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Nociceptive pain 組織傷害型疼痛</a:t>
            </a:r>
            <a:endParaRPr sz="16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1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定義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：源自非神經組織的實際傷害或潛在威脅，並導致周邊受器 (Nociceptors) 活化。</a:t>
            </a:r>
            <a:endParaRPr/>
          </a:p>
          <a:p>
            <a:pPr marL="457200" marR="0" lvl="1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常見原因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endParaRPr/>
          </a:p>
          <a:p>
            <a:pPr marL="914400" marR="0" lvl="2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發炎/病理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：腫瘤、風濕免疫 (如 RA)、感染、退化性關節炎 (OA)。</a:t>
            </a:r>
            <a:endParaRPr/>
          </a:p>
          <a:p>
            <a:pPr marL="914400" marR="0" lvl="2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創傷/機械性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：外傷、骨折、術後疼痛、慢性軟組織損傷。</a:t>
            </a:r>
            <a:endParaRPr/>
          </a:p>
          <a:p>
            <a:pPr marL="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Neuropathic pain 神經病變型疼痛</a:t>
            </a:r>
            <a:endParaRPr sz="16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1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定義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：直接由體感覺神經系統 (Somatosensory system) 的損傷或疾病所引起的疼痛。</a:t>
            </a:r>
            <a:endParaRPr/>
          </a:p>
          <a:p>
            <a:pPr marL="457200" marR="0" lvl="1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特徵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：通常伴隨感覺異常 (如麻木、電流感、燒灼感)，且分佈符合神經解剖位置 (Neuroanatomically plausible)。</a:t>
            </a:r>
            <a:endParaRPr/>
          </a:p>
          <a:p>
            <a:pPr marL="457200" marR="0" lvl="1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常見原因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：神經根壓迫 (Radiculopathy)、糖尿病神經病變、帶狀皰疹後神經痛、脊髓損傷。</a:t>
            </a:r>
            <a:endParaRPr/>
          </a:p>
          <a:p>
            <a:pPr marL="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Nociplastic pain 痛覺處理異常型 / 中樞敏化痛</a:t>
            </a:r>
            <a:endParaRPr sz="16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1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定義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：源自「痛覺處理異常 (Altered Nociception)」，但</a:t>
            </a: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沒有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明顯的組織損傷證據，也</a:t>
            </a: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沒有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體感覺神經系統的病變證據。這是 IASP 於 2017 年新增的第三類疼痛。</a:t>
            </a:r>
            <a:endParaRPr/>
          </a:p>
          <a:p>
            <a:pPr marL="457200" marR="0" lvl="1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機制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endParaRPr/>
          </a:p>
          <a:p>
            <a:pPr marL="914400" marR="0" lvl="2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中樞敏化 (Central Sensitization)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：中樞神經系統對疼痛訊號過度放大。</a:t>
            </a:r>
            <a:endParaRPr/>
          </a:p>
          <a:p>
            <a:pPr marL="914400" marR="0" lvl="2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痛覺調節失靈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：大腦無法有效抑制疼痛訊號。</a:t>
            </a:r>
            <a:endParaRPr/>
          </a:p>
          <a:p>
            <a:pPr marL="914400" marR="0" lvl="2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心理與共病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：此類疼痛常伴隨疲勞、睡眠障礙、記憶力減退及情緒問題 (如焦慮、憂鬱)。</a:t>
            </a:r>
            <a:endParaRPr sz="16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914400" marR="0" lvl="2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常見原因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：纖維肌痛症 (Fibromyalgia)、大腸激躁症 (IBS)、非特異性下背痛。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Biotensegrity Medicine 定位</a:t>
            </a:r>
            <a:endParaRPr/>
          </a:p>
        </p:txBody>
      </p:sp>
      <p:sp>
        <p:nvSpPr>
          <p:cNvPr id="122" name="Google Shape;122;p11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10</a:t>
            </a:fld>
            <a:endParaRPr/>
          </a:p>
        </p:txBody>
      </p:sp>
      <p:sp>
        <p:nvSpPr>
          <p:cNvPr id="123" name="Google Shape;123;p11"/>
          <p:cNvSpPr/>
          <p:nvPr/>
        </p:nvSpPr>
        <p:spPr>
          <a:xfrm>
            <a:off x="669925" y="1132524"/>
            <a:ext cx="9769475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傳統疼痛來源整理 : 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體血液 : 腫瘤、風濕免疫、感染、退化…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軟組織: 外傷、慢性損傷等傷害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神經損傷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心理</a:t>
            </a:r>
            <a:endParaRPr sz="2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Biotensegrity Medicine 定位</a:t>
            </a:r>
            <a:endParaRPr/>
          </a:p>
        </p:txBody>
      </p:sp>
      <p:sp>
        <p:nvSpPr>
          <p:cNvPr id="130" name="Google Shape;130;p12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11</a:t>
            </a:fld>
            <a:endParaRPr/>
          </a:p>
        </p:txBody>
      </p:sp>
      <p:sp>
        <p:nvSpPr>
          <p:cNvPr id="131" name="Google Shape;131;p12"/>
          <p:cNvSpPr/>
          <p:nvPr/>
        </p:nvSpPr>
        <p:spPr>
          <a:xfrm>
            <a:off x="669925" y="1128833"/>
            <a:ext cx="9769475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傳統疼痛來源整理 : 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體血液 : 腫瘤、風濕免疫、感染、退化…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軟組織: 外傷、慢性損傷等傷害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神經損傷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心理</a:t>
            </a:r>
            <a:endParaRPr sz="2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✔"/>
            </a:pPr>
            <a:r>
              <a:rPr lang="zh-TW" sz="2400" b="1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生物張力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2"/>
          <p:cNvSpPr/>
          <p:nvPr/>
        </p:nvSpPr>
        <p:spPr>
          <a:xfrm>
            <a:off x="1009649" y="4048036"/>
            <a:ext cx="10067925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生物張力引發疼痛也是Nociceptive pain，但目前無好的客觀檢測工具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而以上各個系統</a:t>
            </a: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並非各自獨立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，而是會互相影響。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加入張力醫學的觀點，也並非放棄過往傳統的評估與治療方式。</a:t>
            </a:r>
            <a:b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超音波、打針…也都可以使用。只是我們</a:t>
            </a: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多了一個路徑去評估與治療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病人。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重要提醒~~</a:t>
            </a:r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12</a:t>
            </a:fld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831850" y="1148747"/>
            <a:ext cx="97694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接下來概念，有部分細節來自個人經驗，之後可能會變動。</a:t>
            </a:r>
            <a:endParaRPr sz="2400" b="1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部分手法治療機轉，尚待未來研究，有興趣也歡迎大家與我討論。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三大張力層（Tension Layers）</a:t>
            </a:r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13</a:t>
            </a:fld>
            <a:endParaRPr/>
          </a:p>
        </p:txBody>
      </p:sp>
      <p:sp>
        <p:nvSpPr>
          <p:cNvPr id="148" name="Google Shape;148;p14"/>
          <p:cNvSpPr/>
          <p:nvPr/>
        </p:nvSpPr>
        <p:spPr>
          <a:xfrm>
            <a:off x="765175" y="1257985"/>
            <a:ext cx="7226300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張力層是深度的概念，包含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皮膚</a:t>
            </a:r>
            <a:endParaRPr sz="20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肌筋膜</a:t>
            </a:r>
            <a:endParaRPr sz="20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骨骼關節張力</a:t>
            </a:r>
            <a:endParaRPr sz="20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治療鬆解順序(由淺入深) : 皮膚、肌筋膜、骨骼關節張力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皮膚張力（Cutaneous Tension）</a:t>
            </a:r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14</a:t>
            </a:fld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765175" y="1257985"/>
            <a:ext cx="106172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皮膚上有很多感覺受器 ，皮膚是相對敏感的區域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742950" marR="0" lvl="1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1171575" y="1535113"/>
            <a:ext cx="11020425" cy="492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Encapsulated Mechanoreceptors (有被囊機械受器) - 負責觸覺與震動</a:t>
            </a:r>
            <a:endParaRPr sz="16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1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Merkel cell-neurite complex (梅克爾氏盤)</a:t>
            </a:r>
            <a:endParaRPr sz="16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914400" marR="0" lvl="2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類型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：Slowly Adapting Type I (SA1) 慢速適應 I 型</a:t>
            </a:r>
            <a:endParaRPr/>
          </a:p>
          <a:p>
            <a:pPr marL="914400" marR="0" lvl="2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功能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：感受持續的壓力、質地 (Texture)、形狀、邊緣。對於「點字閱讀」至關重要。</a:t>
            </a:r>
            <a:endParaRPr/>
          </a:p>
          <a:p>
            <a:pPr marL="457200" marR="0" lvl="1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Meissner corpuscles (麥斯納氏小體)</a:t>
            </a:r>
            <a:endParaRPr sz="16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914400" marR="0" lvl="2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類型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：Fast Adapting Type I (FA1) 快速適應 I 型</a:t>
            </a:r>
            <a:endParaRPr/>
          </a:p>
          <a:p>
            <a:pPr marL="914400" marR="0" lvl="2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功能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：感受輕微觸碰、低頻震動 (Flutter)、物體滑動 (Slip)。對於「抓握控制 (Grip control)」至關重要。</a:t>
            </a:r>
            <a:endParaRPr/>
          </a:p>
          <a:p>
            <a:pPr marL="457200" marR="0" lvl="1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Pacinian corpuscles (帕辛尼氏小體)</a:t>
            </a:r>
            <a:endParaRPr sz="16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914400" marR="0" lvl="2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類型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：Fast Adapting Type II (FA2) 快速適應 II 型</a:t>
            </a:r>
            <a:endParaRPr/>
          </a:p>
          <a:p>
            <a:pPr marL="914400" marR="0" lvl="2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功能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：感受深層壓力、高頻震動。對於「工具使用 (Tool use)」的感覺延伸至關重要。</a:t>
            </a:r>
            <a:endParaRPr/>
          </a:p>
          <a:p>
            <a:pPr marL="457200" marR="0" lvl="1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Ruffini endings (盧菲尼氏小體)</a:t>
            </a:r>
            <a:endParaRPr sz="16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914400" marR="0" lvl="2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類型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：Slowly Adapting Type II (SA2) 慢速適應 II 型</a:t>
            </a:r>
            <a:endParaRPr/>
          </a:p>
          <a:p>
            <a:pPr marL="914400" marR="0" lvl="2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功能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：感受皮膚牽拉 (Skin stretch)、關節位置。對於「本體感覺 (Proprioception)」有輔助作用。</a:t>
            </a:r>
            <a:endParaRPr/>
          </a:p>
          <a:p>
            <a:pPr marL="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Free Nerve Endings (游離神經末梢)</a:t>
            </a:r>
            <a:endParaRPr sz="16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1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Nociceptors (痛覺受器)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：高閾值機械受器、熱/化學受器。</a:t>
            </a:r>
            <a:endParaRPr/>
          </a:p>
          <a:p>
            <a:pPr marL="457200" marR="0" lvl="1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Thermoreceptors (溫度受器)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：透過 TRP 通道感受冷熱。</a:t>
            </a:r>
            <a:endParaRPr/>
          </a:p>
          <a:p>
            <a:pPr marL="457200" marR="0" lvl="1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•"/>
            </a:pPr>
            <a:r>
              <a:rPr lang="zh-TW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C-Tactile Fibers (C-觸覺纖維)</a:t>
            </a:r>
            <a:r>
              <a:rPr 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：無髓鞘 C 纖維，負責「情感性觸摸 (Affective touch)」，與腦島 (Insula) 連結，涉及社交與安全感。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皮膚張力（Cutaneous Tension）</a:t>
            </a:r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15</a:t>
            </a:fld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765175" y="1257985"/>
            <a:ext cx="10617200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皮膚上有很多感覺受器 ，皮膚是相對敏感的區域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皮膚上也很容易呈現自律神經的變化 :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交感神經 : 身體處於備戰狀態，皮膚血管收縮。皮膚變得乾燥、緊繃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副交感神經 : 血管擴張，活化肥大細胞，釋放組織胺，導致皮膚發炎。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感覺異常 、異常出汗、皮膚顏色變化、皮下微血管破裂。這些都是皮下張力異常的變化</a:t>
            </a:r>
            <a:endParaRPr/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742950" marR="0" lvl="1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肌筋膜張力（ Myofascial Tension ）</a:t>
            </a:r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16</a:t>
            </a:fld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765175" y="1257985"/>
            <a:ext cx="106172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肌筋膜也富含感覺受器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1020378" y="1574959"/>
            <a:ext cx="10617201" cy="4678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Muscle Proprioceptors 肌肉內的本體感覺受器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1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Muscle Spindle (肌梭)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914400" marR="0" lvl="2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位置：埋藏在肌肉纖維之間，與肌纖維平行。</a:t>
            </a:r>
            <a:endParaRPr/>
          </a:p>
          <a:p>
            <a:pPr marL="914400" marR="0" lvl="2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功能：偵測肌肉的</a:t>
            </a: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長度變化</a:t>
            </a: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與</a:t>
            </a: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改變速度</a:t>
            </a: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(負責牽張反射 Stretch Reflex)。</a:t>
            </a:r>
            <a:endParaRPr/>
          </a:p>
          <a:p>
            <a:pPr marL="457200" marR="0" lvl="1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Golgi Tendon Organ (高爾基腱器官)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914400" marR="0" lvl="2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位置：位於肌肉與肌腱的交界處 (Musculotendinous junction)。</a:t>
            </a:r>
            <a:endParaRPr/>
          </a:p>
          <a:p>
            <a:pPr marL="914400" marR="0" lvl="2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功能：偵測肌肉的</a:t>
            </a: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張力 (Tension)</a:t>
            </a: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，保護肌肉避免過度收縮。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Fascial Mechanoreceptors 筋膜內的機械受器 (數量遠多於肌肉)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1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Free Nerve Endings (游離神經末梢)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914400" marR="0" lvl="2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數量：佔筋膜受器的最大宗 (約 80%)。</a:t>
            </a:r>
            <a:endParaRPr/>
          </a:p>
          <a:p>
            <a:pPr marL="914400" marR="0" lvl="2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功能：</a:t>
            </a:r>
            <a:endParaRPr/>
          </a:p>
          <a:p>
            <a:pPr marL="1371600" marR="0" lvl="3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Nociception (痛覺)</a:t>
            </a: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：解釋了為何許多不明原因疼痛源自筋膜 (如 Myofascial pain)。</a:t>
            </a:r>
            <a:endParaRPr/>
          </a:p>
          <a:p>
            <a:pPr marL="1371600" marR="0" lvl="3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Interstitial Mechanoreceptors (間質受器)</a:t>
            </a: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：感受輕微觸碰與張力變化，調節自主神經系統 (如引發血管舒張)。</a:t>
            </a:r>
            <a:endParaRPr/>
          </a:p>
          <a:p>
            <a:pPr marL="457200" marR="0" lvl="1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Ruffini Endings (盧菲尼氏小體)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914400" marR="0" lvl="2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位置：對張力反應慢，常見於深層筋膜、韌帶。</a:t>
            </a:r>
            <a:endParaRPr/>
          </a:p>
          <a:p>
            <a:pPr marL="914400" marR="0" lvl="2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功能：感受持續的</a:t>
            </a: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剪力 (Shear)</a:t>
            </a: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與</a:t>
            </a: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拉伸 (Stretch)</a:t>
            </a: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。據推測，慢速深層的筋膜放鬆手法 (Myofascial Release) 主要是在刺激此受器，進而降低交感神經活性 (引起放鬆)。</a:t>
            </a:r>
            <a:endParaRPr/>
          </a:p>
          <a:p>
            <a:pPr marL="457200" marR="0" lvl="1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Paciniform Corpuscles (帕辛尼氏小體樣受器)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914400" marR="0" lvl="2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位置：常見於肌腱、關節囊與肌肉筋膜交界。</a:t>
            </a:r>
            <a:endParaRPr/>
          </a:p>
          <a:p>
            <a:pPr marL="914400" marR="0" lvl="2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功能：感受快速的</a:t>
            </a: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壓力變化</a:t>
            </a: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與</a:t>
            </a: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震動</a:t>
            </a: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(如快速推拿或震動槍操作)。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584199" y="6253163"/>
            <a:ext cx="1140142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Schleip, R. (2003). Fascial plasticity – a new neurobiological explanation. Journal of Bodywork and Movement Therapies.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肌筋膜張力（ Myofascial Tension ）</a:t>
            </a:r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17</a:t>
            </a:fld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765175" y="1257985"/>
            <a:ext cx="10617200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肌筋膜也富含感覺受器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主體是筋膜不是肌肉，負責了跨關節、跨區域的力傳遞系統。而目前我們主流注射多為治療局部的肌肉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肌筋膜張力負責動力鏈的傳遞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肌筋膜張力過高常常會造成Trigger point 、taut pain等等的疼痛。但注意這些trigger point 、taut常常是果，不是因。我們應該去解決Myofascial Tension</a:t>
            </a:r>
            <a:endParaRPr/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骨骼關節張力（ Articular Tension ）</a:t>
            </a:r>
            <a:endParaRPr/>
          </a:p>
        </p:txBody>
      </p:sp>
      <p:sp>
        <p:nvSpPr>
          <p:cNvPr id="190" name="Google Shape;190;p19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18</a:t>
            </a:fld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765175" y="1257985"/>
            <a:ext cx="10617200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連結在關節附近有很多的韌帶、肌腱，這些韌帶跟肌腱在肌筋膜張力異常或是底下骨頭生長、排列異常(退化系關節炎、外傷)，都會造成關節張力上升。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而關節張力上升，常常會導致我們手法運作時，力無法傳過關節，因此需要先將關節附近組織鬆動後，再去做肌筋膜的鬆解</a:t>
            </a:r>
            <a:endParaRPr/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三大張力線（Tension Lines）</a:t>
            </a:r>
            <a:endParaRPr/>
          </a:p>
        </p:txBody>
      </p:sp>
      <p:sp>
        <p:nvSpPr>
          <p:cNvPr id="198" name="Google Shape;198;p20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19</a:t>
            </a:fld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765175" y="1257985"/>
            <a:ext cx="10617200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張力線是分布廣度的概念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常常張力線上有一個局部區域出現張力異常，都會連帶影響其他部位的張力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張力線的發現是建立在人體慣用的運動模式跟肌肉解剖上，比如雙手使用時，左右手以胸椎(T spine) 為中心，互相做旋轉(rotation) 。腳在行走時，會以脊椎為中心做旋轉。呼吸時，氣流壓力會沿著鼻子、口腔一路到橫膈以及腹腔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上肢張力線（ Upper Line ）</a:t>
            </a:r>
            <a:endParaRPr/>
          </a:p>
        </p:txBody>
      </p:sp>
      <p:sp>
        <p:nvSpPr>
          <p:cNvPr id="206" name="Google Shape;206;p21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20</a:t>
            </a:fld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765175" y="1257985"/>
            <a:ext cx="10617200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構成：手指終端、前臂、肩胛骨、胸廓、下顎、舌頭的所有組織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臨床症狀：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肩頸痛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頭痛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胸廓擴張不全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上肢麻痛症狀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肩夾擠症狀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顳顎關節障礙</a:t>
            </a:r>
            <a:endParaRPr sz="20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下肢張力線（ Lower Line ）</a:t>
            </a:r>
            <a:endParaRPr/>
          </a:p>
        </p:txBody>
      </p:sp>
      <p:sp>
        <p:nvSpPr>
          <p:cNvPr id="214" name="Google Shape;214;p22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21</a:t>
            </a:fld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765175" y="1257985"/>
            <a:ext cx="10617200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構成：雙下肢、脊椎、頭頂、眼窩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臨床症狀：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腰痛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骨盆歪斜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下肢麻痛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頸部疼痛</a:t>
            </a:r>
            <a:endParaRPr sz="20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張力性頭痛</a:t>
            </a:r>
            <a:endParaRPr sz="20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眼窩痛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內臟張力線（ Visceral Line ）</a:t>
            </a:r>
            <a:endParaRPr/>
          </a:p>
        </p:txBody>
      </p:sp>
      <p:sp>
        <p:nvSpPr>
          <p:cNvPr id="222" name="Google Shape;222;p23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22</a:t>
            </a:fld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765175" y="1257985"/>
            <a:ext cx="10617200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構成：鼻腔、咽喉、氣管、胸腔橫膈、腹腔張力（gut tension）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臨床症狀：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呼吸淺快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腹壓過大</a:t>
            </a:r>
            <a:endParaRPr sz="20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腹脹</a:t>
            </a:r>
            <a:endParaRPr sz="20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消化不良</a:t>
            </a:r>
            <a:endParaRPr sz="20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頻尿、便祕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腰痛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過敏性鼻炎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睡眠呼吸中止症 (OSAS)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三大張力線（Tension Lines）</a:t>
            </a:r>
            <a:endParaRPr/>
          </a:p>
        </p:txBody>
      </p:sp>
      <p:sp>
        <p:nvSpPr>
          <p:cNvPr id="230" name="Google Shape;230;p24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23</a:t>
            </a:fld>
            <a:endParaRPr/>
          </a:p>
        </p:txBody>
      </p:sp>
      <p:sp>
        <p:nvSpPr>
          <p:cNvPr id="231" name="Google Shape;231;p24"/>
          <p:cNvSpPr/>
          <p:nvPr/>
        </p:nvSpPr>
        <p:spPr>
          <a:xfrm>
            <a:off x="765175" y="1257985"/>
            <a:ext cx="10617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以上症狀只是舉例，但三大張力線會互相影響，腳的問題也可以來自手，腰痛可以來自腳，也可以來自內臟筋膜。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需要觸診評估，才可以知道張力來源。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5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如何評估 ? </a:t>
            </a:r>
            <a:endParaRPr/>
          </a:p>
        </p:txBody>
      </p:sp>
      <p:sp>
        <p:nvSpPr>
          <p:cNvPr id="238" name="Google Shape;238;p25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24</a:t>
            </a:fld>
            <a:endParaRPr/>
          </a:p>
        </p:txBody>
      </p:sp>
      <p:sp>
        <p:nvSpPr>
          <p:cNvPr id="239" name="Google Shape;239;p25"/>
          <p:cNvSpPr/>
          <p:nvPr/>
        </p:nvSpPr>
        <p:spPr>
          <a:xfrm>
            <a:off x="765175" y="1257985"/>
            <a:ext cx="1061720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階層評估系統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點 (Point)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線 (Line)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面/體 (Plan)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功 (Function)</a:t>
            </a:r>
            <a:endParaRPr/>
          </a:p>
          <a:p>
            <a:pPr marL="800100" marR="0" lvl="1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6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Point（點）— 局部症狀與壓痛 (現代醫學常用的評估)</a:t>
            </a:r>
            <a:endParaRPr/>
          </a:p>
        </p:txBody>
      </p:sp>
      <p:sp>
        <p:nvSpPr>
          <p:cNvPr id="246" name="Google Shape;246;p26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25</a:t>
            </a:fld>
            <a:endParaRPr/>
          </a:p>
        </p:txBody>
      </p:sp>
      <p:sp>
        <p:nvSpPr>
          <p:cNvPr id="247" name="Google Shape;247;p26"/>
          <p:cNvSpPr/>
          <p:nvPr/>
        </p:nvSpPr>
        <p:spPr>
          <a:xfrm>
            <a:off x="765175" y="1257985"/>
            <a:ext cx="10617200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比如針對肩膀的Hawkin’s  test/ Yocum test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Tinel 壓痛點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動作誘發痛（provocation）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影像學檢查，包含超音波、X-ray、MRI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你要判斷：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這是結構問題？還是張力問題？ (但這是初步想法，不是絕對，張力也會造成病人局部產生壓痛點，但至少可以先排除局部嚴重的結構問題，比如韌帶、肌腱complete tear)</a:t>
            </a:r>
            <a:endParaRPr/>
          </a:p>
          <a:p>
            <a:pPr marL="800100" marR="0" lvl="1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Line（線）— 張力線的緊繃</a:t>
            </a:r>
            <a:endParaRPr/>
          </a:p>
        </p:txBody>
      </p:sp>
      <p:sp>
        <p:nvSpPr>
          <p:cNvPr id="254" name="Google Shape;254;p27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26</a:t>
            </a:fld>
            <a:endParaRPr/>
          </a:p>
        </p:txBody>
      </p:sp>
      <p:sp>
        <p:nvSpPr>
          <p:cNvPr id="255" name="Google Shape;255;p27"/>
          <p:cNvSpPr/>
          <p:nvPr/>
        </p:nvSpPr>
        <p:spPr>
          <a:xfrm>
            <a:off x="765175" y="1257985"/>
            <a:ext cx="10617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看一下張力線上是否有皮膚的變色、濕疹、血管紋的變化。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觸診病人各處皮膚張力</a:t>
            </a:r>
            <a:endParaRPr/>
          </a:p>
          <a:p>
            <a:pPr marL="800100" marR="0" lvl="1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8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Plane（面/體）— 區域連結卡住</a:t>
            </a:r>
            <a:endParaRPr/>
          </a:p>
        </p:txBody>
      </p:sp>
      <p:sp>
        <p:nvSpPr>
          <p:cNvPr id="262" name="Google Shape;262;p28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27</a:t>
            </a:fld>
            <a:endParaRPr/>
          </a:p>
        </p:txBody>
      </p:sp>
      <p:sp>
        <p:nvSpPr>
          <p:cNvPr id="263" name="Google Shape;263;p28"/>
          <p:cNvSpPr/>
          <p:nvPr/>
        </p:nvSpPr>
        <p:spPr>
          <a:xfrm>
            <a:off x="765175" y="1257985"/>
            <a:ext cx="10617200" cy="440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三大張力線之間的匯集處很容易產生區域卡住的狀況 : </a:t>
            </a:r>
            <a:b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比如 TMJ 、hyoid bone、胸廓、下背(thoracolumbar fascia)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全身張力與代償</a:t>
            </a:r>
            <a:endParaRPr/>
          </a:p>
          <a:p>
            <a:pPr marL="1200150" marR="0" lvl="2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眼睛聚焦是否EOM limitation (功能性斜視)</a:t>
            </a:r>
            <a:endParaRPr/>
          </a:p>
          <a:p>
            <a:pPr marL="1200150" marR="0" lvl="2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嘴角是否不對稱</a:t>
            </a:r>
            <a:endParaRPr/>
          </a:p>
          <a:p>
            <a:pPr marL="1200150" marR="0" lvl="2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SCM是否有某測較明顯</a:t>
            </a:r>
            <a:endParaRPr/>
          </a:p>
          <a:p>
            <a:pPr marL="1200150" marR="0" lvl="2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高低肩</a:t>
            </a:r>
            <a:endParaRPr/>
          </a:p>
          <a:p>
            <a:pPr marL="1200150" marR="0" lvl="2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胸廓起伏不對稱</a:t>
            </a:r>
            <a:endParaRPr/>
          </a:p>
          <a:p>
            <a:pPr marL="1200150" marR="0" lvl="2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骨盆歪斜、前後傾</a:t>
            </a:r>
            <a:endParaRPr/>
          </a:p>
          <a:p>
            <a:pPr marL="1200150" marR="0" lvl="2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下肢扁平足</a:t>
            </a:r>
            <a:endParaRPr/>
          </a:p>
          <a:p>
            <a:pPr marL="1200150" marR="0" lvl="2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但不要一直聚焦在單一變化上，骨盆前傾跟後傾可能來自同個問題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從體的觀察，需要經驗養成跟累積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所以足踝是我認為全身最難評估的關節，位處最低點，全身部位的代償都會引起足踝的</a:t>
            </a:r>
            <a:br>
              <a:rPr lang="zh-TW" sz="20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20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變化!!!!!! (足踝型態是身體與重力互動下的結果!!!)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9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Function（功能）— 動作、呼吸、自律神經</a:t>
            </a:r>
            <a:endParaRPr/>
          </a:p>
        </p:txBody>
      </p:sp>
      <p:sp>
        <p:nvSpPr>
          <p:cNvPr id="270" name="Google Shape;270;p29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28</a:t>
            </a:fld>
            <a:endParaRPr/>
          </a:p>
        </p:txBody>
      </p:sp>
      <p:sp>
        <p:nvSpPr>
          <p:cNvPr id="271" name="Google Shape;271;p29"/>
          <p:cNvSpPr/>
          <p:nvPr/>
        </p:nvSpPr>
        <p:spPr>
          <a:xfrm>
            <a:off x="765175" y="1257985"/>
            <a:ext cx="10617200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動力鏈的啟動 :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近端肌肉跟遠端肌肉活動頻率是否相同 ?  (類似繩子的波動)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動力鏈是否可以從近端發力 ?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呼吸頻率是否跟周邊肌肉活動相結抗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局部自律神經是否過度活化，不斷使用周邊肌肉活動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步態分析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功能評估即是動態評估，往往也可以觀察到一些神經肌肉疾病的問題。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臨床治療流程（4R + 1P）</a:t>
            </a:r>
            <a:endParaRPr/>
          </a:p>
        </p:txBody>
      </p:sp>
      <p:sp>
        <p:nvSpPr>
          <p:cNvPr id="278" name="Google Shape;278;p30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29</a:t>
            </a:fld>
            <a:endParaRPr/>
          </a:p>
        </p:txBody>
      </p:sp>
      <p:sp>
        <p:nvSpPr>
          <p:cNvPr id="279" name="Google Shape;279;p30"/>
          <p:cNvSpPr/>
          <p:nvPr/>
        </p:nvSpPr>
        <p:spPr>
          <a:xfrm>
            <a:off x="765175" y="1257985"/>
            <a:ext cx="10617200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1：Rule Out（醫師核心工作）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2 : Relax（張力還原核心技術）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3 : Recognize（感覺地圖重建）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4：Reset（重置動作模式）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5：Progress（回到生活）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Step 1：Rule Out（醫師核心工作）</a:t>
            </a:r>
            <a:endParaRPr/>
          </a:p>
        </p:txBody>
      </p:sp>
      <p:sp>
        <p:nvSpPr>
          <p:cNvPr id="286" name="Google Shape;286;p31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30</a:t>
            </a:fld>
            <a:endParaRPr/>
          </a:p>
        </p:txBody>
      </p:sp>
      <p:sp>
        <p:nvSpPr>
          <p:cNvPr id="287" name="Google Shape;287;p31"/>
          <p:cNvSpPr/>
          <p:nvPr/>
        </p:nvSpPr>
        <p:spPr>
          <a:xfrm>
            <a:off x="765175" y="1257985"/>
            <a:ext cx="10617200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影像紅旗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神經、腫瘤、骨折、感染等</a:t>
            </a:r>
            <a:endParaRPr/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2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Step 2 : Relax（張力還原核心技術）</a:t>
            </a:r>
            <a:endParaRPr/>
          </a:p>
        </p:txBody>
      </p:sp>
      <p:sp>
        <p:nvSpPr>
          <p:cNvPr id="294" name="Google Shape;294;p32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31</a:t>
            </a:fld>
            <a:endParaRPr/>
          </a:p>
        </p:txBody>
      </p:sp>
      <p:sp>
        <p:nvSpPr>
          <p:cNvPr id="295" name="Google Shape;295;p32"/>
          <p:cNvSpPr/>
          <p:nvPr/>
        </p:nvSpPr>
        <p:spPr>
          <a:xfrm>
            <a:off x="765175" y="1257985"/>
            <a:ext cx="10617200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Rope-wave mobilization（繩波式鬆動）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沿張力線傳遞用</a:t>
            </a: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方向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節奏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速度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，而非力量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呼吸引導技術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治療性正念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張力還原性注射</a:t>
            </a:r>
            <a:endParaRPr/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3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Step 3 : Recognize（感覺地圖重建）</a:t>
            </a:r>
            <a:endParaRPr/>
          </a:p>
        </p:txBody>
      </p:sp>
      <p:sp>
        <p:nvSpPr>
          <p:cNvPr id="302" name="Google Shape;302;p33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32</a:t>
            </a:fld>
            <a:endParaRPr/>
          </a:p>
        </p:txBody>
      </p:sp>
      <p:sp>
        <p:nvSpPr>
          <p:cNvPr id="303" name="Google Shape;303;p33"/>
          <p:cNvSpPr/>
          <p:nvPr/>
        </p:nvSpPr>
        <p:spPr>
          <a:xfrm>
            <a:off x="765175" y="1257985"/>
            <a:ext cx="10617200" cy="150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體感覺引導 (頭頂懸吊想像下、關節就不會被壓死)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主體正位式想像 ( 想像是眼正位、鼻正位、胸腔正位)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呼吸引導技術</a:t>
            </a:r>
            <a:endParaRPr/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Step 4：Reset（重置動作模式）</a:t>
            </a:r>
            <a:endParaRPr/>
          </a:p>
        </p:txBody>
      </p:sp>
      <p:sp>
        <p:nvSpPr>
          <p:cNvPr id="310" name="Google Shape;310;p34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33</a:t>
            </a:fld>
            <a:endParaRPr/>
          </a:p>
        </p:txBody>
      </p:sp>
      <p:sp>
        <p:nvSpPr>
          <p:cNvPr id="311" name="Google Shape;311;p34"/>
          <p:cNvSpPr/>
          <p:nvPr/>
        </p:nvSpPr>
        <p:spPr>
          <a:xfrm>
            <a:off x="765175" y="1257985"/>
            <a:ext cx="10617200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用還原後的張力分布，與新的身體認知(procioception)，驅動新的動作模式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很多時候，當張力未還原時，馬上做運動治療，只會讓原本還原後的區域，又變回原本的樣子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發力的啟動都需從近端開始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兩側下肢行走時，該側下肢的旋轉需配合該測的脊椎共同做出同向的旋轉。 </a:t>
            </a:r>
            <a:endParaRPr/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5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Step 5：Progress（回到生活）</a:t>
            </a:r>
            <a:endParaRPr/>
          </a:p>
        </p:txBody>
      </p:sp>
      <p:sp>
        <p:nvSpPr>
          <p:cNvPr id="318" name="Google Shape;318;p35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34</a:t>
            </a:fld>
            <a:endParaRPr/>
          </a:p>
        </p:txBody>
      </p:sp>
      <p:sp>
        <p:nvSpPr>
          <p:cNvPr id="319" name="Google Shape;319;p35"/>
          <p:cNvSpPr/>
          <p:nvPr/>
        </p:nvSpPr>
        <p:spPr>
          <a:xfrm>
            <a:off x="765175" y="1257985"/>
            <a:ext cx="1061720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疼痛治療的目的是讓病患回歸生活，而不是為了躲避疼痛，更頻繁的找醫師治療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步態訓練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呼吸放鬆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各個病患喜愛運動的力線評估 (比如慢跑、打高爾夫球、重訓)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Summary</a:t>
            </a:r>
            <a:endParaRPr/>
          </a:p>
        </p:txBody>
      </p:sp>
      <p:sp>
        <p:nvSpPr>
          <p:cNvPr id="326" name="Google Shape;326;p36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35</a:t>
            </a:fld>
            <a:endParaRPr/>
          </a:p>
        </p:txBody>
      </p:sp>
      <p:sp>
        <p:nvSpPr>
          <p:cNvPr id="327" name="Google Shape;327;p36"/>
          <p:cNvSpPr/>
          <p:nvPr/>
        </p:nvSpPr>
        <p:spPr>
          <a:xfrm>
            <a:off x="765175" y="1257985"/>
            <a:ext cx="10617200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張力醫學是為了解決臨床上的困境，找出病人因為結構以外所造成的疼痛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三大張力層 : 皮膚、肌肉、骨骼關節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三大張力線 : 上肢、下肢、內臟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評估流程 : 點、線、面/體、功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臨床治療流程 : 4R + 1P </a:t>
            </a:r>
            <a:endParaRPr/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7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實際操作 – 張力評估觸診</a:t>
            </a:r>
            <a:endParaRPr/>
          </a:p>
        </p:txBody>
      </p:sp>
      <p:sp>
        <p:nvSpPr>
          <p:cNvPr id="334" name="Google Shape;334;p37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36</a:t>
            </a:fld>
            <a:endParaRPr/>
          </a:p>
        </p:txBody>
      </p:sp>
      <p:sp>
        <p:nvSpPr>
          <p:cNvPr id="335" name="Google Shape;335;p37"/>
          <p:cNvSpPr/>
          <p:nvPr/>
        </p:nvSpPr>
        <p:spPr>
          <a:xfrm>
            <a:off x="765175" y="1257985"/>
            <a:ext cx="106172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36" name="Google Shape;336;p37"/>
          <p:cNvSpPr/>
          <p:nvPr/>
        </p:nvSpPr>
        <p:spPr>
          <a:xfrm>
            <a:off x="765175" y="1257985"/>
            <a:ext cx="10617200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練習1 : 先做手的表面觸感練習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先將慣用手的指尖放置在桌面，輕輕滑動，感受桌面堅硬的感覺(當組織張力高的時候會有這種感覺)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再將指尖放置在衣服上，輕輕滑動，感受衣服相對下面身體的可滑動性(正常組織應該各個方向的滑動，張力需要平均)</a:t>
            </a:r>
            <a:endParaRPr/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Tip :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可以先閉起眼睛練習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手接觸物體表面一定要放輕，不要重壓</a:t>
            </a:r>
            <a:endParaRPr/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8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實際操作 – 張力評估觸診</a:t>
            </a:r>
            <a:endParaRPr/>
          </a:p>
        </p:txBody>
      </p:sp>
      <p:sp>
        <p:nvSpPr>
          <p:cNvPr id="343" name="Google Shape;343;p38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37</a:t>
            </a:fld>
            <a:endParaRPr/>
          </a:p>
        </p:txBody>
      </p:sp>
      <p:sp>
        <p:nvSpPr>
          <p:cNvPr id="344" name="Google Shape;344;p38"/>
          <p:cNvSpPr/>
          <p:nvPr/>
        </p:nvSpPr>
        <p:spPr>
          <a:xfrm>
            <a:off x="765175" y="1257985"/>
            <a:ext cx="106172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45" name="Google Shape;345;p38"/>
          <p:cNvSpPr/>
          <p:nvPr/>
        </p:nvSpPr>
        <p:spPr>
          <a:xfrm>
            <a:off x="765175" y="1257985"/>
            <a:ext cx="10617200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練習2 : 搖晃頻率的練習 (深度)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熟悉表面觸覺後，接下來練習輸入一點力進入要評估的個體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輸入力的頻率與力道，會大幅決定你要評估的部位深度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將手非常輕的放置桌面，輕觸且快速的滑動桌面，感受桌面的堅硬感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接著將手稍微施加力道在桌面，放緩速度，搖動桌面，可以感受整個桌面的搖動，你可以知道這個桌子跟地面是否被固定住。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Tip :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快而薄 : 則能量傳遞淺且短。適合評估表淺皮膚區域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慢而沉 : 則能量傳遞深且長。適合評估深層肌肉肌膜與骨關節</a:t>
            </a:r>
            <a:endParaRPr/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9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實際操作 – 張力評估觸診</a:t>
            </a:r>
            <a:endParaRPr/>
          </a:p>
        </p:txBody>
      </p:sp>
      <p:sp>
        <p:nvSpPr>
          <p:cNvPr id="352" name="Google Shape;352;p39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38</a:t>
            </a:fld>
            <a:endParaRPr/>
          </a:p>
        </p:txBody>
      </p:sp>
      <p:sp>
        <p:nvSpPr>
          <p:cNvPr id="353" name="Google Shape;353;p39"/>
          <p:cNvSpPr/>
          <p:nvPr/>
        </p:nvSpPr>
        <p:spPr>
          <a:xfrm>
            <a:off x="765175" y="1257985"/>
            <a:ext cx="106172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54" name="Google Shape;354;p39"/>
          <p:cNvSpPr/>
          <p:nvPr/>
        </p:nvSpPr>
        <p:spPr>
          <a:xfrm>
            <a:off x="765175" y="1257985"/>
            <a:ext cx="10617200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練習3 : 搖晃的方向性(起點與支點)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試著將手施加力道在桌面，然後將力往桌子的前面兩個腳傳動，以桌子前面兩個腳當支點，手傳入力為起點，來做搖晃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試著將手施加力道在桌面，然後將力往桌子的後面兩個腳傳動，以桌子後面兩個腳當支點，手傳入力為起點，來做搖晃</a:t>
            </a:r>
            <a:endParaRPr/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TIP: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想像將力傳入一個結構體，起點跟支點會決定，力傳導的方向性。</a:t>
            </a:r>
            <a:endParaRPr/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0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實際操作 – 張力評估觸診</a:t>
            </a:r>
            <a:endParaRPr/>
          </a:p>
        </p:txBody>
      </p:sp>
      <p:sp>
        <p:nvSpPr>
          <p:cNvPr id="361" name="Google Shape;361;p40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39</a:t>
            </a:fld>
            <a:endParaRPr/>
          </a:p>
        </p:txBody>
      </p:sp>
      <p:sp>
        <p:nvSpPr>
          <p:cNvPr id="362" name="Google Shape;362;p40"/>
          <p:cNvSpPr/>
          <p:nvPr/>
        </p:nvSpPr>
        <p:spPr>
          <a:xfrm>
            <a:off x="765175" y="1257985"/>
            <a:ext cx="106172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63" name="Google Shape;363;p40"/>
          <p:cNvSpPr/>
          <p:nvPr/>
        </p:nvSpPr>
        <p:spPr>
          <a:xfrm>
            <a:off x="765175" y="1257985"/>
            <a:ext cx="10617200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練習4 : 嘗試評估人體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用快而薄的力道來評估皮膚張力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用慢而沉的力道來評估肌肉肌膜與骨關節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用慢而沉的力道來評估內臟筋膜</a:t>
            </a:r>
            <a:endParaRPr/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Tip: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當評估骨關節或是深層肌肉時，也可以抓住要評估的部位做搖晃，重點是將力傳到你要評估的深度</a:t>
            </a:r>
            <a:endParaRPr/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1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實際操作 </a:t>
            </a:r>
            <a:endParaRPr/>
          </a:p>
        </p:txBody>
      </p:sp>
      <p:sp>
        <p:nvSpPr>
          <p:cNvPr id="370" name="Google Shape;370;p41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40</a:t>
            </a:fld>
            <a:endParaRPr/>
          </a:p>
        </p:txBody>
      </p:sp>
      <p:sp>
        <p:nvSpPr>
          <p:cNvPr id="371" name="Google Shape;371;p41"/>
          <p:cNvSpPr/>
          <p:nvPr/>
        </p:nvSpPr>
        <p:spPr>
          <a:xfrm>
            <a:off x="765175" y="1257985"/>
            <a:ext cx="106172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72" name="Google Shape;372;p41"/>
          <p:cNvSpPr/>
          <p:nvPr/>
        </p:nvSpPr>
        <p:spPr>
          <a:xfrm>
            <a:off x="765175" y="1257985"/>
            <a:ext cx="10617200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三大張力層 : 皮膚、肌肉、骨骼關節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三大張力線 : 上肢、下肢、內臟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評估流程 : 點、線、面/體、功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臨床治療流程 : 4R + 1P</a:t>
            </a:r>
            <a:endParaRPr/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如何在10分鐘內評估完成 ??? </a:t>
            </a:r>
            <a:endParaRPr/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Any question ? </a:t>
            </a:r>
            <a:endParaRPr/>
          </a:p>
        </p:txBody>
      </p:sp>
      <p:sp>
        <p:nvSpPr>
          <p:cNvPr id="379" name="Google Shape;379;p42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41</a:t>
            </a:fld>
            <a:endParaRPr/>
          </a:p>
        </p:txBody>
      </p:sp>
      <p:sp>
        <p:nvSpPr>
          <p:cNvPr id="380" name="Google Shape;380;p42"/>
          <p:cNvSpPr/>
          <p:nvPr/>
        </p:nvSpPr>
        <p:spPr>
          <a:xfrm>
            <a:off x="765175" y="1257985"/>
            <a:ext cx="106172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1" name="Google Shape;381;p42"/>
          <p:cNvSpPr/>
          <p:nvPr/>
        </p:nvSpPr>
        <p:spPr>
          <a:xfrm>
            <a:off x="765175" y="1257985"/>
            <a:ext cx="106172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3"/>
          <p:cNvSpPr txBox="1">
            <a:spLocks noGrp="1"/>
          </p:cNvSpPr>
          <p:nvPr>
            <p:ph type="title"/>
          </p:nvPr>
        </p:nvSpPr>
        <p:spPr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More </a:t>
            </a:r>
            <a:endParaRPr/>
          </a:p>
        </p:txBody>
      </p:sp>
      <p:sp>
        <p:nvSpPr>
          <p:cNvPr id="388" name="Google Shape;388;p43"/>
          <p:cNvSpPr txBox="1">
            <a:spLocks noGrp="1"/>
          </p:cNvSpPr>
          <p:nvPr>
            <p:ph type="sldNum" idx="12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42</a:t>
            </a:fld>
            <a:endParaRPr/>
          </a:p>
        </p:txBody>
      </p:sp>
      <p:sp>
        <p:nvSpPr>
          <p:cNvPr id="389" name="Google Shape;389;p43"/>
          <p:cNvSpPr/>
          <p:nvPr/>
        </p:nvSpPr>
        <p:spPr>
          <a:xfrm>
            <a:off x="765175" y="1257985"/>
            <a:ext cx="106172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90" name="Google Shape;390;p43"/>
          <p:cNvSpPr/>
          <p:nvPr/>
        </p:nvSpPr>
        <p:spPr>
          <a:xfrm>
            <a:off x="765175" y="1257985"/>
            <a:ext cx="106172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91" name="Google Shape;391;p43"/>
          <p:cNvSpPr/>
          <p:nvPr/>
        </p:nvSpPr>
        <p:spPr>
          <a:xfrm>
            <a:off x="765175" y="1257985"/>
            <a:ext cx="10617200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Spasticity (CVA、SCI)</a:t>
            </a:r>
            <a:endParaRPr sz="2400" b="1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Pusher symdrome</a:t>
            </a:r>
            <a:endParaRPr sz="2400" b="1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Radiculopathy </a:t>
            </a:r>
            <a:endParaRPr sz="2400" b="1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Swallowing training ( Post RT、functional dysphagia )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 txBox="1">
            <a:spLocks noGrp="1"/>
          </p:cNvSpPr>
          <p:nvPr>
            <p:ph type="ctrTitle"/>
          </p:nvPr>
        </p:nvSpPr>
        <p:spPr>
          <a:xfrm>
            <a:off x="758825" y="3317875"/>
            <a:ext cx="3392488" cy="1274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None/>
            </a:pPr>
            <a:r>
              <a:rPr lang="zh-TW"/>
              <a:t>Thanks.</a:t>
            </a:r>
            <a:br>
              <a:rPr lang="zh-TW"/>
            </a:br>
            <a:endParaRPr b="0"/>
          </a:p>
        </p:txBody>
      </p:sp>
      <p:cxnSp>
        <p:nvCxnSpPr>
          <p:cNvPr id="407" name="Google Shape;407;p45"/>
          <p:cNvCxnSpPr/>
          <p:nvPr/>
        </p:nvCxnSpPr>
        <p:spPr>
          <a:xfrm>
            <a:off x="790575" y="4197350"/>
            <a:ext cx="3360738" cy="0"/>
          </a:xfrm>
          <a:prstGeom prst="straightConnector1">
            <a:avLst/>
          </a:prstGeom>
          <a:noFill/>
          <a:ln w="9525" cap="flat" cmpd="sng">
            <a:solidFill>
              <a:srgbClr val="F2F2F2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408" name="Google Shape;408;p45"/>
          <p:cNvPicPr preferRelativeResize="0"/>
          <p:nvPr/>
        </p:nvPicPr>
        <p:blipFill rotWithShape="1">
          <a:blip r:embed="rId3">
            <a:alphaModFix/>
          </a:blip>
          <a:srcRect l="1540" t="10201" r="-926" b="42604"/>
          <a:stretch/>
        </p:blipFill>
        <p:spPr>
          <a:xfrm flipH="1">
            <a:off x="4286250" y="0"/>
            <a:ext cx="79057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主题5">
  <a:themeElements>
    <a:clrScheme name="自定义 4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1B2AE"/>
      </a:accent1>
      <a:accent2>
        <a:srgbClr val="1B6AA3"/>
      </a:accent2>
      <a:accent3>
        <a:srgbClr val="F47264"/>
      </a:accent3>
      <a:accent4>
        <a:srgbClr val="C4B37D"/>
      </a:accent4>
      <a:accent5>
        <a:srgbClr val="778495"/>
      </a:accent5>
      <a:accent6>
        <a:srgbClr val="0C8582"/>
      </a:accent6>
      <a:hlink>
        <a:srgbClr val="84CBC5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3906</Words>
  <Application>Microsoft Office PowerPoint</Application>
  <PresentationFormat>寬螢幕</PresentationFormat>
  <Paragraphs>394</Paragraphs>
  <Slides>43</Slides>
  <Notes>43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43</vt:i4>
      </vt:variant>
    </vt:vector>
  </HeadingPairs>
  <TitlesOfParts>
    <vt:vector size="48" baseType="lpstr">
      <vt:lpstr>Noto Sans Symbols</vt:lpstr>
      <vt:lpstr>Microsoft JhengHei</vt:lpstr>
      <vt:lpstr>Arial</vt:lpstr>
      <vt:lpstr>Calibri</vt:lpstr>
      <vt:lpstr>主题5</vt:lpstr>
      <vt:lpstr> Biotensegrity Medicine in Pain Control  </vt:lpstr>
      <vt:lpstr>小提醒</vt:lpstr>
      <vt:lpstr>經歷</vt:lpstr>
      <vt:lpstr>關於我</vt:lpstr>
      <vt:lpstr>臨床上的困境</vt:lpstr>
      <vt:lpstr>張力醫學只是回歸初心…</vt:lpstr>
      <vt:lpstr>Biotensegrity 起源&amp;定義</vt:lpstr>
      <vt:lpstr>Biotensegrity 起源&amp;定義</vt:lpstr>
      <vt:lpstr>疼痛來源</vt:lpstr>
      <vt:lpstr>Biotensegrity Medicine 定位</vt:lpstr>
      <vt:lpstr>Biotensegrity Medicine 定位</vt:lpstr>
      <vt:lpstr>重要提醒~~</vt:lpstr>
      <vt:lpstr>三大張力層（Tension Layers）</vt:lpstr>
      <vt:lpstr>皮膚張力（Cutaneous Tension）</vt:lpstr>
      <vt:lpstr>皮膚張力（Cutaneous Tension）</vt:lpstr>
      <vt:lpstr>肌筋膜張力（ Myofascial Tension ）</vt:lpstr>
      <vt:lpstr>肌筋膜張力（ Myofascial Tension ）</vt:lpstr>
      <vt:lpstr>骨骼關節張力（ Articular Tension ）</vt:lpstr>
      <vt:lpstr>三大張力線（Tension Lines）</vt:lpstr>
      <vt:lpstr>上肢張力線（ Upper Line ）</vt:lpstr>
      <vt:lpstr>下肢張力線（ Lower Line ）</vt:lpstr>
      <vt:lpstr>內臟張力線（ Visceral Line ）</vt:lpstr>
      <vt:lpstr>三大張力線（Tension Lines）</vt:lpstr>
      <vt:lpstr>如何評估 ? </vt:lpstr>
      <vt:lpstr>Point（點）— 局部症狀與壓痛 (現代醫學常用的評估)</vt:lpstr>
      <vt:lpstr>Line（線）— 張力線的緊繃</vt:lpstr>
      <vt:lpstr>Plane（面/體）— 區域連結卡住</vt:lpstr>
      <vt:lpstr>Function（功能）— 動作、呼吸、自律神經</vt:lpstr>
      <vt:lpstr>臨床治療流程（4R + 1P）</vt:lpstr>
      <vt:lpstr>Step 1：Rule Out（醫師核心工作）</vt:lpstr>
      <vt:lpstr>Step 2 : Relax（張力還原核心技術）</vt:lpstr>
      <vt:lpstr>Step 3 : Recognize（感覺地圖重建）</vt:lpstr>
      <vt:lpstr>Step 4：Reset（重置動作模式）</vt:lpstr>
      <vt:lpstr>Step 5：Progress（回到生活）</vt:lpstr>
      <vt:lpstr>Summary</vt:lpstr>
      <vt:lpstr>實際操作 – 張力評估觸診</vt:lpstr>
      <vt:lpstr>實際操作 – 張力評估觸診</vt:lpstr>
      <vt:lpstr>實際操作 – 張力評估觸診</vt:lpstr>
      <vt:lpstr>實際操作 – 張力評估觸診</vt:lpstr>
      <vt:lpstr>實際操作 </vt:lpstr>
      <vt:lpstr>Any question ? </vt:lpstr>
      <vt:lpstr>More </vt:lpstr>
      <vt:lpstr>Thanks.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iSlide</dc:creator>
  <cp:lastModifiedBy>栢嘉 包</cp:lastModifiedBy>
  <cp:revision>1</cp:revision>
  <dcterms:created xsi:type="dcterms:W3CDTF">2017-09-04T16:00:00Z</dcterms:created>
  <dcterms:modified xsi:type="dcterms:W3CDTF">2026-07-08T13:55:23Z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a173570b-f82c-4049-95f2-66cf58a73903</vt:lpwstr>
  </property>
</Properties>
</file>