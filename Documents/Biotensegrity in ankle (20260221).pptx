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1840" r:id="rId3"/>
    <p:sldId id="1829" r:id="rId4"/>
    <p:sldId id="1830" r:id="rId5"/>
    <p:sldId id="1831" r:id="rId6"/>
    <p:sldId id="1832" r:id="rId7"/>
    <p:sldId id="1833" r:id="rId8"/>
    <p:sldId id="1835" r:id="rId9"/>
    <p:sldId id="1834" r:id="rId10"/>
    <p:sldId id="1836" r:id="rId11"/>
    <p:sldId id="1839" r:id="rId12"/>
    <p:sldId id="1838" r:id="rId13"/>
    <p:sldId id="1842" r:id="rId14"/>
    <p:sldId id="1841" r:id="rId15"/>
    <p:sldId id="1843" r:id="rId16"/>
    <p:sldId id="1844" r:id="rId17"/>
    <p:sldId id="1845" r:id="rId18"/>
    <p:sldId id="1847" r:id="rId19"/>
    <p:sldId id="1846" r:id="rId20"/>
    <p:sldId id="1850" r:id="rId21"/>
    <p:sldId id="1848" r:id="rId22"/>
    <p:sldId id="1849" r:id="rId23"/>
    <p:sldId id="1851" r:id="rId24"/>
    <p:sldId id="1852" r:id="rId25"/>
    <p:sldId id="1853" r:id="rId26"/>
    <p:sldId id="1854" r:id="rId27"/>
    <p:sldId id="1855" r:id="rId28"/>
    <p:sldId id="1856" r:id="rId29"/>
    <p:sldId id="1857" r:id="rId30"/>
    <p:sldId id="1858" r:id="rId31"/>
    <p:sldId id="1859" r:id="rId32"/>
    <p:sldId id="1860" r:id="rId33"/>
    <p:sldId id="1862" r:id="rId34"/>
    <p:sldId id="1861" r:id="rId35"/>
    <p:sldId id="1863" r:id="rId36"/>
    <p:sldId id="1864" r:id="rId37"/>
    <p:sldId id="1865" r:id="rId38"/>
    <p:sldId id="1866" r:id="rId39"/>
    <p:sldId id="1867" r:id="rId40"/>
    <p:sldId id="1868" r:id="rId41"/>
    <p:sldId id="1869" r:id="rId42"/>
    <p:sldId id="1871" r:id="rId43"/>
    <p:sldId id="1872" r:id="rId44"/>
    <p:sldId id="1870" r:id="rId45"/>
    <p:sldId id="261" r:id="rId46"/>
  </p:sldIdLst>
  <p:sldSz cx="12192000" cy="6858000"/>
  <p:notesSz cx="6858000" cy="9144000"/>
  <p:custDataLst>
    <p:tags r:id="rId4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ebd89cb171195e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FFFF"/>
    <a:srgbClr val="FF9900"/>
    <a:srgbClr val="11B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89096" autoAdjust="0"/>
  </p:normalViewPr>
  <p:slideViewPr>
    <p:cSldViewPr snapToGrid="0">
      <p:cViewPr varScale="1">
        <p:scale>
          <a:sx n="101" d="100"/>
          <a:sy n="101" d="100"/>
        </p:scale>
        <p:origin x="86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FB5C5C7-F620-4575-AC6B-BFDCBA0AFB0F}" type="datetimeFigureOut">
              <a:rPr lang="zh-CN" altLang="en-US"/>
              <a:pPr>
                <a:defRPr/>
              </a:pPr>
              <a:t>2026/2/21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noProof="0"/>
              <a:t>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31348BC2-92C7-48AA-9C05-B2F1350AEF8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785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348BC2-92C7-48AA-9C05-B2F1350AEF88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4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02928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354044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744652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919091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711304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860944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等线"/>
              </a:rPr>
              <a:t>巴克球</a:t>
            </a: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112846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378882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224226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807205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886790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097846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831946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260188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797499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4017159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779164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974471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98154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309268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69732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4657736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448983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1201442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8543326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7755155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2424973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9748602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888397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9917211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4588004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3709103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8955253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8289486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7866953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1399361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581677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643287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6300220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0415529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0384852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901327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 sz="1000" dirty="0"/>
          </a:p>
        </p:txBody>
      </p:sp>
      <p:sp>
        <p:nvSpPr>
          <p:cNvPr id="194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70112-1F71-43F1-8219-D339B12114F5}" type="slidenum">
              <a:rPr lang="zh-CN" altLang="en-US">
                <a:latin typeface="等线"/>
                <a:ea typeface="等线"/>
                <a:cs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01099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434051" y="3222176"/>
            <a:ext cx="5086438" cy="558799"/>
          </a:xfrm>
        </p:spPr>
        <p:txBody>
          <a:bodyPr>
            <a:normAutofit/>
          </a:bodyPr>
          <a:lstStyle>
            <a:lvl1pPr marL="0" marR="0" indent="0" algn="r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 lvl="0"/>
            <a:r>
              <a:rPr lang="zh-TW" altLang="en-US"/>
              <a:t>按一下以編輯母片副標題樣式</a:t>
            </a:r>
            <a:endParaRPr lang="en-US" altLang="zh-CN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434051" y="1667466"/>
            <a:ext cx="5086437" cy="1554710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89E4BC41-1711-4A51-A76C-C53781E48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3437" y="4964210"/>
            <a:ext cx="5017051" cy="371475"/>
          </a:xfrm>
        </p:spPr>
        <p:txBody>
          <a:bodyPr anchor="ctr">
            <a:normAutofit/>
          </a:bodyPr>
          <a:lstStyle>
            <a:lvl1pPr marL="0" indent="0" algn="r">
              <a:buNone/>
              <a:defRPr sz="1500" b="0">
                <a:solidFill>
                  <a:schemeClr val="bg1">
                    <a:lumMod val="95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文本占位符 13">
            <a:extLst>
              <a:ext uri="{FF2B5EF4-FFF2-40B4-BE49-F238E27FC236}">
                <a16:creationId xmlns:a16="http://schemas.microsoft.com/office/drawing/2014/main" id="{F9135DB9-36A4-401A-B718-F06D2DCCAB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03437" y="5335685"/>
            <a:ext cx="5017051" cy="371475"/>
          </a:xfrm>
        </p:spPr>
        <p:txBody>
          <a:bodyPr anchor="ctr">
            <a:normAutofit/>
          </a:bodyPr>
          <a:lstStyle>
            <a:lvl1pPr marL="0" marR="0" indent="0" algn="r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bg1">
                    <a:lumMod val="95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5290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669925" y="3953415"/>
            <a:ext cx="6806247" cy="65679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669925" y="4739571"/>
            <a:ext cx="6806247" cy="101562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12440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74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8">
            <a:extLst>
              <a:ext uri="{FF2B5EF4-FFF2-40B4-BE49-F238E27FC236}">
                <a16:creationId xmlns:a16="http://schemas.microsoft.com/office/drawing/2014/main" id="{4B8E45AA-1ED1-4A3D-8B6B-850B04DF772A}"/>
              </a:ext>
            </a:extLst>
          </p:cNvPr>
          <p:cNvCxnSpPr/>
          <p:nvPr userDrawn="1"/>
        </p:nvCxnSpPr>
        <p:spPr>
          <a:xfrm>
            <a:off x="669925" y="6240463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4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844F6-5CFD-44FA-9F39-734BB6BE90CC}" type="datetime1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www.islide.cc</a:t>
            </a:r>
            <a:endParaRPr lang="zh-CN" altLang="en-US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420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65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69925" y="1968759"/>
            <a:ext cx="4163332" cy="1449766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/>
          </p:nvPr>
        </p:nvSpPr>
        <p:spPr>
          <a:xfrm>
            <a:off x="669925" y="3445986"/>
            <a:ext cx="4163332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/>
          </p:nvPr>
        </p:nvSpPr>
        <p:spPr>
          <a:xfrm>
            <a:off x="669925" y="3761620"/>
            <a:ext cx="4163332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23479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69925" y="0"/>
            <a:ext cx="10850563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grpSp>
        <p:nvGrpSpPr>
          <p:cNvPr id="1028" name="组合 12"/>
          <p:cNvGrpSpPr>
            <a:grpSpLocks/>
          </p:cNvGrpSpPr>
          <p:nvPr userDrawn="1"/>
        </p:nvGrpSpPr>
        <p:grpSpPr bwMode="auto">
          <a:xfrm>
            <a:off x="695325" y="1016000"/>
            <a:ext cx="10810875" cy="109538"/>
            <a:chOff x="628642" y="0"/>
            <a:chExt cx="27229910" cy="6858000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876550" y="0"/>
              <a:ext cx="7185339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16" name="平行四边形 13"/>
            <p:cNvSpPr/>
            <p:nvPr/>
          </p:nvSpPr>
          <p:spPr>
            <a:xfrm flipH="1">
              <a:off x="1508316" y="0"/>
              <a:ext cx="6241688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" fmla="*/ 0 w 6240991"/>
                <a:gd name="connsiteY0" fmla="*/ 6858000 h 6858000"/>
                <a:gd name="connsiteX1" fmla="*/ 2886624 w 6240991"/>
                <a:gd name="connsiteY1" fmla="*/ 0 h 6858000"/>
                <a:gd name="connsiteX2" fmla="*/ 6240991 w 6240991"/>
                <a:gd name="connsiteY2" fmla="*/ 9525 h 6858000"/>
                <a:gd name="connsiteX3" fmla="*/ 3897292 w 6240991"/>
                <a:gd name="connsiteY3" fmla="*/ 6858000 h 6858000"/>
                <a:gd name="connsiteX4" fmla="*/ 0 w 6240991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17" name="日期占位符 3">
            <a:extLst>
              <a:ext uri="{FF2B5EF4-FFF2-40B4-BE49-F238E27FC236}">
                <a16:creationId xmlns:a16="http://schemas.microsoft.com/office/drawing/2014/main" id="{B15FB670-1CB8-408A-866E-C402D6C61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2263" y="6253163"/>
            <a:ext cx="1387475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788A226-7DA6-4C39-B6C2-00BD54FA4341}" type="datetime1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18" name="页脚占位符 4">
            <a:extLst>
              <a:ext uri="{FF2B5EF4-FFF2-40B4-BE49-F238E27FC236}">
                <a16:creationId xmlns:a16="http://schemas.microsoft.com/office/drawing/2014/main" id="{6B548A66-92E4-46DB-AED4-419A1AE91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53163"/>
            <a:ext cx="4140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dirty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www.islide.cc</a:t>
            </a:r>
            <a:endParaRPr lang="zh-CN" altLang="en-US"/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D280CA3A-9277-4146-B34B-1CE445EEE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53163"/>
            <a:ext cx="2909888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C213D46-8130-4558-9CC6-0AC1A19663D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hdr="0" ftr="0" dt="0"/>
  <p:txStyles>
    <p:titleStyle>
      <a:lvl1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7013" indent="-227013" algn="l" defTabSz="912813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42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HH08032001@hotmail.com.tw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ctrTitle"/>
          </p:nvPr>
        </p:nvSpPr>
        <p:spPr>
          <a:xfrm>
            <a:off x="2732314" y="2698462"/>
            <a:ext cx="9289567" cy="2140115"/>
          </a:xfrm>
        </p:spPr>
        <p:txBody>
          <a:bodyPr/>
          <a:lstStyle/>
          <a:p>
            <a:br>
              <a:rPr lang="en-US" altLang="zh-TW" sz="4800" dirty="0">
                <a:solidFill>
                  <a:srgbClr val="FF0000"/>
                </a:solidFill>
              </a:rPr>
            </a:br>
            <a:r>
              <a:rPr lang="en-US" altLang="zh-TW" sz="4800" dirty="0" err="1"/>
              <a:t>Biotensegrity</a:t>
            </a:r>
            <a:r>
              <a:rPr lang="en-US" altLang="zh-TW" sz="4800" dirty="0"/>
              <a:t> Medicine</a:t>
            </a:r>
            <a:br>
              <a:rPr lang="en-US" altLang="zh-TW" sz="4800" dirty="0"/>
            </a:br>
            <a:r>
              <a:rPr lang="en-US" altLang="zh-TW" sz="4800" dirty="0"/>
              <a:t>in Ankle Evaluation </a:t>
            </a:r>
            <a:br>
              <a:rPr lang="en-US" altLang="zh-TW" sz="4800" dirty="0">
                <a:solidFill>
                  <a:srgbClr val="FF0000"/>
                </a:solidFill>
              </a:rPr>
            </a:b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74699B-9979-488F-9451-9BF3DE2DE2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32714" y="5837254"/>
            <a:ext cx="6089167" cy="371475"/>
          </a:xfrm>
        </p:spPr>
        <p:txBody>
          <a:bodyPr rtlCol="0">
            <a:noAutofit/>
          </a:bodyPr>
          <a:lstStyle/>
          <a:p>
            <a:pPr defTabSz="914354" fontAlgn="auto">
              <a:spcAft>
                <a:spcPts val="0"/>
              </a:spcAft>
              <a:defRPr/>
            </a:pPr>
            <a:r>
              <a:rPr lang="zh-TW" altLang="en-US" sz="3200" dirty="0"/>
              <a:t>包栢嘉 醫師</a:t>
            </a:r>
            <a:endParaRPr lang="en-US" altLang="zh-TW" sz="3200" dirty="0"/>
          </a:p>
        </p:txBody>
      </p:sp>
      <p:pic>
        <p:nvPicPr>
          <p:cNvPr id="9220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4" t="10201" b="42604"/>
          <a:stretch>
            <a:fillRect/>
          </a:stretch>
        </p:blipFill>
        <p:spPr bwMode="auto">
          <a:xfrm>
            <a:off x="1" y="0"/>
            <a:ext cx="397523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課前提醒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可以拍照或是寫下筆記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課程中請勿錄音、錄影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58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第</a:t>
            </a:r>
            <a:r>
              <a:rPr lang="en-US" altLang="zh-TW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110</a:t>
            </a: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期中國醫藥大學針灸研習班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吳宏乾醫師暑期針灸班進修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李東煌醫師脊椎動態矯正術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藍海學苑 肌能系貼紮 課程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NASM</a:t>
            </a: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CES</a:t>
            </a: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矯正動作專家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國泰</a:t>
            </a:r>
            <a:r>
              <a:rPr lang="en-US" altLang="zh-TW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台大復健科住院醫師第四年</a:t>
            </a:r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75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第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110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期中國醫藥大學針灸研習班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吳宏乾醫師暑期針灸班進修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李東煌醫師脊椎動態矯正術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藍海學苑 肌能系貼紮 課程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NASM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CES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矯正動作專家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國泰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台大復健科住院醫師第四年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Myofascial pain 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患者</a:t>
            </a:r>
            <a:endParaRPr lang="en-US" altLang="zh-TW" sz="26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Modality (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熱療、短波、超音波、雷射、震波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…)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針灸、中藥</a:t>
            </a:r>
            <a:endParaRPr lang="en-US" altLang="zh-TW" sz="26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藥物 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(Tofranil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Diclofenac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Celebrex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Acetaminophen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Solaxin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)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注射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(Facet joint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en-US" altLang="zh-TW" sz="2600" b="1" baseline="30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st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600" b="1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costovetebral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joint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Dorsal scapulae nerve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trigger point injection)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手法 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中醫傷科、傳統整復、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PT </a:t>
            </a:r>
            <a:r>
              <a:rPr lang="zh-TW" altLang="en-US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手法</a:t>
            </a:r>
            <a:r>
              <a:rPr lang="en-US" altLang="zh-TW" sz="26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)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endParaRPr lang="en-US" altLang="zh-TW" sz="2600" b="1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60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特別感謝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國泰醫院總院 物理治療師 林耕德 老師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身體的立體結構網絡：一個結構治療科醫師的筆記 作者  林兩傳 醫師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臺大與國泰醫院的復健科師長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8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臨床上的困境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面對有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多部位疼痛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或是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痛點不斷轉移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的病患，很難藉由單一打針來完全改善病人的問題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包含超音波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無法完全解釋該病人的疼痛的部位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不確定病人多個疼痛點的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先後時間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醫師無法單由超音波影像，了解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注射治療的預後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b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有些病人打了效果很好，有些很不好，但醫師不確定其背後的原因。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給予病人治療後，不曉得要衛教病人甚麼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運動處方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7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張力醫學只是回歸初心</a:t>
            </a:r>
            <a:r>
              <a:rPr lang="en-US" altLang="zh-TW" dirty="0"/>
              <a:t>…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超音波已經是復健科醫師很重要的診斷與治療利器，但是還是有其盲點。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現行醫學處理的是「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(Structure)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」，但病人主訴往往來自「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(Function)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」與「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張力網路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Biotensegrity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醫師跟物理治療師的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區別，不是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來自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超音波、手法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回歸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聽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扣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、觸</a:t>
            </a:r>
          </a:p>
        </p:txBody>
      </p:sp>
    </p:spTree>
    <p:extLst>
      <p:ext uri="{BB962C8B-B14F-4D97-AF65-F5344CB8AC3E}">
        <p14:creationId xmlns:p14="http://schemas.microsoft.com/office/powerpoint/2010/main" val="1295924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Biotensegrity</a:t>
            </a:r>
            <a:r>
              <a:rPr lang="en-US" altLang="zh-TW" dirty="0"/>
              <a:t> </a:t>
            </a:r>
            <a:r>
              <a:rPr lang="zh-TW" altLang="en-US" dirty="0"/>
              <a:t>起源</a:t>
            </a:r>
            <a:r>
              <a:rPr lang="en-US" altLang="zh-TW" dirty="0"/>
              <a:t>&amp;</a:t>
            </a:r>
            <a:r>
              <a:rPr lang="zh-TW" altLang="en-US" dirty="0"/>
              <a:t>定義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Tensegrity 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張力整合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起源：由建築大師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R. Buckminster Fuller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與藝術家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Kenneth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Snelson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於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1960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年代確立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026" name="Picture 2" descr="https://upload.wikimedia.org/wikipedia/commons/thumb/3/3b/Buckminsterfullerene_animated.gif/250px-Buckminsterfullerene_animated.gif">
            <a:extLst>
              <a:ext uri="{FF2B5EF4-FFF2-40B4-BE49-F238E27FC236}">
                <a16:creationId xmlns:a16="http://schemas.microsoft.com/office/drawing/2014/main" id="{09F6E81C-85A6-495E-BCEF-9816CC55714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94322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26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Biotensegrity</a:t>
            </a:r>
            <a:r>
              <a:rPr lang="en-US" altLang="zh-TW" dirty="0"/>
              <a:t> </a:t>
            </a:r>
            <a:r>
              <a:rPr lang="zh-TW" altLang="en-US" dirty="0"/>
              <a:t>起源</a:t>
            </a:r>
            <a:r>
              <a:rPr lang="en-US" altLang="zh-TW" dirty="0"/>
              <a:t>&amp;</a:t>
            </a:r>
            <a:r>
              <a:rPr lang="zh-TW" altLang="en-US" dirty="0"/>
              <a:t>定義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B24F2-7AC7-4F38-841C-258C89CF8C6B}"/>
              </a:ext>
            </a:extLst>
          </p:cNvPr>
          <p:cNvSpPr/>
          <p:nvPr/>
        </p:nvSpPr>
        <p:spPr>
          <a:xfrm>
            <a:off x="669924" y="1171583"/>
            <a:ext cx="108505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Biotensegrity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生物張力整合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由骨科醫師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Dr. Stephen M. Levin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於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1970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年代末至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1980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年代初提出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動機：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Levin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醫師發現傳統的牛頓力學「槓桿與支點模型」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(Lever system)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無法完美解釋生物體（如恐龍或人類）如何承受巨大的力量而不崩塌，亦無法解釋脊椎在複雜動作下的負載機制。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定義核心：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骨骼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(Bones)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不連續的壓縮元件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(Discontinuous Compression)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，如同島嶼般懸浮。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肌筋膜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軟組織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Myofascia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連續的張力元件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(Continuous Tension)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，如同海洋般包覆。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自我應力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(Pre-stress)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生物體在靜止狀態下內部即存有張力，使其能隨時對外力做出整體反應。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FC4A3A-5AA1-4F26-9B8D-A6545140DF03}"/>
              </a:ext>
            </a:extLst>
          </p:cNvPr>
          <p:cNvSpPr/>
          <p:nvPr/>
        </p:nvSpPr>
        <p:spPr>
          <a:xfrm>
            <a:off x="584199" y="6253163"/>
            <a:ext cx="114014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Levin, S. M. (2002). The Tensegrity-Truss as a Model for Spine Mechanics: </a:t>
            </a:r>
            <a:r>
              <a:rPr lang="en-US" altLang="zh-TW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Biotensegrity</a:t>
            </a: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Journal of Mechanics in Medicine and Biology.</a:t>
            </a:r>
            <a:endParaRPr lang="zh-TW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750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疼痛來源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FC4A3A-5AA1-4F26-9B8D-A6545140DF03}"/>
              </a:ext>
            </a:extLst>
          </p:cNvPr>
          <p:cNvSpPr/>
          <p:nvPr/>
        </p:nvSpPr>
        <p:spPr>
          <a:xfrm>
            <a:off x="584199" y="6253163"/>
            <a:ext cx="114014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Raja, S. N., et al. (2020). The revised IASP definition of pain: concepts, challenges, and compromises. </a:t>
            </a:r>
            <a:r>
              <a:rPr lang="en-US" altLang="zh-TW" sz="1400" i="1" dirty="0"/>
              <a:t>PAIN</a:t>
            </a:r>
            <a:r>
              <a:rPr lang="en-US" altLang="zh-TW" sz="1400" dirty="0"/>
              <a:t>.</a:t>
            </a:r>
            <a:endParaRPr lang="zh-TW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2164C2-3C00-4700-A61A-146517D2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1151453"/>
            <a:ext cx="11401425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Nociceptive pain 組織傷害型疼痛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定義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：源自非神經組織的實際傷害或潛在威脅，並導致周邊受器 (Nociceptors) 活化。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常見原因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發炎/病理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：腫瘤、風濕免疫 (如 RA)、感染、退化性關節炎 (OA)。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創傷/機械性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：外傷、骨折、術後疼痛、慢性軟組織損傷。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Neuropathic pain 神經病變型疼痛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定義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：直接由體感覺神經系統 (Somatosensory system) 的損傷或疾病所引起的疼痛。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特徵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：通常伴隨感覺異常 (如麻木、電流感、燒灼感)，且分佈符合神經解剖位置 (Neuroanatomically plausible)。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常見原因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：神經根壓迫 (Radiculopathy)、糖尿病神經病變、帶狀皰疹後神經痛、脊髓損傷。</a:t>
            </a:r>
          </a:p>
          <a:p>
            <a:pPr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Nociplastic pain 痛覺處理異常型 / 中樞敏化痛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定義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：源自「痛覺處理異常 (Altered Nociception)」，但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沒有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明顯的組織損傷證據，也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沒有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體感覺神經系統的病變證據。這是 IASP 於 2017 年新增的第三類疼痛。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機制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中樞敏化 (Central Sensitization)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：中樞神經系統對疼痛訊號過度放大。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痛覺調節失靈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：大腦無法有效抑制疼痛訊號。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心理與共病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：此類疼痛常伴隨疲勞、睡眠障礙、記憶力減退及情緒問題 (如焦慮、憂鬱)。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常見原因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：纖維肌痛症 (Fibromyalgia)、大腸激躁症 (IBS)、非特異性下背痛。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96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Biotensegrity</a:t>
            </a:r>
            <a:r>
              <a:rPr lang="en-US" altLang="zh-TW" dirty="0"/>
              <a:t> Medicine </a:t>
            </a:r>
            <a:r>
              <a:rPr lang="zh-TW" altLang="en-US" dirty="0"/>
              <a:t>定位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2164C2-3C00-4700-A61A-146517D2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1132524"/>
            <a:ext cx="976947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FontTx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傳統疼痛來源整理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體血液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腫瘤、風濕免疫、感染、退化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軟組織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外傷、慢性損傷等傷害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神經損傷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心理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88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Biotensegrity</a:t>
            </a:r>
            <a:r>
              <a:rPr lang="en-US" altLang="zh-TW" dirty="0"/>
              <a:t> Medicine </a:t>
            </a:r>
            <a:r>
              <a:rPr lang="zh-TW" altLang="en-US" dirty="0"/>
              <a:t>定位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2164C2-3C00-4700-A61A-146517D2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1128833"/>
            <a:ext cx="976947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FontTx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傳統疼痛來源整理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體血液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腫瘤、風濕免疫、感染、退化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軟組織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外傷、慢性損傷等傷害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神經損傷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心理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生物張力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4B85D6-6339-46DB-828E-C6CAB8A94D49}"/>
              </a:ext>
            </a:extLst>
          </p:cNvPr>
          <p:cNvSpPr/>
          <p:nvPr/>
        </p:nvSpPr>
        <p:spPr>
          <a:xfrm>
            <a:off x="1009649" y="4048036"/>
            <a:ext cx="100679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生物張力引發疼痛也是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Nociceptive pain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，但目前無好的客觀檢測工具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而以上各個系統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並非各自獨立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，而是會互相影響。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加入張力醫學的觀點，也並非放棄過往傳統的評估與治療方式。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超音波、打針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也都可以使用。只是我們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多了一個路徑去評估與治療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病人。</a:t>
            </a:r>
          </a:p>
        </p:txBody>
      </p:sp>
    </p:spTree>
    <p:extLst>
      <p:ext uri="{BB962C8B-B14F-4D97-AF65-F5344CB8AC3E}">
        <p14:creationId xmlns:p14="http://schemas.microsoft.com/office/powerpoint/2010/main" val="29960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重要提醒</a:t>
            </a:r>
            <a:r>
              <a:rPr lang="en-US" altLang="zh-TW" dirty="0"/>
              <a:t>~~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2164C2-3C00-4700-A61A-146517D2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1148747"/>
            <a:ext cx="9769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FontTx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接下來課程中概念，有部分細節來自個人體悟，之後可能會變動。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buFontTx/>
              <a:buChar char="•"/>
            </a:pPr>
            <a:r>
              <a:rPr kumimoji="0" lang="zh-TW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部分手法治療機轉，尚待未來研究，有興趣也歡迎大家與我討論。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984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三大張力層（</a:t>
            </a:r>
            <a:r>
              <a:rPr lang="en-US" altLang="zh-TW" dirty="0"/>
              <a:t>Tension Layers</a:t>
            </a:r>
            <a:r>
              <a:rPr lang="zh-TW" altLang="en-US" dirty="0"/>
              <a:t>）</a:t>
            </a:r>
            <a:endParaRPr lang="zh-CN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72263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張力層是深度的概念，包含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皮膚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肌筋膜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骨骼關節張力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治療鬆解順序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由淺入深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皮膚、肌筋膜、骨骼關節張力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797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皮膚張力（</a:t>
            </a:r>
            <a:r>
              <a:rPr lang="en-US" altLang="zh-TW" dirty="0"/>
              <a:t>Cutaneous Tension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皮膚上有很多感覺受器 ，皮膚是相對敏感的區域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1E62BF-83AB-49B6-82F7-A0BD1472D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1535113"/>
            <a:ext cx="11020425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Encapsulated Mechanoreceptors (有被囊機械受器) - 負責觸覺與震動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Merkel cell-neurite complex (梅克爾氏盤)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：Slowly Adapting Type I (SA1) 慢速適應 I 型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：感受持續的壓力、質地 (Texture)、形狀、邊緣。對於「點字閱讀」至關重要。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Meissner corpuscles (麥斯納氏小體)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：Fast Adapting Type I (FA1) 快速適應 I 型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：感受輕微觸碰、低頻震動 (Flutter)、物體滑動 (Slip)。對於「抓握控制 (Grip control)」至關重要。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Pacinian corpuscles (帕辛尼氏小體)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：Fast Adapting Type II (FA2) 快速適應 II 型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：感受深層壓力、高頻震動。對於「工具使用 (Tool use)」的感覺延伸至關重要。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Ruffini endings (盧菲尼氏小體)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：Slowly Adapting Type II (SA2) 慢速適應 II 型</a:t>
            </a:r>
          </a:p>
          <a:p>
            <a:pPr lvl="2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：感受皮膚牽拉 (Skin stretch)、關節位置。對於「本體感覺 (Proprioception)」有輔助作用。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Free Nerve Endings (游離神經末梢)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Nociceptors (痛覺受器)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：高閾值機械受器、熱/化學受器。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Thermoreceptors (溫度受器)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：透過 TRP 通道感受冷熱。</a:t>
            </a:r>
          </a:p>
          <a:p>
            <a:pPr lvl="1">
              <a:buFontTx/>
              <a:buChar char="•"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C-Tactile Fibers (C-觸覺纖維)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：無髓鞘 C 纖維，負責「情感性觸摸 (Affective touch)」，與腦島 (Insula) 連結，涉及社交與安全感。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355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皮膚張力（</a:t>
            </a:r>
            <a:r>
              <a:rPr lang="en-US" altLang="zh-TW" dirty="0"/>
              <a:t>Cutaneous Tension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皮膚上有很多感覺受器 ，皮膚是相對敏感的區域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皮膚上也很容易呈現自律神經的變化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交感神經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身體處於備戰狀態，皮膚血管收縮。皮膚變得乾燥、緊繃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副交感神經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血管擴張，活化肥大細胞，釋放組織胺，導致皮膚發炎。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感覺異常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、異常出汗、皮膚顏色變化、皮下微血管破裂。這些都是皮下張力異常的變化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38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肌筋膜張力（</a:t>
            </a:r>
            <a:r>
              <a:rPr lang="en-US" altLang="zh-TW" dirty="0"/>
              <a:t> Myofascial Tension 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肌筋膜也富含感覺受器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161174-77C9-4E27-9E53-2FE48E5DE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78" y="1574959"/>
            <a:ext cx="10617201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Muscle Proprioceptors 肌肉內的本體感覺受器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Muscle Spindle (肌梭)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位置：埋藏在肌肉纖維之間，與肌纖維平行。</a:t>
            </a: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功能：偵測肌肉的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長度變化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改變速度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(負責牽張反射 Stretch Reflex)。</a:t>
            </a:r>
          </a:p>
          <a:p>
            <a:pPr lvl="1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Golgi Tendon Organ (高爾基腱器官)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位置：位於肌肉與肌腱的交界處 (Musculotendinous junction)。</a:t>
            </a: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功能：偵測肌肉的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張力 (Tension)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，保護肌肉避免過度收縮。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Fascial Mechanoreceptors 筋膜內的機械受器 (數量遠多於肌肉)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Free Nerve Endings (游離神經末梢)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數量：佔筋膜受器的最大宗 (約 80%)。</a:t>
            </a: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功能：</a:t>
            </a:r>
          </a:p>
          <a:p>
            <a:pPr lvl="3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Nociception (痛覺)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：解釋了為何許多不明原因疼痛源自筋膜 (如 Myofascial pain)。</a:t>
            </a:r>
          </a:p>
          <a:p>
            <a:pPr lvl="3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Interstitial Mechanoreceptors (間質受器)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：感受輕微觸碰與張力變化，調節自主神經系統 (如引發血管舒張)。</a:t>
            </a:r>
          </a:p>
          <a:p>
            <a:pPr lvl="1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Ruffini Endings (盧菲尼氏小體)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位置：對張力反應慢，常見於深層筋膜、韌帶。</a:t>
            </a: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功能：感受持續的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剪力 (Shear)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與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拉伸 (Stretch)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。據推測，慢速深層的筋膜放鬆手法 (Myofascial Release) 主要是在刺激此受器，進而降低交感神經活性 (引起放鬆)。</a:t>
            </a:r>
          </a:p>
          <a:p>
            <a:pPr lvl="1"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Paciniform Corpuscles (帕辛尼氏小體樣受器)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位置：常見於肌腱、關節囊與肌肉筋膜交界。</a:t>
            </a:r>
          </a:p>
          <a:p>
            <a:pPr lvl="2">
              <a:buFontTx/>
              <a:buChar char="•"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功能：感受快速的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壓力變化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震動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(如快速推拿或震動槍操作)。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90B24C-AE5D-43CA-9CF5-E1A2A0252887}"/>
              </a:ext>
            </a:extLst>
          </p:cNvPr>
          <p:cNvSpPr/>
          <p:nvPr/>
        </p:nvSpPr>
        <p:spPr>
          <a:xfrm>
            <a:off x="584199" y="6253163"/>
            <a:ext cx="114014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/>
              <a:t>Schleip</a:t>
            </a:r>
            <a:r>
              <a:rPr lang="en-US" altLang="zh-TW" sz="1400" dirty="0"/>
              <a:t>, R. (2003). Fascial plasticity – a new neurobiological explanation. Journal of Bodywork and Movement Therapies.</a:t>
            </a:r>
            <a:endParaRPr lang="zh-TW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18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肌筋膜張力（</a:t>
            </a:r>
            <a:r>
              <a:rPr lang="en-US" altLang="zh-TW" dirty="0"/>
              <a:t> Myofascial Tension 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肌筋膜也富含感覺受器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主體是筋膜不是肌肉，負責了跨關節、跨區域的力傳遞系統。而目前我們主流注射多為治療局部的肌肉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肌筋膜張力負責動力鏈的傳遞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肌筋膜張力過高常常會造成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Trigger point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taut pain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等等的疼痛。但注意這些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trigger point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taut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常常是果，不是因。我們應該去解決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Myofascial 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3541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骨骼關節張力（</a:t>
            </a:r>
            <a:r>
              <a:rPr lang="en-US" altLang="zh-TW" dirty="0"/>
              <a:t> Articular Tension 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連結在關節附近有很多的韌帶、肌腱，這些韌帶跟肌腱在肌筋膜張力異常或是底下骨頭生長、排列異常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退化系關節炎、外傷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，都會造成關節張力上升。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而關節張力上升，常常會導致我們手法運作時，力無法傳過關節，因此需要先將關節附近組織鬆動後，再去做肌筋膜的鬆解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491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三大張力線（</a:t>
            </a:r>
            <a:r>
              <a:rPr lang="en-US" altLang="zh-TW" dirty="0"/>
              <a:t>Tension Lines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張力線是分布廣度的概念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常常張力線上有一個局部區域出現張力異常，都會連帶影響其他部位的張力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張力線的發現是建立在人體慣用的運動模式跟肌肉解剖上，比如雙手使用時，左右手以胸椎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 spine)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為中心，互相做旋轉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(rotation)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。腳在行走時，會以脊椎為中心做旋轉。呼吸時，氣流壓力會沿著鼻子、口腔一路到橫膈以及腹腔</a:t>
            </a:r>
          </a:p>
        </p:txBody>
      </p:sp>
    </p:spTree>
    <p:extLst>
      <p:ext uri="{BB962C8B-B14F-4D97-AF65-F5344CB8AC3E}">
        <p14:creationId xmlns:p14="http://schemas.microsoft.com/office/powerpoint/2010/main" val="478141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上肢張力線（ </a:t>
            </a:r>
            <a:r>
              <a:rPr lang="en-US" altLang="zh-TW" dirty="0"/>
              <a:t>Upper Line 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構成：手指終端、前臂、肩胛骨、胸廓、下顎、舌頭的所有組織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臨床症狀：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肩頸痛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頭痛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胸廓擴張不全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上肢麻痛症狀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肩夾擠症狀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顳顎關節障礙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5820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下肢張力線（</a:t>
            </a:r>
            <a:r>
              <a:rPr lang="en-US" altLang="zh-TW" dirty="0"/>
              <a:t> Lower Line 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構成：雙下肢、脊椎、頭頂、眼窩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臨床症狀：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腰痛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骨盆歪斜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下肢麻痛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頸部疼痛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張力性頭痛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眼窩痛</a:t>
            </a:r>
          </a:p>
        </p:txBody>
      </p:sp>
    </p:spTree>
    <p:extLst>
      <p:ext uri="{BB962C8B-B14F-4D97-AF65-F5344CB8AC3E}">
        <p14:creationId xmlns:p14="http://schemas.microsoft.com/office/powerpoint/2010/main" val="3988621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內臟張力線（</a:t>
            </a:r>
            <a:r>
              <a:rPr lang="en-US" altLang="zh-TW" dirty="0"/>
              <a:t> Visceral Line 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構成：鼻腔、咽喉、氣管、胸腔橫膈、腹腔張力（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gut tension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臨床症狀：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呼吸淺快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腹壓過大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腹脹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消化不良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頻尿、便祕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腰痛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過敏性鼻炎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睡眠呼吸中止症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(OSAS)</a:t>
            </a:r>
          </a:p>
        </p:txBody>
      </p:sp>
    </p:spTree>
    <p:extLst>
      <p:ext uri="{BB962C8B-B14F-4D97-AF65-F5344CB8AC3E}">
        <p14:creationId xmlns:p14="http://schemas.microsoft.com/office/powerpoint/2010/main" val="925665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三大張力線（</a:t>
            </a:r>
            <a:r>
              <a:rPr lang="en-US" altLang="zh-TW" dirty="0"/>
              <a:t>Tension Lines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以上症狀只是舉例，但三大張力線會互相影響，腳的問題也可以來自手，腰痛可以來自腳，也可以來自內臟筋膜。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需要觸診評估，才可以知道張力來源。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8995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如何評估 </a:t>
            </a:r>
            <a:r>
              <a:rPr lang="en-US" altLang="zh-TW" dirty="0"/>
              <a:t>?</a:t>
            </a:r>
            <a:r>
              <a:rPr lang="zh-TW" altLang="en-US" dirty="0"/>
              <a:t> 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階層評估系統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(Point)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(Line)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(Plan)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(Function)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8034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Point</a:t>
            </a:r>
            <a:r>
              <a:rPr lang="zh-TW" altLang="en-US" dirty="0"/>
              <a:t>（點）</a:t>
            </a:r>
            <a:r>
              <a:rPr lang="en-US" altLang="zh-TW" dirty="0"/>
              <a:t>— </a:t>
            </a:r>
            <a:r>
              <a:rPr lang="zh-TW" altLang="en-US" dirty="0"/>
              <a:t>局部症狀與壓痛 </a:t>
            </a:r>
            <a:r>
              <a:rPr lang="en-US" altLang="zh-TW" dirty="0"/>
              <a:t>(</a:t>
            </a:r>
            <a:r>
              <a:rPr lang="zh-TW" altLang="en-US" dirty="0"/>
              <a:t>現代醫學常用的評估</a:t>
            </a:r>
            <a:r>
              <a:rPr lang="en-US" altLang="zh-TW" dirty="0"/>
              <a:t>)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比如針對肩膀的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Hawkin’s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test/ Yocum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Tinel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壓痛點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動作誘發痛（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provocation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影像學檢查，包含超音波、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X-ray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MRI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你要判斷：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這是結構問題？還是張力問題？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但這是初步想法，不是絕對，張力也會造成病人局部產生壓痛點，但至少可以先排除局部嚴重的結構問題，比如韌帶、肌腱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complete tear)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6503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</a:t>
            </a:r>
            <a:r>
              <a:rPr lang="zh-TW" altLang="en-US" dirty="0"/>
              <a:t>（線）</a:t>
            </a:r>
            <a:r>
              <a:rPr lang="en-US" altLang="zh-TW" dirty="0"/>
              <a:t>— </a:t>
            </a:r>
            <a:r>
              <a:rPr lang="zh-TW" altLang="en-US" dirty="0"/>
              <a:t>張力線的緊繃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看一下張力線上是否有皮膚的變色、濕疹、血管紋的變化。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觸診病人各處皮膚張力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6297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Plane</a:t>
            </a:r>
            <a:r>
              <a:rPr lang="zh-TW" altLang="en-US" dirty="0"/>
              <a:t>（面</a:t>
            </a:r>
            <a:r>
              <a:rPr lang="en-US" altLang="zh-TW" dirty="0"/>
              <a:t>/</a:t>
            </a:r>
            <a:r>
              <a:rPr lang="zh-TW" altLang="en-US" dirty="0"/>
              <a:t>體）</a:t>
            </a:r>
            <a:r>
              <a:rPr lang="en-US" altLang="zh-TW" dirty="0"/>
              <a:t>— </a:t>
            </a:r>
            <a:r>
              <a:rPr lang="zh-TW" altLang="en-US" dirty="0"/>
              <a:t>區域連結卡住</a:t>
            </a:r>
            <a:endParaRPr lang="en-US" altLang="zh-TW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三大張力線之間的匯集處很容易產生區域卡住的狀況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TMJ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hyoid bone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、胸廓、下背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(thoracolumbar fascia)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全身張力與代償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眼睛聚焦是否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EOM limitation 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功能性斜視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嘴角是否不對稱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SCM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是否有某測較明顯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高低肩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胸廓起伏不對稱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骨盆歪斜、前後傾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下肢扁平足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但不要一直聚焦在單一變化上，骨盆前傾跟後傾可能來自同個問題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從體的觀察，需要經驗養成跟累積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所以足踝是我認為全身最難評估的關節，位處最低點，全身部位的代償都會引起足踝的</a:t>
            </a: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變化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!!!!!!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足踝型態是身體與重力互動下的結果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!!!)</a:t>
            </a:r>
          </a:p>
        </p:txBody>
      </p:sp>
    </p:spTree>
    <p:extLst>
      <p:ext uri="{BB962C8B-B14F-4D97-AF65-F5344CB8AC3E}">
        <p14:creationId xmlns:p14="http://schemas.microsoft.com/office/powerpoint/2010/main" val="2397537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  <a:r>
              <a:rPr lang="zh-TW" altLang="en-US" dirty="0"/>
              <a:t>（功能）</a:t>
            </a:r>
            <a:r>
              <a:rPr lang="en-US" altLang="zh-TW" dirty="0"/>
              <a:t>— </a:t>
            </a:r>
            <a:r>
              <a:rPr lang="zh-TW" altLang="en-US" dirty="0"/>
              <a:t>動作、呼吸、自律神經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動力鏈的啟動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近端肌肉跟遠端肌肉活動頻率是否相同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類似繩子的波動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動力鏈是否可以從近端發力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呼吸頻率是否跟周邊肌肉活動相結抗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局部自律神經是否過度活化，不斷使用周邊肌肉活動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步態分析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功能評估即是動態評估，往往也可以觀察到一些神經肌肉疾病的問題。</a:t>
            </a:r>
          </a:p>
        </p:txBody>
      </p:sp>
    </p:spTree>
    <p:extLst>
      <p:ext uri="{BB962C8B-B14F-4D97-AF65-F5344CB8AC3E}">
        <p14:creationId xmlns:p14="http://schemas.microsoft.com/office/powerpoint/2010/main" val="746341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臨床治療流程（</a:t>
            </a:r>
            <a:r>
              <a:rPr lang="en-US" altLang="zh-TW" dirty="0"/>
              <a:t>4R + 1P</a:t>
            </a:r>
            <a:r>
              <a:rPr lang="zh-TW" altLang="en-US" dirty="0"/>
              <a:t>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1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Rule Out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（醫師核心工作）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Relax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（張力還原核心技術）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3 : Recognize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（感覺地圖重建）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4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Reset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（重置動作模式）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Progress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（回到生活）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0264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1</a:t>
            </a:r>
            <a:r>
              <a:rPr lang="zh-TW" altLang="en-US" dirty="0"/>
              <a:t>：</a:t>
            </a:r>
            <a:r>
              <a:rPr lang="en-US" altLang="zh-TW" dirty="0"/>
              <a:t>Rule Out</a:t>
            </a:r>
            <a:r>
              <a:rPr lang="zh-TW" altLang="en-US" dirty="0"/>
              <a:t>（醫師核心工作）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影像紅旗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神經、腫瘤、骨折、感染等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9735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 : Relax</a:t>
            </a:r>
            <a:r>
              <a:rPr lang="zh-TW" altLang="en-US" dirty="0"/>
              <a:t>（張力還原核心技術）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Rope-wave mobilization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（繩波式鬆動）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沿張力線傳遞用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節奏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速度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，而非力量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呼吸引導技術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治療性正念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張力還原性注射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3037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 : Recognize</a:t>
            </a:r>
            <a:r>
              <a:rPr lang="zh-TW" altLang="en-US" dirty="0"/>
              <a:t>（感覺地圖重建）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體感覺引導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頭頂懸吊想像下、關節就不會被壓死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主體正位式想像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想像是眼正位、鼻正位、胸腔正位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呼吸引導技術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8045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4</a:t>
            </a:r>
            <a:r>
              <a:rPr lang="zh-TW" altLang="en-US" dirty="0"/>
              <a:t>：</a:t>
            </a:r>
            <a:r>
              <a:rPr lang="en-US" altLang="zh-TW" dirty="0"/>
              <a:t>Reset</a:t>
            </a:r>
            <a:r>
              <a:rPr lang="zh-TW" altLang="en-US" dirty="0"/>
              <a:t>（重置動作模式）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用還原後的張力分布，與新的身體認知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procioception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，驅動新的動作模式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很多時候，當張力未還原時，馬上做運動治療，只會讓原本還原後的區域，又變回原本的樣子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發力的啟動都需從近端開始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兩側下肢行走時，該側下肢的旋轉需配合該測的脊椎共同做出同向的旋轉。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8304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5</a:t>
            </a:r>
            <a:r>
              <a:rPr lang="zh-TW" altLang="en-US" dirty="0"/>
              <a:t>：</a:t>
            </a:r>
            <a:r>
              <a:rPr lang="en-US" altLang="zh-TW" dirty="0"/>
              <a:t>Progress</a:t>
            </a:r>
            <a:r>
              <a:rPr lang="zh-TW" altLang="en-US" dirty="0"/>
              <a:t>（回到生活）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疼痛治療的目的是讓病患回歸生活，而不是為了躲避疼痛，更頻繁的找醫師治療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步態訓練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呼吸放鬆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各個病患喜愛運動的力線評估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比如慢跑、打高爾夫球、重訓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231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張力醫學是為了解決臨床上的困境，找出病人因為結構以外所造成的疼痛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三大張力層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皮膚、肌肉、骨骼關節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三大張力線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上肢、下肢、內臟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評估流程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點、線、面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體、功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臨床治療流程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4R +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1794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實際操作 </a:t>
            </a:r>
            <a:r>
              <a:rPr lang="en-US" altLang="zh-TW" dirty="0"/>
              <a:t>– </a:t>
            </a:r>
            <a:r>
              <a:rPr lang="zh-TW" altLang="en-US" dirty="0"/>
              <a:t>張力評估觸診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先做手的表面觸感練習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先將慣用手的指尖放置在桌面，輕輕滑動，感受桌面堅硬的感覺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當組織張力高的時候會有這種感覺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再將指尖放置在衣服上，輕輕滑動，感受衣服相對下面身體的可滑動性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正常組織應該各個方向的滑動，張力需要平均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Tip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可以先閉起眼睛練習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手接觸物體表面一定要放輕，不要重壓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0841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實際操作 </a:t>
            </a:r>
            <a:r>
              <a:rPr lang="en-US" altLang="zh-TW" dirty="0"/>
              <a:t>– </a:t>
            </a:r>
            <a:r>
              <a:rPr lang="zh-TW" altLang="en-US" dirty="0"/>
              <a:t>張力評估觸診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搖晃頻率的練習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深度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熟悉表面觸覺後，接下來練習輸入一點力進入要評估的個體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輸入力的頻率與力道，會大幅決定你要評估的部位深度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將手非常輕的放置桌面，輕觸且快速的滑動桌面，感受桌面的堅硬感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接著將手稍微施加力道在桌面，放緩速度，搖動桌面，可以感受整個桌面的搖動，你可以知道這個桌子跟地面是否被固定住。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Tip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快而薄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則能量傳遞淺且短。適合評估表淺皮膚區域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慢而沉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則能量傳遞深且長。適合評估深層肌肉肌膜與骨關節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7580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實際操作 </a:t>
            </a:r>
            <a:r>
              <a:rPr lang="en-US" altLang="zh-TW" dirty="0"/>
              <a:t>– </a:t>
            </a:r>
            <a:r>
              <a:rPr lang="zh-TW" altLang="en-US" dirty="0"/>
              <a:t>張力評估觸診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搖晃的方向性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起點與支點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試著將手施加力道在桌面，然後將力往桌子的前面兩個腳傳動，以桌子前面兩個腳當支點，手傳入力為起點，來做搖晃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試著將手施加力道在桌面，然後將力往桌子的後面兩個腳傳動，以桌子後面兩個腳當支點，手傳入力為起點，來做搖晃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想像將力傳入一個結構體，起點跟支點會決定，力傳導的方向性。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9700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實際操作 </a:t>
            </a:r>
            <a:r>
              <a:rPr lang="en-US" altLang="zh-TW" dirty="0"/>
              <a:t>– </a:t>
            </a:r>
            <a:r>
              <a:rPr lang="zh-TW" altLang="en-US" dirty="0"/>
              <a:t>張力評估觸診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 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嘗試評估人體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用快而薄的力道來評估皮膚張力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用慢而沉的力道來評估肌肉肌膜與骨關節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用慢而沉的力道來評估內臟筋膜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當評估骨關節或是深層肌肉時，也可以抓住要評估的部位做搖晃，重點是將力傳到你要評估的深度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1762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實際操作 </a:t>
            </a:r>
            <a:r>
              <a:rPr lang="en-US" altLang="zh-TW" dirty="0"/>
              <a:t>– </a:t>
            </a:r>
            <a:r>
              <a:rPr lang="zh-TW" altLang="en-US" dirty="0"/>
              <a:t>針對足踝病人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三大張力層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皮膚、肌肉、骨骼關節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三大張力線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上肢、下肢、內臟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評估流程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點、線、面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體、功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臨床治療流程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4R + 1P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分鐘內評估完成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???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2205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Any question ?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91594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E4BEBC-7255-4C9F-930E-A72D145E5A12}"/>
              </a:ext>
            </a:extLst>
          </p:cNvPr>
          <p:cNvSpPr/>
          <p:nvPr/>
        </p:nvSpPr>
        <p:spPr>
          <a:xfrm>
            <a:off x="765175" y="1257985"/>
            <a:ext cx="1061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體表張力評估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肌肉、骨骼關節、內臟張力評估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繩動式手法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呼吸治療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冥想訓練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張力導向的運動處方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------ next ------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張力導向注射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2893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結語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980A1-B799-45E2-AEF4-37D4E09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2989A-A6AB-41BD-BA82-8DB26EC2B67D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AAC69-A3EC-4A4B-B904-78EC9F3B74EA}"/>
              </a:ext>
            </a:extLst>
          </p:cNvPr>
          <p:cNvSpPr/>
          <p:nvPr/>
        </p:nvSpPr>
        <p:spPr>
          <a:xfrm>
            <a:off x="765175" y="1257985"/>
            <a:ext cx="1061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28DC3F-D081-46D4-803E-DF856BF55130}"/>
              </a:ext>
            </a:extLst>
          </p:cNvPr>
          <p:cNvSpPr/>
          <p:nvPr/>
        </p:nvSpPr>
        <p:spPr>
          <a:xfrm>
            <a:off x="765175" y="1257985"/>
            <a:ext cx="10617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謝謝大家耐心聆聽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希望可以將張力醫學慢慢加入現代醫學之中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評估與手法就如同開刀一樣，非一蹴可及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未來預計會開設助教班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!!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包栢嘉 醫師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信箱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HH08032001@hotmail.com.tw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3C9E2DE-22D3-4178-85E5-C8BDA20ADF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13" t="721"/>
          <a:stretch/>
        </p:blipFill>
        <p:spPr>
          <a:xfrm>
            <a:off x="2124076" y="3949681"/>
            <a:ext cx="1962150" cy="198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15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8825" y="3317875"/>
            <a:ext cx="3392488" cy="1274763"/>
          </a:xfrm>
        </p:spPr>
        <p:txBody>
          <a:bodyPr rtlCol="0"/>
          <a:lstStyle/>
          <a:p>
            <a:pPr defTabSz="914354" fontAlgn="auto">
              <a:spcAft>
                <a:spcPts val="0"/>
              </a:spcAft>
              <a:defRPr/>
            </a:pPr>
            <a:r>
              <a:rPr lang="en-US" altLang="zh-CN" dirty="0"/>
              <a:t>Thanks.</a:t>
            </a:r>
            <a:br>
              <a:rPr lang="en-US" altLang="zh-CN" dirty="0"/>
            </a:br>
            <a:endParaRPr lang="zh-CN" altLang="en-US" b="0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AD20CE2-B67E-4D97-B109-843495A5C0D6}"/>
              </a:ext>
            </a:extLst>
          </p:cNvPr>
          <p:cNvCxnSpPr>
            <a:cxnSpLocks/>
          </p:cNvCxnSpPr>
          <p:nvPr/>
        </p:nvCxnSpPr>
        <p:spPr>
          <a:xfrm>
            <a:off x="790575" y="4197350"/>
            <a:ext cx="336073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5892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 t="10201" r="-926" b="42604"/>
          <a:stretch>
            <a:fillRect/>
          </a:stretch>
        </p:blipFill>
        <p:spPr bwMode="auto">
          <a:xfrm flipH="1">
            <a:off x="4286250" y="0"/>
            <a:ext cx="7905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9ac855c2-74f5-40b7-a57d-0cb2199af612"/>
</p:tagLst>
</file>

<file path=ppt/theme/theme1.xml><?xml version="1.0" encoding="utf-8"?>
<a:theme xmlns:a="http://schemas.openxmlformats.org/drawingml/2006/main" name="主题5">
  <a:themeElements>
    <a:clrScheme name="自定义 4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B2AE"/>
      </a:accent1>
      <a:accent2>
        <a:srgbClr val="1B6AA3"/>
      </a:accent2>
      <a:accent3>
        <a:srgbClr val="F47264"/>
      </a:accent3>
      <a:accent4>
        <a:srgbClr val="C4B37D"/>
      </a:accent4>
      <a:accent5>
        <a:srgbClr val="778495"/>
      </a:accent5>
      <a:accent6>
        <a:srgbClr val="0C8582"/>
      </a:accent6>
      <a:hlink>
        <a:srgbClr val="84CBC5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1">
    <a:dk1>
      <a:srgbClr val="000000"/>
    </a:dk1>
    <a:lt1>
      <a:srgbClr val="FFFFFF"/>
    </a:lt1>
    <a:dk2>
      <a:srgbClr val="778495"/>
    </a:dk2>
    <a:lt2>
      <a:srgbClr val="F0F0F0"/>
    </a:lt2>
    <a:accent1>
      <a:srgbClr val="11B2AE"/>
    </a:accent1>
    <a:accent2>
      <a:srgbClr val="1B6AA3"/>
    </a:accent2>
    <a:accent3>
      <a:srgbClr val="F47264"/>
    </a:accent3>
    <a:accent4>
      <a:srgbClr val="C4B37D"/>
    </a:accent4>
    <a:accent5>
      <a:srgbClr val="778495"/>
    </a:accent5>
    <a:accent6>
      <a:srgbClr val="0C8582"/>
    </a:accent6>
    <a:hlink>
      <a:srgbClr val="84CBC5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41">
    <a:dk1>
      <a:srgbClr val="000000"/>
    </a:dk1>
    <a:lt1>
      <a:srgbClr val="FFFFFF"/>
    </a:lt1>
    <a:dk2>
      <a:srgbClr val="778495"/>
    </a:dk2>
    <a:lt2>
      <a:srgbClr val="F0F0F0"/>
    </a:lt2>
    <a:accent1>
      <a:srgbClr val="11B2AE"/>
    </a:accent1>
    <a:accent2>
      <a:srgbClr val="1B6AA3"/>
    </a:accent2>
    <a:accent3>
      <a:srgbClr val="F47264"/>
    </a:accent3>
    <a:accent4>
      <a:srgbClr val="C4B37D"/>
    </a:accent4>
    <a:accent5>
      <a:srgbClr val="778495"/>
    </a:accent5>
    <a:accent6>
      <a:srgbClr val="0C8582"/>
    </a:accent6>
    <a:hlink>
      <a:srgbClr val="84CBC5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14394</TotalTime>
  <Words>3813</Words>
  <Application>Microsoft Office PowerPoint</Application>
  <PresentationFormat>寬螢幕</PresentationFormat>
  <Paragraphs>417</Paragraphs>
  <Slides>45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3" baseType="lpstr">
      <vt:lpstr>等线</vt:lpstr>
      <vt:lpstr>微软雅黑</vt:lpstr>
      <vt:lpstr>微軟正黑體</vt:lpstr>
      <vt:lpstr>新細明體</vt:lpstr>
      <vt:lpstr>Arial</vt:lpstr>
      <vt:lpstr>Calibri</vt:lpstr>
      <vt:lpstr>Wingdings</vt:lpstr>
      <vt:lpstr>主题5</vt:lpstr>
      <vt:lpstr> Biotensegrity Medicine in Ankle Evaluation  </vt:lpstr>
      <vt:lpstr>課前提醒</vt:lpstr>
      <vt:lpstr>關於我</vt:lpstr>
      <vt:lpstr>關於我</vt:lpstr>
      <vt:lpstr>特別感謝</vt:lpstr>
      <vt:lpstr>臨床上的困境</vt:lpstr>
      <vt:lpstr>張力醫學只是回歸初心…</vt:lpstr>
      <vt:lpstr>Biotensegrity 起源&amp;定義</vt:lpstr>
      <vt:lpstr>Biotensegrity 起源&amp;定義</vt:lpstr>
      <vt:lpstr>疼痛來源</vt:lpstr>
      <vt:lpstr>Biotensegrity Medicine 定位</vt:lpstr>
      <vt:lpstr>Biotensegrity Medicine 定位</vt:lpstr>
      <vt:lpstr>重要提醒~~</vt:lpstr>
      <vt:lpstr>三大張力層（Tension Layers）</vt:lpstr>
      <vt:lpstr>皮膚張力（Cutaneous Tension）</vt:lpstr>
      <vt:lpstr>皮膚張力（Cutaneous Tension）</vt:lpstr>
      <vt:lpstr>肌筋膜張力（ Myofascial Tension ）</vt:lpstr>
      <vt:lpstr>肌筋膜張力（ Myofascial Tension ）</vt:lpstr>
      <vt:lpstr>骨骼關節張力（ Articular Tension ）</vt:lpstr>
      <vt:lpstr>三大張力線（Tension Lines）</vt:lpstr>
      <vt:lpstr>上肢張力線（ Upper Line ）</vt:lpstr>
      <vt:lpstr>下肢張力線（ Lower Line ）</vt:lpstr>
      <vt:lpstr>內臟張力線（ Visceral Line ）</vt:lpstr>
      <vt:lpstr>三大張力線（Tension Lines）</vt:lpstr>
      <vt:lpstr>如何評估 ? </vt:lpstr>
      <vt:lpstr>Point（點）— 局部症狀與壓痛 (現代醫學常用的評估)</vt:lpstr>
      <vt:lpstr>Line（線）— 張力線的緊繃</vt:lpstr>
      <vt:lpstr>Plane（面/體）— 區域連結卡住</vt:lpstr>
      <vt:lpstr>Function（功能）— 動作、呼吸、自律神經</vt:lpstr>
      <vt:lpstr>臨床治療流程（4R + 1P）</vt:lpstr>
      <vt:lpstr>Step 1：Rule Out（醫師核心工作）</vt:lpstr>
      <vt:lpstr>Step 2 : Relax（張力還原核心技術）</vt:lpstr>
      <vt:lpstr>Step 3 : Recognize（感覺地圖重建）</vt:lpstr>
      <vt:lpstr>Step 4：Reset（重置動作模式）</vt:lpstr>
      <vt:lpstr>Step 5：Progress（回到生活）</vt:lpstr>
      <vt:lpstr>Summary</vt:lpstr>
      <vt:lpstr>實際操作 – 張力評估觸診</vt:lpstr>
      <vt:lpstr>實際操作 – 張力評估觸診</vt:lpstr>
      <vt:lpstr>實際操作 – 張力評估觸診</vt:lpstr>
      <vt:lpstr>實際操作 – 張力評估觸診</vt:lpstr>
      <vt:lpstr>實際操作 – 針對足踝病人</vt:lpstr>
      <vt:lpstr>Any question ? </vt:lpstr>
      <vt:lpstr>More </vt:lpstr>
      <vt:lpstr>結語</vt:lpstr>
      <vt:lpstr>Thanks. 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keywords>www.51pptmoban.com</cp:keywords>
  <cp:lastModifiedBy>包栢嘉</cp:lastModifiedBy>
  <cp:revision>1086</cp:revision>
  <cp:lastPrinted>2017-09-04T16:00:00Z</cp:lastPrinted>
  <dcterms:created xsi:type="dcterms:W3CDTF">2017-09-04T16:00:00Z</dcterms:created>
  <dcterms:modified xsi:type="dcterms:W3CDTF">2026-02-21T14:26:49Z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